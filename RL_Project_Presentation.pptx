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300" r:id="rId2"/>
    <p:sldId id="301" r:id="rId3"/>
    <p:sldId id="329" r:id="rId4"/>
    <p:sldId id="303" r:id="rId5"/>
    <p:sldId id="331" r:id="rId6"/>
    <p:sldId id="330" r:id="rId7"/>
    <p:sldId id="304" r:id="rId8"/>
    <p:sldId id="305" r:id="rId9"/>
    <p:sldId id="306" r:id="rId10"/>
    <p:sldId id="336" r:id="rId11"/>
    <p:sldId id="307" r:id="rId12"/>
    <p:sldId id="308" r:id="rId13"/>
    <p:sldId id="309" r:id="rId14"/>
    <p:sldId id="310" r:id="rId15"/>
    <p:sldId id="334" r:id="rId16"/>
    <p:sldId id="311" r:id="rId17"/>
    <p:sldId id="312" r:id="rId18"/>
    <p:sldId id="313" r:id="rId19"/>
    <p:sldId id="314" r:id="rId20"/>
    <p:sldId id="315" r:id="rId21"/>
    <p:sldId id="332" r:id="rId22"/>
    <p:sldId id="333" r:id="rId23"/>
    <p:sldId id="316" r:id="rId24"/>
    <p:sldId id="317" r:id="rId25"/>
    <p:sldId id="318" r:id="rId26"/>
    <p:sldId id="335" r:id="rId27"/>
    <p:sldId id="319" r:id="rId28"/>
    <p:sldId id="320" r:id="rId29"/>
    <p:sldId id="321" r:id="rId30"/>
    <p:sldId id="322" r:id="rId31"/>
    <p:sldId id="323" r:id="rId32"/>
    <p:sldId id="327" r:id="rId33"/>
    <p:sldId id="324" r:id="rId34"/>
    <p:sldId id="325" r:id="rId35"/>
    <p:sldId id="326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CEFA"/>
    <a:srgbClr val="7B6F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717" autoAdjust="0"/>
  </p:normalViewPr>
  <p:slideViewPr>
    <p:cSldViewPr snapToGrid="0" snapToObjects="1">
      <p:cViewPr>
        <p:scale>
          <a:sx n="75" d="100"/>
          <a:sy n="75" d="100"/>
        </p:scale>
        <p:origin x="1218" y="702"/>
      </p:cViewPr>
      <p:guideLst>
        <p:guide orient="horz" pos="2160"/>
        <p:guide pos="4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answer F1</c:v>
                </c:pt>
              </c:strCache>
            </c:strRef>
          </c:tx>
          <c:spPr>
            <a:solidFill>
              <a:srgbClr val="3333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17D-4729-B015-9D0E155A323F}"/>
              </c:ext>
            </c:extLst>
          </c:dPt>
          <c:dPt>
            <c:idx val="1"/>
            <c:invertIfNegative val="0"/>
            <c:bubble3D val="0"/>
            <c:spPr>
              <a:solidFill>
                <a:srgbClr val="7B6F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17D-4729-B015-9D0E155A323F}"/>
              </c:ext>
            </c:extLst>
          </c:dPt>
          <c:dPt>
            <c:idx val="2"/>
            <c:invertIfNegative val="0"/>
            <c:bubble3D val="0"/>
            <c:spPr>
              <a:solidFill>
                <a:srgbClr val="F4C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17D-4729-B015-9D0E155A323F}"/>
              </c:ext>
            </c:extLst>
          </c:dPt>
          <c:dPt>
            <c:idx val="3"/>
            <c:invertIfNegative val="0"/>
            <c:bubble3D val="0"/>
            <c:spPr>
              <a:solidFill>
                <a:srgbClr val="F4C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17D-4729-B015-9D0E155A323F}"/>
              </c:ext>
            </c:extLst>
          </c:dPt>
          <c:dPt>
            <c:idx val="4"/>
            <c:invertIfNegative val="0"/>
            <c:bubble3D val="0"/>
            <c:spPr>
              <a:solidFill>
                <a:srgbClr val="C9C9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17D-4729-B015-9D0E155A323F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1F27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Oracle</c:v>
                </c:pt>
                <c:pt idx="1">
                  <c:v>Naive</c:v>
                </c:pt>
                <c:pt idx="2">
                  <c:v>Step RL</c:v>
                </c:pt>
                <c:pt idx="3">
                  <c:v>Sparse RL</c:v>
                </c:pt>
                <c:pt idx="4">
                  <c:v>random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0.55700000000000005</c:v>
                </c:pt>
                <c:pt idx="1">
                  <c:v>0.37</c:v>
                </c:pt>
                <c:pt idx="2">
                  <c:v>0.35499999999999998</c:v>
                </c:pt>
                <c:pt idx="3">
                  <c:v>0.35399999999999998</c:v>
                </c:pt>
                <c:pt idx="4">
                  <c:v>0.27500000000000002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17D-4729-B015-9D0E155A32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F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2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HotpotQA</c:v>
                </c:pt>
              </c:strCache>
            </c:strRef>
          </c:tx>
          <c:spPr>
            <a:solidFill>
              <a:srgbClr val="7B6FF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1F27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Naive</c:v>
                </c:pt>
                <c:pt idx="1">
                  <c:v>Step RL</c:v>
                </c:pt>
                <c:pt idx="2">
                  <c:v>Oracle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0.37</c:v>
                </c:pt>
                <c:pt idx="1">
                  <c:v>0.35499999999999998</c:v>
                </c:pt>
                <c:pt idx="2">
                  <c:v>0.55700000000000005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2E-492A-B1E1-FD4BE4B262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Sports</c:v>
                </c:pt>
              </c:strCache>
            </c:strRef>
          </c:tx>
          <c:spPr>
            <a:solidFill>
              <a:srgbClr val="F4C53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1F27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Naive</c:v>
                </c:pt>
                <c:pt idx="1">
                  <c:v>Step RL</c:v>
                </c:pt>
                <c:pt idx="2">
                  <c:v>Oracle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0.38600000000000001</c:v>
                </c:pt>
                <c:pt idx="1">
                  <c:v>0.27</c:v>
                </c:pt>
                <c:pt idx="2">
                  <c:v>0.45200000000000001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2E-492A-B1E1-FD4BE4B262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F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2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F1F2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489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0C860-45A6-7525-484B-7DB0ABA9F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34464B-6DF0-0894-6D1E-0FA23B7F8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1F9D5D-F4FD-2083-CD1D-DCE08D5AB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10E8F-3628-2774-608D-01DDF8BA0D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79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3E786-E354-7704-F687-20B7C39F6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E5974E-BD31-8832-5A6A-012A13163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5539C-876A-2BC7-4F7A-510E4E503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F25BA-E85F-0E9D-663F-D69BF6C9B2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69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9201F-8791-EEB2-9781-F720522F1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D9E0D-24A6-FFDD-DBFA-F027CF4B7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F91AB0-CC6F-6C00-84AA-C550E1BC0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7DAD0-C3CA-3ED9-A220-9D9016457F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878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F3C84-1425-5A9B-377B-0F4D73192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2836D8-EEAA-6026-A9D4-DC1C5445F8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9F953-239A-82E8-A6AE-67FA0CC8A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09E5-094A-C672-0213-83380A1587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410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1EC5F-01E8-CADE-6527-45B61E1D1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53354-7D00-65DF-4930-EFFBCAF60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58208-EB75-A153-C3BE-E8723B5CD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00DAD-40A4-2BF1-8501-CB829714DA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9175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25BF6-436C-407B-7D56-E4017D7E9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A748F2-A6AF-CEA6-9CA6-315E4F1F4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33C4DC-20C3-7920-ABE0-1D627DA71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D887F-BBFC-D6E5-ACCA-965D46E866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2662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7F8C3-262D-CA32-E88E-99EA65962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0FA2C-D596-E92D-58BD-21706FEF5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AA334C-C98B-562A-4F97-B3A808ED6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68478-BCF2-D6A9-9C9A-421DAF8AA9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6485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5A5B1-D920-3A93-6016-473AA786F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63AE2A-B7BE-758E-D518-1A2642213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F9CA1E-59E4-DC79-6C58-E222179C1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B71BE-A2E9-5BBF-3AA7-B24BF6B6BF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527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osanpark/RL-Multihop-RA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osanpark/RL-Multihop-RAG.git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강화학습 과제 · RL CLASS PROJECT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7B6FF0"/>
                </a:solidFill>
                <a:latin typeface="+mj-ea"/>
                <a:ea typeface="+mj-ea"/>
                <a:cs typeface="Arial" pitchFamily="34" charset="-120"/>
              </a:rPr>
              <a:t>Step-wise RL for Multi-hop QA</a:t>
            </a:r>
            <a:endParaRPr lang="en-US" sz="46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selection-only RL의 한계 규명 → 추론을 LLM 안에 </a:t>
            </a:r>
            <a:r>
              <a:rPr lang="en-US" sz="2400" b="1" dirty="0" err="1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두는</a:t>
            </a:r>
            <a:r>
              <a:rPr lang="en-US" sz="24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후속</a:t>
            </a:r>
            <a:endParaRPr lang="en-US" sz="24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팀 구성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4224528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A72051 박두산 (팀장)</a:t>
            </a:r>
            <a:endParaRPr lang="en-US" sz="1600" dirty="0">
              <a:latin typeface="+mj-ea"/>
              <a:ea typeface="+mj-ea"/>
            </a:endParaRPr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A72058 신세정 (팀원)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GitHub Page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51560" y="56418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  <a:hlinkClick r:id="rId3"/>
              </a:rPr>
              <a:t>https://github.com/doosanpark/RL-Multihop-RAG</a:t>
            </a:r>
            <a:endParaRPr lang="en-US" sz="16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">
            <a:extLst>
              <a:ext uri="{FF2B5EF4-FFF2-40B4-BE49-F238E27FC236}">
                <a16:creationId xmlns:a16="http://schemas.microsoft.com/office/drawing/2014/main" id="{EE95AFB9-26C7-C51F-697F-85E6E4DAFF7B}"/>
              </a:ext>
            </a:extLst>
          </p:cNvPr>
          <p:cNvSpPr/>
          <p:nvPr/>
        </p:nvSpPr>
        <p:spPr>
          <a:xfrm>
            <a:off x="685800" y="497329"/>
            <a:ext cx="9559636" cy="292608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400" b="1" spc="100" dirty="0">
                <a:solidFill>
                  <a:srgbClr val="7B6FF0"/>
                </a:solidFill>
                <a:latin typeface="+mj-ea"/>
                <a:ea typeface="+mj-ea"/>
                <a:cs typeface="Calibri"/>
              </a:rPr>
              <a:t>INTRO · 목적과 목표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12DEF3FC-F815-35BE-3ECE-75118B9BACCA}"/>
              </a:ext>
            </a:extLst>
          </p:cNvPr>
          <p:cNvSpPr/>
          <p:nvPr/>
        </p:nvSpPr>
        <p:spPr>
          <a:xfrm>
            <a:off x="685800" y="822960"/>
            <a:ext cx="10820400" cy="60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F27"/>
                </a:solidFill>
                <a:latin typeface="+mj-ea"/>
                <a:ea typeface="+mj-ea"/>
                <a:cs typeface="Arial"/>
              </a:rPr>
              <a:t>프로젝트 목적과 목표</a:t>
            </a:r>
          </a:p>
        </p:txBody>
      </p:sp>
      <p:sp>
        <p:nvSpPr>
          <p:cNvPr id="10" name="tb">
            <a:extLst>
              <a:ext uri="{FF2B5EF4-FFF2-40B4-BE49-F238E27FC236}">
                <a16:creationId xmlns:a16="http://schemas.microsoft.com/office/drawing/2014/main" id="{ECC87A74-C7C3-0EC0-9F4A-A9F1E5A0F60D}"/>
              </a:ext>
            </a:extLst>
          </p:cNvPr>
          <p:cNvSpPr/>
          <p:nvPr/>
        </p:nvSpPr>
        <p:spPr>
          <a:xfrm>
            <a:off x="685800" y="1480000"/>
            <a:ext cx="11042780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이 프로젝트의 질문: </a:t>
            </a:r>
            <a:r>
              <a:rPr lang="en-US" sz="1500" b="0" dirty="0">
                <a:solidFill>
                  <a:srgbClr val="5C4FD4"/>
                </a:solidFill>
                <a:latin typeface="+mj-ea"/>
                <a:ea typeface="+mj-ea"/>
                <a:cs typeface="Calibri"/>
              </a:rPr>
              <a:t>"검색·답변 과정에 강화학습을 쓰면, 학습 </a:t>
            </a:r>
            <a:r>
              <a:rPr lang="en-US" sz="1500" b="0" dirty="0" err="1">
                <a:solidFill>
                  <a:srgbClr val="5C4FD4"/>
                </a:solidFill>
                <a:latin typeface="+mj-ea"/>
                <a:ea typeface="+mj-ea"/>
                <a:cs typeface="Calibri"/>
              </a:rPr>
              <a:t>없는</a:t>
            </a:r>
            <a:r>
              <a:rPr lang="en-US" sz="1500" b="0" dirty="0">
                <a:solidFill>
                  <a:srgbClr val="5C4FD4"/>
                </a:solidFill>
                <a:latin typeface="+mj-ea"/>
                <a:ea typeface="+mj-ea"/>
                <a:cs typeface="Calibri"/>
              </a:rPr>
              <a:t> </a:t>
            </a:r>
            <a:r>
              <a:rPr lang="en-US" altLang="ko-KR" sz="1500" b="0" dirty="0">
                <a:solidFill>
                  <a:srgbClr val="5C4FD4"/>
                </a:solidFill>
                <a:latin typeface="+mj-ea"/>
                <a:ea typeface="+mj-ea"/>
                <a:cs typeface="Calibri"/>
              </a:rPr>
              <a:t>cosine </a:t>
            </a:r>
            <a:r>
              <a:rPr lang="ko-KR" altLang="en-US" sz="1500" b="0" dirty="0">
                <a:solidFill>
                  <a:srgbClr val="5C4FD4"/>
                </a:solidFill>
                <a:latin typeface="+mj-ea"/>
                <a:ea typeface="+mj-ea"/>
                <a:cs typeface="Calibri"/>
              </a:rPr>
              <a:t>휴리스틱보다</a:t>
            </a:r>
            <a:r>
              <a:rPr lang="en-US" sz="1500" b="0" dirty="0">
                <a:solidFill>
                  <a:srgbClr val="5C4FD4"/>
                </a:solidFill>
                <a:latin typeface="+mj-ea"/>
                <a:ea typeface="+mj-ea"/>
                <a:cs typeface="Calibri"/>
              </a:rPr>
              <a:t> 나은 multi-hop RAG를 만들 수 있는가?"</a:t>
            </a:r>
          </a:p>
        </p:txBody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274475AD-4C7D-607E-3D1D-965910AFC917}"/>
              </a:ext>
            </a:extLst>
          </p:cNvPr>
          <p:cNvSpPr/>
          <p:nvPr/>
        </p:nvSpPr>
        <p:spPr>
          <a:xfrm>
            <a:off x="685800" y="1893023"/>
            <a:ext cx="10820400" cy="1306732"/>
          </a:xfrm>
          <a:prstGeom prst="roundRect">
            <a:avLst/>
          </a:prstGeom>
          <a:solidFill>
            <a:srgbClr val="EFECF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2" name="tb">
            <a:extLst>
              <a:ext uri="{FF2B5EF4-FFF2-40B4-BE49-F238E27FC236}">
                <a16:creationId xmlns:a16="http://schemas.microsoft.com/office/drawing/2014/main" id="{E6B7C3A8-0866-3820-5BA9-36731F2B36BF}"/>
              </a:ext>
            </a:extLst>
          </p:cNvPr>
          <p:cNvSpPr/>
          <p:nvPr/>
        </p:nvSpPr>
        <p:spPr>
          <a:xfrm>
            <a:off x="980000" y="2013023"/>
            <a:ext cx="10300000" cy="11867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B6FF0"/>
                </a:solidFill>
                <a:latin typeface="+mj-ea"/>
                <a:ea typeface="+mj-ea"/>
                <a:cs typeface="Arial"/>
              </a:rPr>
              <a:t>프로젝트 목적 (Purpose)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5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Multi-hop QA에서 RL이 무엇을 어디까지 줄 수 있는지를 두 단계로 정직하게 검증한다. </a:t>
            </a:r>
            <a:br>
              <a:rPr lang="en-US" sz="135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</a:br>
            <a:r>
              <a:rPr lang="ko-KR" altLang="en-US" sz="135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－ </a:t>
            </a:r>
            <a:r>
              <a:rPr lang="en-US" sz="1350" b="1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Part 1: </a:t>
            </a:r>
            <a:r>
              <a:rPr lang="en-US" sz="135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frozen LLM 위 selector를 RL로 학습해 cosine 휴리스틱과 겨룬다. </a:t>
            </a:r>
            <a:br>
              <a:rPr lang="en-US" sz="135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</a:br>
            <a:r>
              <a:rPr lang="ko-KR" altLang="en-US" sz="135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－ </a:t>
            </a:r>
            <a:r>
              <a:rPr lang="en-US" sz="1350" b="1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Part 2: </a:t>
            </a:r>
            <a:r>
              <a:rPr lang="en-US" sz="135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LLM 자체를 SFT→GRPO RL로 파인튜닝(Search-R1)해 추론을 LLM 안에 둔다.</a:t>
            </a:r>
          </a:p>
        </p:txBody>
      </p:sp>
      <p:sp>
        <p:nvSpPr>
          <p:cNvPr id="31" name="tb">
            <a:extLst>
              <a:ext uri="{FF2B5EF4-FFF2-40B4-BE49-F238E27FC236}">
                <a16:creationId xmlns:a16="http://schemas.microsoft.com/office/drawing/2014/main" id="{9FE286DB-759B-0B6C-3771-3D08A6D10F6F}"/>
              </a:ext>
            </a:extLst>
          </p:cNvPr>
          <p:cNvSpPr/>
          <p:nvPr/>
        </p:nvSpPr>
        <p:spPr>
          <a:xfrm>
            <a:off x="685800" y="3386732"/>
            <a:ext cx="10820400" cy="3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Arial"/>
              </a:rPr>
              <a:t>세부 목표 (Goals)</a:t>
            </a:r>
          </a:p>
        </p:txBody>
      </p:sp>
      <p:sp>
        <p:nvSpPr>
          <p:cNvPr id="32" name="box">
            <a:extLst>
              <a:ext uri="{FF2B5EF4-FFF2-40B4-BE49-F238E27FC236}">
                <a16:creationId xmlns:a16="http://schemas.microsoft.com/office/drawing/2014/main" id="{F48A108C-C8BE-548B-558C-EBBD6D0891AE}"/>
              </a:ext>
            </a:extLst>
          </p:cNvPr>
          <p:cNvSpPr/>
          <p:nvPr/>
        </p:nvSpPr>
        <p:spPr>
          <a:xfrm>
            <a:off x="685800" y="3846732"/>
            <a:ext cx="3500000" cy="2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5"/>
            </a:solidFill>
          </a:ln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33" name="tb">
            <a:extLst>
              <a:ext uri="{FF2B5EF4-FFF2-40B4-BE49-F238E27FC236}">
                <a16:creationId xmlns:a16="http://schemas.microsoft.com/office/drawing/2014/main" id="{B64F01E8-CA4E-4606-35E4-3D525FC95938}"/>
              </a:ext>
            </a:extLst>
          </p:cNvPr>
          <p:cNvSpPr/>
          <p:nvPr/>
        </p:nvSpPr>
        <p:spPr>
          <a:xfrm>
            <a:off x="945800" y="4026732"/>
            <a:ext cx="2980000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A99BF0"/>
                </a:solidFill>
                <a:latin typeface="+mj-ea"/>
                <a:ea typeface="+mj-ea"/>
                <a:cs typeface="Arial"/>
              </a:rPr>
              <a:t>01</a:t>
            </a:r>
          </a:p>
        </p:txBody>
      </p:sp>
      <p:sp>
        <p:nvSpPr>
          <p:cNvPr id="34" name="tb">
            <a:extLst>
              <a:ext uri="{FF2B5EF4-FFF2-40B4-BE49-F238E27FC236}">
                <a16:creationId xmlns:a16="http://schemas.microsoft.com/office/drawing/2014/main" id="{1C03A9F4-4E2D-AB13-9CE9-9617103E5079}"/>
              </a:ext>
            </a:extLst>
          </p:cNvPr>
          <p:cNvSpPr/>
          <p:nvPr/>
        </p:nvSpPr>
        <p:spPr>
          <a:xfrm>
            <a:off x="945800" y="4526732"/>
            <a:ext cx="29800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Arial"/>
              </a:rPr>
              <a:t>RL 적용·구현</a:t>
            </a:r>
          </a:p>
        </p:txBody>
      </p:sp>
      <p:sp>
        <p:nvSpPr>
          <p:cNvPr id="35" name="tb">
            <a:extLst>
              <a:ext uri="{FF2B5EF4-FFF2-40B4-BE49-F238E27FC236}">
                <a16:creationId xmlns:a16="http://schemas.microsoft.com/office/drawing/2014/main" id="{353CA957-3760-870A-7F2F-6B169BE4A2B9}"/>
              </a:ext>
            </a:extLst>
          </p:cNvPr>
          <p:cNvSpPr/>
          <p:nvPr/>
        </p:nvSpPr>
        <p:spPr>
          <a:xfrm>
            <a:off x="945800" y="5026732"/>
            <a:ext cx="2980000" cy="10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80" b="0" dirty="0">
                <a:solidFill>
                  <a:srgbClr val="6E6E79"/>
                </a:solidFill>
                <a:latin typeface="+mj-ea"/>
                <a:ea typeface="+mj-ea"/>
                <a:cs typeface="Calibri"/>
              </a:rPr>
              <a:t>Passage selection을 MDP로 </a:t>
            </a:r>
            <a:r>
              <a:rPr lang="en-US" sz="1180" b="0" dirty="0" err="1">
                <a:solidFill>
                  <a:srgbClr val="6E6E79"/>
                </a:solidFill>
                <a:latin typeface="+mj-ea"/>
                <a:ea typeface="+mj-ea"/>
                <a:cs typeface="Calibri"/>
              </a:rPr>
              <a:t>정식화하고</a:t>
            </a:r>
            <a:r>
              <a:rPr lang="en-US" sz="1180" b="0" dirty="0">
                <a:solidFill>
                  <a:srgbClr val="6E6E79"/>
                </a:solidFill>
                <a:latin typeface="+mj-ea"/>
                <a:ea typeface="+mj-ea"/>
                <a:cs typeface="Calibri"/>
              </a:rPr>
              <a:t> </a:t>
            </a:r>
            <a:r>
              <a:rPr lang="en-US" sz="1180" b="0" dirty="0" err="1">
                <a:solidFill>
                  <a:srgbClr val="6E6E79"/>
                </a:solidFill>
                <a:latin typeface="+mj-ea"/>
                <a:ea typeface="+mj-ea"/>
                <a:cs typeface="Calibri"/>
              </a:rPr>
              <a:t>REINFORCE+baseline을</a:t>
            </a:r>
            <a:r>
              <a:rPr lang="en-US" sz="1180" b="0" dirty="0">
                <a:solidFill>
                  <a:srgbClr val="6E6E79"/>
                </a:solidFill>
                <a:latin typeface="+mj-ea"/>
                <a:ea typeface="+mj-ea"/>
                <a:cs typeface="Calibri"/>
              </a:rPr>
              <a:t> </a:t>
            </a:r>
            <a:r>
              <a:rPr lang="en-US" sz="1180" b="0" dirty="0" err="1">
                <a:solidFill>
                  <a:srgbClr val="6E6E79"/>
                </a:solidFill>
                <a:latin typeface="+mj-ea"/>
                <a:ea typeface="+mj-ea"/>
                <a:cs typeface="Calibri"/>
              </a:rPr>
              <a:t>구현</a:t>
            </a:r>
            <a:r>
              <a:rPr lang="en-US" sz="1180" b="0" dirty="0">
                <a:solidFill>
                  <a:srgbClr val="6E6E79"/>
                </a:solidFill>
                <a:latin typeface="+mj-ea"/>
                <a:ea typeface="+mj-ea"/>
                <a:cs typeface="Calibri"/>
              </a:rPr>
              <a:t> </a:t>
            </a:r>
            <a:br>
              <a:rPr lang="en-US" sz="1180" b="0" dirty="0">
                <a:solidFill>
                  <a:srgbClr val="6E6E79"/>
                </a:solidFill>
                <a:latin typeface="+mj-ea"/>
                <a:ea typeface="+mj-ea"/>
                <a:cs typeface="Calibri"/>
              </a:rPr>
            </a:br>
            <a:r>
              <a:rPr lang="en-US" sz="1180" b="0" dirty="0">
                <a:solidFill>
                  <a:srgbClr val="6E6E79"/>
                </a:solidFill>
                <a:latin typeface="+mj-ea"/>
                <a:ea typeface="+mj-ea"/>
                <a:cs typeface="Calibri"/>
              </a:rPr>
              <a:t>(CartPole 3-seed sanity 통과)</a:t>
            </a:r>
          </a:p>
        </p:txBody>
      </p:sp>
      <p:sp>
        <p:nvSpPr>
          <p:cNvPr id="36" name="box">
            <a:extLst>
              <a:ext uri="{FF2B5EF4-FFF2-40B4-BE49-F238E27FC236}">
                <a16:creationId xmlns:a16="http://schemas.microsoft.com/office/drawing/2014/main" id="{858CD8DC-5049-CE8A-FB95-34A0C5177C2E}"/>
              </a:ext>
            </a:extLst>
          </p:cNvPr>
          <p:cNvSpPr/>
          <p:nvPr/>
        </p:nvSpPr>
        <p:spPr>
          <a:xfrm>
            <a:off x="4346000" y="3846732"/>
            <a:ext cx="3500000" cy="2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5"/>
            </a:solidFill>
          </a:ln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37" name="tb">
            <a:extLst>
              <a:ext uri="{FF2B5EF4-FFF2-40B4-BE49-F238E27FC236}">
                <a16:creationId xmlns:a16="http://schemas.microsoft.com/office/drawing/2014/main" id="{7E07E146-3A78-5B83-AD76-0CA04D9458D8}"/>
              </a:ext>
            </a:extLst>
          </p:cNvPr>
          <p:cNvSpPr/>
          <p:nvPr/>
        </p:nvSpPr>
        <p:spPr>
          <a:xfrm>
            <a:off x="4606000" y="4026732"/>
            <a:ext cx="2980000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A99BF0"/>
                </a:solidFill>
                <a:latin typeface="+mj-ea"/>
                <a:ea typeface="+mj-ea"/>
                <a:cs typeface="Arial"/>
              </a:rPr>
              <a:t>02</a:t>
            </a:r>
          </a:p>
        </p:txBody>
      </p:sp>
      <p:sp>
        <p:nvSpPr>
          <p:cNvPr id="38" name="tb">
            <a:extLst>
              <a:ext uri="{FF2B5EF4-FFF2-40B4-BE49-F238E27FC236}">
                <a16:creationId xmlns:a16="http://schemas.microsoft.com/office/drawing/2014/main" id="{8635D07D-16A4-1656-BE98-E49437FB28C9}"/>
              </a:ext>
            </a:extLst>
          </p:cNvPr>
          <p:cNvSpPr/>
          <p:nvPr/>
        </p:nvSpPr>
        <p:spPr>
          <a:xfrm>
            <a:off x="4606000" y="4526732"/>
            <a:ext cx="29800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Arial"/>
              </a:rPr>
              <a:t>성능·전이 검증</a:t>
            </a:r>
          </a:p>
        </p:txBody>
      </p:sp>
      <p:sp>
        <p:nvSpPr>
          <p:cNvPr id="39" name="tb">
            <a:extLst>
              <a:ext uri="{FF2B5EF4-FFF2-40B4-BE49-F238E27FC236}">
                <a16:creationId xmlns:a16="http://schemas.microsoft.com/office/drawing/2014/main" id="{86BFBAD3-57E7-A133-6D97-0B042D0E2CC0}"/>
              </a:ext>
            </a:extLst>
          </p:cNvPr>
          <p:cNvSpPr/>
          <p:nvPr/>
        </p:nvSpPr>
        <p:spPr>
          <a:xfrm>
            <a:off x="4606000" y="5026732"/>
            <a:ext cx="3051106" cy="10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80" b="0" dirty="0">
                <a:solidFill>
                  <a:srgbClr val="6E6E79"/>
                </a:solidFill>
                <a:latin typeface="+mj-ea"/>
                <a:ea typeface="+mj-ea"/>
                <a:cs typeface="Calibri"/>
              </a:rPr>
              <a:t>학습 </a:t>
            </a:r>
            <a:r>
              <a:rPr lang="en-US" sz="1180" b="0" dirty="0" err="1">
                <a:solidFill>
                  <a:srgbClr val="6E6E79"/>
                </a:solidFill>
                <a:latin typeface="+mj-ea"/>
                <a:ea typeface="+mj-ea"/>
                <a:cs typeface="Calibri"/>
              </a:rPr>
              <a:t>없는</a:t>
            </a:r>
            <a:r>
              <a:rPr lang="en-US" sz="1180" b="0" dirty="0">
                <a:solidFill>
                  <a:srgbClr val="6E6E79"/>
                </a:solidFill>
                <a:latin typeface="+mj-ea"/>
                <a:ea typeface="+mj-ea"/>
                <a:cs typeface="Calibri"/>
              </a:rPr>
              <a:t> cosine </a:t>
            </a:r>
            <a:r>
              <a:rPr lang="en-US" sz="1180" b="0" dirty="0" err="1">
                <a:solidFill>
                  <a:srgbClr val="6E6E79"/>
                </a:solidFill>
                <a:latin typeface="+mj-ea"/>
                <a:ea typeface="+mj-ea"/>
                <a:cs typeface="Calibri"/>
              </a:rPr>
              <a:t>휴리스틱</a:t>
            </a:r>
            <a:r>
              <a:rPr lang="en-US" sz="1180" b="0" dirty="0">
                <a:solidFill>
                  <a:srgbClr val="6E6E79"/>
                </a:solidFill>
                <a:latin typeface="+mj-ea"/>
                <a:ea typeface="+mj-ea"/>
                <a:cs typeface="Calibri"/>
              </a:rPr>
              <a:t> 대비 in-domain 성능과 새 도메인 transfer 강건성을 3-seed로 측정</a:t>
            </a:r>
          </a:p>
        </p:txBody>
      </p:sp>
      <p:sp>
        <p:nvSpPr>
          <p:cNvPr id="40" name="box">
            <a:extLst>
              <a:ext uri="{FF2B5EF4-FFF2-40B4-BE49-F238E27FC236}">
                <a16:creationId xmlns:a16="http://schemas.microsoft.com/office/drawing/2014/main" id="{C3BF8399-E8F6-68C0-2266-2CB5BCF4AC66}"/>
              </a:ext>
            </a:extLst>
          </p:cNvPr>
          <p:cNvSpPr/>
          <p:nvPr/>
        </p:nvSpPr>
        <p:spPr>
          <a:xfrm>
            <a:off x="8006200" y="3846732"/>
            <a:ext cx="3500000" cy="2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5"/>
            </a:solidFill>
          </a:ln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41" name="tb">
            <a:extLst>
              <a:ext uri="{FF2B5EF4-FFF2-40B4-BE49-F238E27FC236}">
                <a16:creationId xmlns:a16="http://schemas.microsoft.com/office/drawing/2014/main" id="{BEBBE61A-0BD8-506C-6BC2-DB1B7658E06A}"/>
              </a:ext>
            </a:extLst>
          </p:cNvPr>
          <p:cNvSpPr/>
          <p:nvPr/>
        </p:nvSpPr>
        <p:spPr>
          <a:xfrm>
            <a:off x="8266200" y="4026732"/>
            <a:ext cx="2980000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A99BF0"/>
                </a:solidFill>
                <a:latin typeface="+mj-ea"/>
                <a:ea typeface="+mj-ea"/>
                <a:cs typeface="Arial"/>
              </a:rPr>
              <a:t>03</a:t>
            </a:r>
          </a:p>
        </p:txBody>
      </p:sp>
      <p:sp>
        <p:nvSpPr>
          <p:cNvPr id="42" name="tb">
            <a:extLst>
              <a:ext uri="{FF2B5EF4-FFF2-40B4-BE49-F238E27FC236}">
                <a16:creationId xmlns:a16="http://schemas.microsoft.com/office/drawing/2014/main" id="{6960664C-92F8-A8C5-F782-BCB1D51A4A5B}"/>
              </a:ext>
            </a:extLst>
          </p:cNvPr>
          <p:cNvSpPr/>
          <p:nvPr/>
        </p:nvSpPr>
        <p:spPr>
          <a:xfrm>
            <a:off x="8266200" y="4526732"/>
            <a:ext cx="29800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Arial"/>
              </a:rPr>
              <a:t>원인 규명</a:t>
            </a:r>
          </a:p>
        </p:txBody>
      </p:sp>
      <p:sp>
        <p:nvSpPr>
          <p:cNvPr id="43" name="tb">
            <a:extLst>
              <a:ext uri="{FF2B5EF4-FFF2-40B4-BE49-F238E27FC236}">
                <a16:creationId xmlns:a16="http://schemas.microsoft.com/office/drawing/2014/main" id="{6BC0FBFF-17B5-4027-6156-811675897C73}"/>
              </a:ext>
            </a:extLst>
          </p:cNvPr>
          <p:cNvSpPr/>
          <p:nvPr/>
        </p:nvSpPr>
        <p:spPr>
          <a:xfrm>
            <a:off x="8266200" y="5026732"/>
            <a:ext cx="2980000" cy="10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8000"/>
              </a:lnSpc>
            </a:pPr>
            <a:r>
              <a:rPr lang="ko-KR" altLang="ko-KR" sz="1200" dirty="0">
                <a:latin typeface="+mj-ea"/>
                <a:ea typeface="+mj-ea"/>
              </a:rPr>
              <a:t>성능이 오르거나 떨어지는 원인을 </a:t>
            </a:r>
            <a:r>
              <a:rPr lang="ko-KR" altLang="ko-KR" sz="1200" dirty="0" err="1">
                <a:latin typeface="+mj-ea"/>
                <a:ea typeface="+mj-ea"/>
              </a:rPr>
              <a:t>reward</a:t>
            </a:r>
            <a:r>
              <a:rPr lang="ko-KR" altLang="ko-KR" sz="1200" dirty="0">
                <a:latin typeface="+mj-ea"/>
                <a:ea typeface="+mj-ea"/>
              </a:rPr>
              <a:t> </a:t>
            </a:r>
            <a:r>
              <a:rPr lang="ko-KR" altLang="ko-KR" sz="1200" dirty="0" err="1">
                <a:latin typeface="+mj-ea"/>
                <a:ea typeface="+mj-ea"/>
              </a:rPr>
              <a:t>hacking·상태</a:t>
            </a:r>
            <a:r>
              <a:rPr lang="ko-KR" altLang="ko-KR" sz="1200" dirty="0">
                <a:latin typeface="+mj-ea"/>
                <a:ea typeface="+mj-ea"/>
              </a:rPr>
              <a:t> </a:t>
            </a:r>
            <a:r>
              <a:rPr lang="ko-KR" altLang="ko-KR" sz="1200" dirty="0" err="1">
                <a:latin typeface="+mj-ea"/>
                <a:ea typeface="+mj-ea"/>
              </a:rPr>
              <a:t>표현·hop</a:t>
            </a:r>
            <a:r>
              <a:rPr lang="ko-KR" altLang="ko-KR" sz="1200" dirty="0">
                <a:latin typeface="+mj-ea"/>
                <a:ea typeface="+mj-ea"/>
              </a:rPr>
              <a:t> 타입 관점에서 정량적으로 분석</a:t>
            </a:r>
            <a:endParaRPr lang="en-US" sz="1180" b="0" dirty="0">
              <a:solidFill>
                <a:srgbClr val="6E6E79"/>
              </a:solidFill>
              <a:latin typeface="+mj-ea"/>
              <a:ea typeface="+mj-ea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EC99F6-591D-4EDE-0633-4AC6A7F59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">
            <a:extLst>
              <a:ext uri="{FF2B5EF4-FFF2-40B4-BE49-F238E27FC236}">
                <a16:creationId xmlns:a16="http://schemas.microsoft.com/office/drawing/2014/main" id="{54974370-F8C2-31B9-3ECA-B9C11C5124A0}"/>
              </a:ext>
            </a:extLst>
          </p:cNvPr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400" b="1" spc="100" dirty="0">
                <a:solidFill>
                  <a:srgbClr val="7B6FF0"/>
                </a:solidFill>
                <a:latin typeface="+mj-ea"/>
                <a:ea typeface="+mj-ea"/>
                <a:cs typeface="Calibri"/>
              </a:rPr>
              <a:t>INTRO · 전체 프로세스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8A77DEA-461E-560A-63FE-5977B79A75B2}"/>
              </a:ext>
            </a:extLst>
          </p:cNvPr>
          <p:cNvSpPr/>
          <p:nvPr/>
        </p:nvSpPr>
        <p:spPr>
          <a:xfrm>
            <a:off x="685800" y="7680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전체 연구 프로세스</a:t>
            </a:r>
            <a:endParaRPr lang="en-US" sz="3100" dirty="0">
              <a:latin typeface="+mj-ea"/>
              <a:ea typeface="+mj-ea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C2B0436-76C2-ECB2-FF0D-0A9325C13DF3}"/>
              </a:ext>
            </a:extLst>
          </p:cNvPr>
          <p:cNvSpPr/>
          <p:nvPr/>
        </p:nvSpPr>
        <p:spPr>
          <a:xfrm>
            <a:off x="685800" y="138988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두 PART로 이어지는 연구 과정 — </a:t>
            </a:r>
            <a:r>
              <a:rPr lang="en-US" sz="1300" b="1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실패를 진단하고, 그 진단에 근거해 방법을 바꾼다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FD081DF-133E-32E2-F284-D6DD524EBE94}"/>
              </a:ext>
            </a:extLst>
          </p:cNvPr>
          <p:cNvSpPr/>
          <p:nvPr/>
        </p:nvSpPr>
        <p:spPr>
          <a:xfrm>
            <a:off x="685800" y="1847088"/>
            <a:ext cx="3931920" cy="1691640"/>
          </a:xfrm>
          <a:prstGeom prst="roundRect">
            <a:avLst>
              <a:gd name="adj" fmla="val 5946"/>
            </a:avLst>
          </a:prstGeom>
          <a:solidFill>
            <a:srgbClr val="EFEC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E1ED973-0FF4-591A-608B-EC1E8D8C67EA}"/>
              </a:ext>
            </a:extLst>
          </p:cNvPr>
          <p:cNvSpPr/>
          <p:nvPr/>
        </p:nvSpPr>
        <p:spPr>
          <a:xfrm>
            <a:off x="905256" y="19751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4FD4"/>
                </a:solidFill>
                <a:latin typeface="+mj-ea"/>
                <a:ea typeface="+mj-ea"/>
                <a:cs typeface="Arial" pitchFamily="34" charset="-120"/>
              </a:rPr>
              <a:t>PART 1 · 왜?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DF06C97-04E4-9485-0330-73B6B39B88E4}"/>
              </a:ext>
            </a:extLst>
          </p:cNvPr>
          <p:cNvSpPr/>
          <p:nvPr/>
        </p:nvSpPr>
        <p:spPr>
          <a:xfrm>
            <a:off x="905256" y="2304288"/>
            <a:ext cx="3511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검색 단락 선택을 RL로 최적화하면 휴리스틱을 넘을까?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753D123-545A-54F0-D1CA-5065E752EC40}"/>
              </a:ext>
            </a:extLst>
          </p:cNvPr>
          <p:cNvSpPr/>
          <p:nvPr/>
        </p:nvSpPr>
        <p:spPr>
          <a:xfrm>
            <a:off x="905256" y="2825496"/>
            <a:ext cx="3493008" cy="0"/>
          </a:xfrm>
          <a:prstGeom prst="line">
            <a:avLst/>
          </a:prstGeom>
          <a:noFill/>
          <a:ln w="12700">
            <a:solidFill>
              <a:srgbClr val="C9B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29888C2-798A-F0C1-223E-BB3A6AE1E29C}"/>
              </a:ext>
            </a:extLst>
          </p:cNvPr>
          <p:cNvSpPr/>
          <p:nvPr/>
        </p:nvSpPr>
        <p:spPr>
          <a:xfrm>
            <a:off x="905256" y="2907792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방법   </a:t>
            </a:r>
            <a:r>
              <a:rPr lang="en-US" sz="11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frozen LLM + selector를 REINFORCE+baseline으로 학습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800872FE-CFCB-CDD3-4121-16D651EC3729}"/>
              </a:ext>
            </a:extLst>
          </p:cNvPr>
          <p:cNvSpPr/>
          <p:nvPr/>
        </p:nvSpPr>
        <p:spPr>
          <a:xfrm>
            <a:off x="5074920" y="1847088"/>
            <a:ext cx="6428232" cy="1691640"/>
          </a:xfrm>
          <a:prstGeom prst="roundRect">
            <a:avLst>
              <a:gd name="adj" fmla="val 5946"/>
            </a:avLst>
          </a:prstGeom>
          <a:solidFill>
            <a:srgbClr val="F6DE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DC19119E-C3EC-51A3-28EB-90B49ACC241E}"/>
              </a:ext>
            </a:extLst>
          </p:cNvPr>
          <p:cNvSpPr/>
          <p:nvPr/>
        </p:nvSpPr>
        <p:spPr>
          <a:xfrm>
            <a:off x="5330952" y="1993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+mj-ea"/>
                <a:ea typeface="+mj-ea"/>
                <a:cs typeface="Arial" pitchFamily="34" charset="-120"/>
              </a:rPr>
              <a:t>PART 1 · 발견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50AC1AB8-FA27-9211-BA18-C7589099C33D}"/>
              </a:ext>
            </a:extLst>
          </p:cNvPr>
          <p:cNvSpPr/>
          <p:nvPr/>
        </p:nvSpPr>
        <p:spPr>
          <a:xfrm>
            <a:off x="5330952" y="232257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0.355 &lt; 0.370</a:t>
            </a:r>
            <a:endParaRPr lang="en-US" sz="2500" dirty="0">
              <a:latin typeface="+mj-ea"/>
              <a:ea typeface="+mj-ea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D8ECAECA-CF30-3D02-F000-73A730736D41}"/>
              </a:ext>
            </a:extLst>
          </p:cNvPr>
          <p:cNvSpPr/>
          <p:nvPr/>
        </p:nvSpPr>
        <p:spPr>
          <a:xfrm>
            <a:off x="8385048" y="2322576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+mj-ea"/>
                <a:ea typeface="+mj-ea"/>
                <a:cs typeface="Arial" pitchFamily="34" charset="-120"/>
              </a:rPr>
              <a:t>휴리스틱 못 넘음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638A24F1-F38A-E9EE-7E8A-AD996606074A}"/>
              </a:ext>
            </a:extLst>
          </p:cNvPr>
          <p:cNvSpPr/>
          <p:nvPr/>
        </p:nvSpPr>
        <p:spPr>
          <a:xfrm>
            <a:off x="5330952" y="3118104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전이 −24% 폭락 · 원인 = 추론 용량(capacity) 부재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F018756C-BF9A-A8E6-BC04-FB8A885E14D5}"/>
              </a:ext>
            </a:extLst>
          </p:cNvPr>
          <p:cNvSpPr/>
          <p:nvPr/>
        </p:nvSpPr>
        <p:spPr>
          <a:xfrm>
            <a:off x="4645152" y="2692908"/>
            <a:ext cx="384048" cy="0"/>
          </a:xfrm>
          <a:prstGeom prst="line">
            <a:avLst/>
          </a:prstGeom>
          <a:noFill/>
          <a:ln w="31750">
            <a:solidFill>
              <a:srgbClr val="7B6FF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A56C6EAD-6983-0410-3540-194165517FEF}"/>
              </a:ext>
            </a:extLst>
          </p:cNvPr>
          <p:cNvSpPr/>
          <p:nvPr/>
        </p:nvSpPr>
        <p:spPr>
          <a:xfrm>
            <a:off x="4645152" y="4814316"/>
            <a:ext cx="384048" cy="0"/>
          </a:xfrm>
          <a:prstGeom prst="line">
            <a:avLst/>
          </a:prstGeom>
          <a:noFill/>
          <a:ln w="31750">
            <a:solidFill>
              <a:srgbClr val="7B6FF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F86AE4FF-1B0C-969E-326F-301521A7A5A1}"/>
              </a:ext>
            </a:extLst>
          </p:cNvPr>
          <p:cNvSpPr/>
          <p:nvPr/>
        </p:nvSpPr>
        <p:spPr>
          <a:xfrm>
            <a:off x="2651760" y="3584448"/>
            <a:ext cx="0" cy="338328"/>
          </a:xfrm>
          <a:prstGeom prst="line">
            <a:avLst/>
          </a:prstGeom>
          <a:noFill/>
          <a:ln w="34925">
            <a:solidFill>
              <a:srgbClr val="F4B74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21F20971-0505-F7B4-5FD1-702F449BB21D}"/>
              </a:ext>
            </a:extLst>
          </p:cNvPr>
          <p:cNvSpPr/>
          <p:nvPr/>
        </p:nvSpPr>
        <p:spPr>
          <a:xfrm>
            <a:off x="2971800" y="3557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F4B740"/>
                </a:solidFill>
                <a:latin typeface="+mj-ea"/>
                <a:ea typeface="+mj-ea"/>
                <a:cs typeface="Calibri" pitchFamily="34" charset="-120"/>
              </a:rPr>
              <a:t>추론 용량이 없다면 → 추론을 LLM 안에 넣자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36" name="Shape 19">
            <a:extLst>
              <a:ext uri="{FF2B5EF4-FFF2-40B4-BE49-F238E27FC236}">
                <a16:creationId xmlns:a16="http://schemas.microsoft.com/office/drawing/2014/main" id="{56ED37AE-A187-8F14-B44F-BB2D37AC79B0}"/>
              </a:ext>
            </a:extLst>
          </p:cNvPr>
          <p:cNvSpPr/>
          <p:nvPr/>
        </p:nvSpPr>
        <p:spPr>
          <a:xfrm>
            <a:off x="685800" y="3968496"/>
            <a:ext cx="3931920" cy="1691640"/>
          </a:xfrm>
          <a:prstGeom prst="roundRect">
            <a:avLst>
              <a:gd name="adj" fmla="val 5946"/>
            </a:avLst>
          </a:prstGeom>
          <a:solidFill>
            <a:srgbClr val="EFEC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34D3D71C-BD28-9B32-C098-EA4DCF4B51F7}"/>
              </a:ext>
            </a:extLst>
          </p:cNvPr>
          <p:cNvSpPr/>
          <p:nvPr/>
        </p:nvSpPr>
        <p:spPr>
          <a:xfrm>
            <a:off x="905256" y="4096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4FD4"/>
                </a:solidFill>
                <a:latin typeface="+mj-ea"/>
                <a:ea typeface="+mj-ea"/>
                <a:cs typeface="Arial" pitchFamily="34" charset="-120"/>
              </a:rPr>
              <a:t>PART 2 · 왜?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38" name="Text 21">
            <a:extLst>
              <a:ext uri="{FF2B5EF4-FFF2-40B4-BE49-F238E27FC236}">
                <a16:creationId xmlns:a16="http://schemas.microsoft.com/office/drawing/2014/main" id="{85E30ED3-E886-AA2C-235C-0A2C9325E33B}"/>
              </a:ext>
            </a:extLst>
          </p:cNvPr>
          <p:cNvSpPr/>
          <p:nvPr/>
        </p:nvSpPr>
        <p:spPr>
          <a:xfrm>
            <a:off x="905256" y="4425696"/>
            <a:ext cx="3511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추론을 LLM 안에 두면 휴리스틱을 넘을까?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39" name="Shape 22">
            <a:extLst>
              <a:ext uri="{FF2B5EF4-FFF2-40B4-BE49-F238E27FC236}">
                <a16:creationId xmlns:a16="http://schemas.microsoft.com/office/drawing/2014/main" id="{5283D40D-C026-E842-4C77-FDCBE4479596}"/>
              </a:ext>
            </a:extLst>
          </p:cNvPr>
          <p:cNvSpPr/>
          <p:nvPr/>
        </p:nvSpPr>
        <p:spPr>
          <a:xfrm>
            <a:off x="905256" y="4946904"/>
            <a:ext cx="3493008" cy="0"/>
          </a:xfrm>
          <a:prstGeom prst="line">
            <a:avLst/>
          </a:prstGeom>
          <a:noFill/>
          <a:ln w="12700">
            <a:solidFill>
              <a:srgbClr val="C9B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23">
            <a:extLst>
              <a:ext uri="{FF2B5EF4-FFF2-40B4-BE49-F238E27FC236}">
                <a16:creationId xmlns:a16="http://schemas.microsoft.com/office/drawing/2014/main" id="{2C7E1680-87B7-A452-9FC8-B339207AC9D9}"/>
              </a:ext>
            </a:extLst>
          </p:cNvPr>
          <p:cNvSpPr/>
          <p:nvPr/>
        </p:nvSpPr>
        <p:spPr>
          <a:xfrm>
            <a:off x="905256" y="5029200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방법   </a:t>
            </a:r>
            <a:r>
              <a:rPr lang="en-US" sz="11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Qwen LoRA를 SFT→GRPO로 파인튜닝 (Search-R1)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41" name="Shape 24">
            <a:extLst>
              <a:ext uri="{FF2B5EF4-FFF2-40B4-BE49-F238E27FC236}">
                <a16:creationId xmlns:a16="http://schemas.microsoft.com/office/drawing/2014/main" id="{E02817A3-73AE-094A-0CE9-A482A6BF993A}"/>
              </a:ext>
            </a:extLst>
          </p:cNvPr>
          <p:cNvSpPr/>
          <p:nvPr/>
        </p:nvSpPr>
        <p:spPr>
          <a:xfrm>
            <a:off x="5074920" y="3968496"/>
            <a:ext cx="6428232" cy="1691640"/>
          </a:xfrm>
          <a:prstGeom prst="roundRect">
            <a:avLst>
              <a:gd name="adj" fmla="val 5946"/>
            </a:avLst>
          </a:prstGeom>
          <a:solidFill>
            <a:srgbClr val="E4F7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25">
            <a:extLst>
              <a:ext uri="{FF2B5EF4-FFF2-40B4-BE49-F238E27FC236}">
                <a16:creationId xmlns:a16="http://schemas.microsoft.com/office/drawing/2014/main" id="{B1904953-D76A-1055-BE24-632B630EF37D}"/>
              </a:ext>
            </a:extLst>
          </p:cNvPr>
          <p:cNvSpPr/>
          <p:nvPr/>
        </p:nvSpPr>
        <p:spPr>
          <a:xfrm>
            <a:off x="5330952" y="4114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8449"/>
                </a:solidFill>
                <a:latin typeface="+mj-ea"/>
                <a:ea typeface="+mj-ea"/>
                <a:cs typeface="Arial" pitchFamily="34" charset="-120"/>
              </a:rPr>
              <a:t>PART 2 · 발견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43" name="Text 26">
            <a:extLst>
              <a:ext uri="{FF2B5EF4-FFF2-40B4-BE49-F238E27FC236}">
                <a16:creationId xmlns:a16="http://schemas.microsoft.com/office/drawing/2014/main" id="{C232B18C-D505-56D0-1EAB-4B2694FB65FF}"/>
              </a:ext>
            </a:extLst>
          </p:cNvPr>
          <p:cNvSpPr/>
          <p:nvPr/>
        </p:nvSpPr>
        <p:spPr>
          <a:xfrm>
            <a:off x="5330952" y="4443984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0.469 &gt; 0.370</a:t>
            </a:r>
            <a:endParaRPr lang="en-US" sz="2500" dirty="0">
              <a:latin typeface="+mj-ea"/>
              <a:ea typeface="+mj-ea"/>
            </a:endParaRPr>
          </a:p>
        </p:txBody>
      </p:sp>
      <p:sp>
        <p:nvSpPr>
          <p:cNvPr id="44" name="Text 27">
            <a:extLst>
              <a:ext uri="{FF2B5EF4-FFF2-40B4-BE49-F238E27FC236}">
                <a16:creationId xmlns:a16="http://schemas.microsoft.com/office/drawing/2014/main" id="{82E8CB11-9002-D08D-321C-5AF11980C97A}"/>
              </a:ext>
            </a:extLst>
          </p:cNvPr>
          <p:cNvSpPr/>
          <p:nvPr/>
        </p:nvSpPr>
        <p:spPr>
          <a:xfrm>
            <a:off x="8385048" y="444398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449"/>
                </a:solidFill>
                <a:latin typeface="+mj-ea"/>
                <a:ea typeface="+mj-ea"/>
                <a:cs typeface="Arial" pitchFamily="34" charset="-120"/>
              </a:rPr>
              <a:t>in-domain 돌파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45" name="Text 28">
            <a:extLst>
              <a:ext uri="{FF2B5EF4-FFF2-40B4-BE49-F238E27FC236}">
                <a16:creationId xmlns:a16="http://schemas.microsoft.com/office/drawing/2014/main" id="{7D1F883F-A1C5-593C-1839-201653E01979}"/>
              </a:ext>
            </a:extLst>
          </p:cNvPr>
          <p:cNvSpPr/>
          <p:nvPr/>
        </p:nvSpPr>
        <p:spPr>
          <a:xfrm>
            <a:off x="5330952" y="5239512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단 이득은 comparison에 집중 · bridge 미해결 · 전이는 과적합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46" name="Shape 29">
            <a:extLst>
              <a:ext uri="{FF2B5EF4-FFF2-40B4-BE49-F238E27FC236}">
                <a16:creationId xmlns:a16="http://schemas.microsoft.com/office/drawing/2014/main" id="{711B697B-2AD1-F3A9-6792-A8EE9B267732}"/>
              </a:ext>
            </a:extLst>
          </p:cNvPr>
          <p:cNvSpPr/>
          <p:nvPr/>
        </p:nvSpPr>
        <p:spPr>
          <a:xfrm>
            <a:off x="685800" y="5797296"/>
            <a:ext cx="10817352" cy="768096"/>
          </a:xfrm>
          <a:prstGeom prst="roundRect">
            <a:avLst>
              <a:gd name="adj" fmla="val 11905"/>
            </a:avLst>
          </a:prstGeom>
          <a:solidFill>
            <a:srgbClr val="1F1F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0">
            <a:extLst>
              <a:ext uri="{FF2B5EF4-FFF2-40B4-BE49-F238E27FC236}">
                <a16:creationId xmlns:a16="http://schemas.microsoft.com/office/drawing/2014/main" id="{E9E4CAA5-FFC0-FA12-6E01-8ED17DE6E9DC}"/>
              </a:ext>
            </a:extLst>
          </p:cNvPr>
          <p:cNvSpPr/>
          <p:nvPr/>
        </p:nvSpPr>
        <p:spPr>
          <a:xfrm>
            <a:off x="960120" y="5907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B740"/>
                </a:solidFill>
                <a:latin typeface="+mj-ea"/>
                <a:ea typeface="+mj-ea"/>
                <a:cs typeface="Arial" pitchFamily="34" charset="-120"/>
              </a:rPr>
              <a:t>종합 통찰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48" name="Text 31">
            <a:extLst>
              <a:ext uri="{FF2B5EF4-FFF2-40B4-BE49-F238E27FC236}">
                <a16:creationId xmlns:a16="http://schemas.microsoft.com/office/drawing/2014/main" id="{F9166E78-C548-9B62-CBB4-6DCE3FD294A1}"/>
              </a:ext>
            </a:extLst>
          </p:cNvPr>
          <p:cNvSpPr/>
          <p:nvPr/>
        </p:nvSpPr>
        <p:spPr>
          <a:xfrm>
            <a:off x="960120" y="6190488"/>
            <a:ext cx="10268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추론을 LLM 안에 두면 in-domain은 이기지만, 도메인 전이는 학습 없는 휴리스틱에 진다 — RL의 효과와 한계를 3-seed로 규명</a:t>
            </a:r>
            <a:endParaRPr lang="en-US" sz="12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55888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Multi-hop RAG + 강화학습 최적화 — 핵심 요지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프로젝트 한눈에</a:t>
            </a:r>
            <a:endParaRPr lang="en-US" sz="2900" dirty="0">
              <a:latin typeface="+mj-ea"/>
              <a:ea typeface="+mj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1242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F5"/>
            </a:solidFill>
          </a:ln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560" y="17830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A99BF0"/>
                </a:solidFill>
                <a:latin typeface="+mj-ea"/>
                <a:ea typeface="+mj-ea"/>
                <a:cs typeface="Arial"/>
              </a:rPr>
              <a:t>문제</a:t>
            </a:r>
            <a:endParaRPr lang="en-US" sz="2000" b="1" dirty="0">
              <a:solidFill>
                <a:srgbClr val="A99BF0"/>
              </a:solidFill>
              <a:latin typeface="+mj-ea"/>
              <a:ea typeface="+mj-ea"/>
              <a:cs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2535631" y="1850979"/>
            <a:ext cx="89111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Multi-hop </a:t>
            </a:r>
            <a:r>
              <a:rPr lang="en-US" altLang="ko-KR" sz="16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QA에서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16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학습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16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없는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16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휴리스틱을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16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RL로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16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넘을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수 </a:t>
            </a:r>
            <a:r>
              <a:rPr lang="en-US" altLang="ko-KR" sz="16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있는가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?</a:t>
            </a:r>
            <a:endParaRPr lang="en-US" altLang="ko-KR" sz="1600" dirty="0">
              <a:latin typeface="+mj-ea"/>
              <a:ea typeface="+mj-ea"/>
            </a:endParaRP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selector를</a:t>
            </a:r>
            <a:r>
              <a:rPr lang="en-US" altLang="ko-KR" sz="160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1600" b="1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학습하는</a:t>
            </a:r>
            <a:r>
              <a:rPr lang="en-US" altLang="ko-KR" sz="160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길(PART 1)</a:t>
            </a:r>
            <a:r>
              <a:rPr lang="en-US" altLang="ko-KR" sz="1600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과 </a:t>
            </a:r>
            <a:r>
              <a:rPr lang="en-US" altLang="ko-KR" sz="160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LLM </a:t>
            </a:r>
            <a:r>
              <a:rPr lang="en-US" altLang="ko-KR" sz="1600" b="1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자체를</a:t>
            </a:r>
            <a:r>
              <a:rPr lang="en-US" altLang="ko-KR" sz="160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1600" b="1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학습하는</a:t>
            </a:r>
            <a:r>
              <a:rPr lang="en-US" altLang="ko-KR" sz="160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길(PART 2)</a:t>
            </a:r>
            <a:r>
              <a:rPr lang="en-US" altLang="ko-KR" sz="1600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을 두 </a:t>
            </a:r>
            <a:r>
              <a:rPr lang="en-US" altLang="ko-KR" sz="1600" dirty="0" err="1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PART에</a:t>
            </a:r>
            <a:r>
              <a:rPr lang="en-US" altLang="ko-KR" sz="1600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1600" dirty="0" err="1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걸쳐</a:t>
            </a:r>
            <a:r>
              <a:rPr lang="en-US" altLang="ko-KR" sz="1600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1600" dirty="0" err="1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검증</a:t>
            </a:r>
            <a:endParaRPr lang="en-US" altLang="ko-KR" sz="1600" dirty="0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85800" y="3227832"/>
            <a:ext cx="11242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F5"/>
            </a:solidFill>
          </a:ln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51560" y="3227832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A99BF0"/>
                </a:solidFill>
                <a:latin typeface="+mj-ea"/>
                <a:ea typeface="+mj-ea"/>
                <a:cs typeface="Arial"/>
              </a:rPr>
              <a:t>방법</a:t>
            </a:r>
            <a:endParaRPr lang="en-US" sz="2000" b="1" dirty="0">
              <a:solidFill>
                <a:srgbClr val="A99BF0"/>
              </a:solidFill>
              <a:latin typeface="+mj-ea"/>
              <a:ea typeface="+mj-ea"/>
              <a:cs typeface="Arial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85800" y="4672584"/>
            <a:ext cx="11242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F5"/>
            </a:solidFill>
          </a:ln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51560" y="4672584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A99BF0"/>
                </a:solidFill>
                <a:latin typeface="+mj-ea"/>
                <a:ea typeface="+mj-ea"/>
                <a:cs typeface="Arial"/>
              </a:rPr>
              <a:t>핵심</a:t>
            </a:r>
            <a:r>
              <a:rPr lang="en-US" sz="2000" b="1" dirty="0">
                <a:solidFill>
                  <a:srgbClr val="A99BF0"/>
                </a:solidFill>
                <a:latin typeface="+mj-ea"/>
                <a:ea typeface="+mj-ea"/>
                <a:cs typeface="Arial"/>
              </a:rPr>
              <a:t> </a:t>
            </a:r>
            <a:r>
              <a:rPr lang="en-US" sz="2000" b="1" dirty="0" err="1">
                <a:solidFill>
                  <a:srgbClr val="A99BF0"/>
                </a:solidFill>
                <a:latin typeface="+mj-ea"/>
                <a:ea typeface="+mj-ea"/>
                <a:cs typeface="Arial"/>
              </a:rPr>
              <a:t>결과</a:t>
            </a:r>
            <a:endParaRPr lang="en-US" sz="2000" b="1" dirty="0">
              <a:solidFill>
                <a:srgbClr val="A99BF0"/>
              </a:solidFill>
              <a:latin typeface="+mj-ea"/>
              <a:ea typeface="+mj-ea"/>
              <a:cs typeface="Arial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35631" y="4680366"/>
            <a:ext cx="939220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PART 1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  selection-only </a:t>
            </a:r>
            <a:r>
              <a:rPr lang="en-US" altLang="ko-KR" sz="16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RL은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cosine </a:t>
            </a:r>
            <a:r>
              <a:rPr lang="en-US" altLang="ko-KR" sz="16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휴리스틱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(</a:t>
            </a:r>
            <a:r>
              <a:rPr lang="en-US" altLang="ko-KR" sz="160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0.370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)을 못 </a:t>
            </a:r>
            <a:r>
              <a:rPr lang="en-US" altLang="ko-KR" sz="16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넘음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(</a:t>
            </a:r>
            <a:r>
              <a:rPr lang="en-US" altLang="ko-KR" sz="1600" b="1" dirty="0">
                <a:solidFill>
                  <a:srgbClr val="C0392B"/>
                </a:solidFill>
                <a:latin typeface="+mj-ea"/>
                <a:ea typeface="+mj-ea"/>
                <a:cs typeface="Calibri" pitchFamily="34" charset="-120"/>
              </a:rPr>
              <a:t>0.355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)</a:t>
            </a:r>
            <a:endParaRPr lang="en-US" altLang="ko-KR" sz="1600" dirty="0">
              <a:latin typeface="+mj-ea"/>
              <a:ea typeface="+mj-ea"/>
            </a:endParaRP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1E8449"/>
                </a:solidFill>
                <a:latin typeface="+mj-ea"/>
                <a:ea typeface="+mj-ea"/>
                <a:cs typeface="Calibri" pitchFamily="34" charset="-120"/>
              </a:rPr>
              <a:t>PART 2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  </a:t>
            </a:r>
            <a:r>
              <a:rPr lang="en-US" altLang="ko-KR" sz="16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추론을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LLM </a:t>
            </a:r>
            <a:r>
              <a:rPr lang="en-US" altLang="ko-KR" sz="16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안에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16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두자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in-domain </a:t>
            </a:r>
            <a:r>
              <a:rPr lang="en-US" altLang="ko-KR" sz="16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돌파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(</a:t>
            </a:r>
            <a:r>
              <a:rPr lang="en-US" altLang="ko-KR" sz="1600" b="1" dirty="0">
                <a:solidFill>
                  <a:srgbClr val="1E8449"/>
                </a:solidFill>
                <a:latin typeface="+mj-ea"/>
                <a:ea typeface="+mj-ea"/>
                <a:cs typeface="Calibri" pitchFamily="34" charset="-120"/>
              </a:rPr>
              <a:t>0.469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). 단 </a:t>
            </a:r>
            <a:r>
              <a:rPr lang="en-US" altLang="ko-KR" sz="16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도메인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16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전이에선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16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학습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16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없는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	        </a:t>
            </a:r>
          </a:p>
          <a:p>
            <a:pPr>
              <a:lnSpc>
                <a:spcPct val="115000"/>
              </a:lnSpc>
            </a:pP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                cosine 휴리스틱(</a:t>
            </a:r>
            <a:r>
              <a:rPr lang="en-US" altLang="ko-KR" sz="160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0.386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)이 </a:t>
            </a:r>
            <a:r>
              <a:rPr lang="en-US" altLang="ko-KR" sz="16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강해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— </a:t>
            </a:r>
            <a:r>
              <a:rPr lang="en-US" altLang="ko-KR" sz="160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“</a:t>
            </a:r>
            <a:r>
              <a:rPr lang="en-US" altLang="ko-KR" sz="1600" b="1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학습효과</a:t>
            </a:r>
            <a:r>
              <a:rPr lang="en-US" altLang="ko-KR" sz="160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vs OOD </a:t>
            </a:r>
            <a:r>
              <a:rPr lang="en-US" altLang="ko-KR" sz="1600" b="1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강건성</a:t>
            </a:r>
            <a:r>
              <a:rPr lang="en-US" altLang="ko-KR" sz="160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”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16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트레이드오프를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16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정량</a:t>
            </a:r>
            <a:r>
              <a:rPr lang="en-US" altLang="ko-KR" sz="16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16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규명</a:t>
            </a:r>
            <a:endParaRPr lang="en-US" altLang="ko-KR" sz="1600" dirty="0">
              <a:latin typeface="+mj-ea"/>
              <a:ea typeface="+mj-ea"/>
            </a:endParaRPr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B306725A-422E-FBA1-9E67-ADFE6FC087EE}"/>
              </a:ext>
            </a:extLst>
          </p:cNvPr>
          <p:cNvSpPr/>
          <p:nvPr/>
        </p:nvSpPr>
        <p:spPr>
          <a:xfrm>
            <a:off x="2535631" y="3295731"/>
            <a:ext cx="8732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PART 1</a:t>
            </a:r>
            <a:r>
              <a:rPr lang="en-US" sz="15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  frozen LLM 옆에 작은 selector(2-layer MLP)를 </a:t>
            </a:r>
            <a:r>
              <a:rPr lang="en-US" sz="15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두고</a:t>
            </a:r>
            <a:r>
              <a:rPr lang="en-US" sz="15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br>
              <a:rPr lang="en-US" sz="15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</a:br>
            <a:r>
              <a:rPr lang="en-US" sz="15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               </a:t>
            </a:r>
            <a:r>
              <a:rPr lang="en-US" sz="15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REINFORCE+baseline으로</a:t>
            </a:r>
            <a:r>
              <a:rPr lang="en-US" sz="15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단락 선택을 학습</a:t>
            </a:r>
            <a:endParaRPr lang="en-US" sz="1500" dirty="0">
              <a:latin typeface="+mj-ea"/>
              <a:ea typeface="+mj-ea"/>
            </a:endParaRP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1E8449"/>
                </a:solidFill>
                <a:latin typeface="+mj-ea"/>
                <a:ea typeface="+mj-ea"/>
                <a:cs typeface="Calibri" pitchFamily="34" charset="-120"/>
              </a:rPr>
              <a:t>PART 2</a:t>
            </a:r>
            <a:r>
              <a:rPr lang="en-US" sz="15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  LLM 자체를 LoRA로 SFT warmup → outcome F1 보상의 GRPO로 파인튜닝 (Search-R1)</a:t>
            </a:r>
            <a:endParaRPr lang="en-US" sz="15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722E6C-913C-5C01-5AA1-E4A34548F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BFCE7C77-321A-4DE0-A8A1-58D1CC90432C}"/>
              </a:ext>
            </a:extLst>
          </p:cNvPr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PART 1</a:t>
            </a:r>
            <a:endParaRPr lang="en-US" altLang="ko-KR" sz="1400" dirty="0">
              <a:latin typeface="+mj-ea"/>
              <a:ea typeface="+mj-ea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0569CC-ACBC-4782-6B30-220630C1502D}"/>
              </a:ext>
            </a:extLst>
          </p:cNvPr>
          <p:cNvSpPr/>
          <p:nvPr/>
        </p:nvSpPr>
        <p:spPr>
          <a:xfrm>
            <a:off x="533552" y="2725689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Part</a:t>
            </a:r>
            <a:r>
              <a:rPr lang="ko-KR" altLang="en-US" sz="40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 </a:t>
            </a:r>
            <a:r>
              <a:rPr lang="en-US" altLang="ko-KR" sz="40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1.</a:t>
            </a:r>
            <a:r>
              <a:rPr lang="ko-KR" altLang="en-US" sz="40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 </a:t>
            </a:r>
            <a:endParaRPr lang="en-US" sz="4000" dirty="0"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BCCCEC-27FF-5011-21B1-E1C8595F968A}"/>
              </a:ext>
            </a:extLst>
          </p:cNvPr>
          <p:cNvSpPr txBox="1"/>
          <p:nvPr/>
        </p:nvSpPr>
        <p:spPr>
          <a:xfrm>
            <a:off x="2550234" y="4029471"/>
            <a:ext cx="7088288" cy="355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altLang="ko-KR" sz="18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검색</a:t>
            </a:r>
            <a:r>
              <a:rPr lang="en-US" altLang="ko-KR" sz="18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18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단락</a:t>
            </a:r>
            <a:r>
              <a:rPr lang="en-US" altLang="ko-KR" sz="18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18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선택을</a:t>
            </a:r>
            <a:r>
              <a:rPr lang="en-US" altLang="ko-KR" sz="18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18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RL로</a:t>
            </a:r>
            <a:r>
              <a:rPr lang="en-US" altLang="ko-KR" sz="18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18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최적화하면</a:t>
            </a:r>
            <a:r>
              <a:rPr lang="en-US" altLang="ko-KR" sz="18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cosine </a:t>
            </a:r>
            <a:r>
              <a:rPr lang="en-US" altLang="ko-KR" sz="18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휴리스틱을</a:t>
            </a:r>
            <a:r>
              <a:rPr lang="en-US" altLang="ko-KR" sz="18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18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넘을까</a:t>
            </a:r>
            <a:r>
              <a:rPr lang="en-US" altLang="ko-KR" sz="18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?</a:t>
            </a:r>
            <a:endParaRPr lang="en-US" altLang="ko-KR" sz="1800" dirty="0">
              <a:latin typeface="+mj-ea"/>
              <a:ea typeface="+mj-ea"/>
            </a:endParaRPr>
          </a:p>
        </p:txBody>
      </p:sp>
      <p:sp>
        <p:nvSpPr>
          <p:cNvPr id="20" name="box">
            <a:extLst>
              <a:ext uri="{FF2B5EF4-FFF2-40B4-BE49-F238E27FC236}">
                <a16:creationId xmlns:a16="http://schemas.microsoft.com/office/drawing/2014/main" id="{02FC6458-2913-6253-CADA-79BAEEC9B55A}"/>
              </a:ext>
            </a:extLst>
          </p:cNvPr>
          <p:cNvSpPr/>
          <p:nvPr/>
        </p:nvSpPr>
        <p:spPr>
          <a:xfrm>
            <a:off x="828040" y="5031495"/>
            <a:ext cx="10820400" cy="1306732"/>
          </a:xfrm>
          <a:prstGeom prst="roundRect">
            <a:avLst/>
          </a:prstGeom>
          <a:solidFill>
            <a:srgbClr val="EFECF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21" name="tb">
            <a:extLst>
              <a:ext uri="{FF2B5EF4-FFF2-40B4-BE49-F238E27FC236}">
                <a16:creationId xmlns:a16="http://schemas.microsoft.com/office/drawing/2014/main" id="{38BF3620-E7D9-2F44-A994-0B2BE22BB607}"/>
              </a:ext>
            </a:extLst>
          </p:cNvPr>
          <p:cNvSpPr/>
          <p:nvPr/>
        </p:nvSpPr>
        <p:spPr>
          <a:xfrm>
            <a:off x="1122240" y="5151495"/>
            <a:ext cx="10300000" cy="11867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B6FF0"/>
                </a:solidFill>
                <a:latin typeface="+mj-ea"/>
                <a:ea typeface="+mj-ea"/>
                <a:cs typeface="Arial"/>
              </a:rPr>
              <a:t>프로젝트 목적 (Purpose)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5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Multi-hop QA에서 RL이 무엇을 어디까지 줄 수 있는지를 두 단계로 정직하게 검증한다. </a:t>
            </a:r>
            <a:br>
              <a:rPr lang="en-US" sz="135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</a:br>
            <a:r>
              <a:rPr lang="ko-KR" altLang="en-US" sz="135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－ </a:t>
            </a:r>
            <a:r>
              <a:rPr lang="en-US" sz="1350" b="1" u="sng" dirty="0">
                <a:solidFill>
                  <a:srgbClr val="FF0000"/>
                </a:solidFill>
                <a:latin typeface="+mj-ea"/>
                <a:ea typeface="+mj-ea"/>
                <a:cs typeface="Calibri"/>
              </a:rPr>
              <a:t>Part 1: </a:t>
            </a:r>
            <a:r>
              <a:rPr lang="en-US" sz="1350" b="0" u="sng" dirty="0">
                <a:solidFill>
                  <a:srgbClr val="FF0000"/>
                </a:solidFill>
                <a:latin typeface="+mj-ea"/>
                <a:ea typeface="+mj-ea"/>
                <a:cs typeface="Calibri"/>
              </a:rPr>
              <a:t>frozen LLM 위 selector를 RL로 학습해 cosine 휴리스틱과 겨룬다. </a:t>
            </a:r>
            <a:br>
              <a:rPr lang="en-US" sz="135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</a:br>
            <a:r>
              <a:rPr lang="ko-KR" altLang="en-US" sz="135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－ </a:t>
            </a:r>
            <a:r>
              <a:rPr lang="en-US" sz="1350" b="1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Part 2: </a:t>
            </a:r>
            <a:r>
              <a:rPr lang="en-US" sz="135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LLM 자체를 SFT→GRPO RL로 파인튜닝(Search-R1)해 추론을 LLM 안에 둔다.</a:t>
            </a:r>
          </a:p>
        </p:txBody>
      </p:sp>
    </p:spTree>
    <p:extLst>
      <p:ext uri="{BB962C8B-B14F-4D97-AF65-F5344CB8AC3E}">
        <p14:creationId xmlns:p14="http://schemas.microsoft.com/office/powerpoint/2010/main" val="1084542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E2524-57C7-3053-E08B-B188D1562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2CC78894-6297-6675-5568-16EAF45A625B}"/>
              </a:ext>
            </a:extLst>
          </p:cNvPr>
          <p:cNvSpPr/>
          <p:nvPr/>
        </p:nvSpPr>
        <p:spPr>
          <a:xfrm>
            <a:off x="566928" y="7863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300" b="1" dirty="0">
                <a:solidFill>
                  <a:srgbClr val="33333D"/>
                </a:solidFill>
                <a:latin typeface="+mj-ea"/>
                <a:ea typeface="+mj-ea"/>
              </a:rPr>
              <a:t>강화학습</a:t>
            </a:r>
            <a:r>
              <a:rPr lang="en-US" altLang="ko-KR" sz="3300" b="1" dirty="0">
                <a:solidFill>
                  <a:srgbClr val="33333D"/>
                </a:solidFill>
                <a:latin typeface="+mj-ea"/>
                <a:ea typeface="+mj-ea"/>
              </a:rPr>
              <a:t>(RL) </a:t>
            </a:r>
            <a:r>
              <a:rPr lang="ko-KR" altLang="en-US" sz="3300" b="1" dirty="0">
                <a:solidFill>
                  <a:srgbClr val="33333D"/>
                </a:solidFill>
                <a:latin typeface="+mj-ea"/>
                <a:ea typeface="+mj-ea"/>
              </a:rPr>
              <a:t>적용 타당성</a:t>
            </a:r>
            <a:endParaRPr lang="en-US" sz="3300" dirty="0">
              <a:latin typeface="+mj-ea"/>
              <a:ea typeface="+mj-ea"/>
            </a:endParaRP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A92CB23D-EA4D-6929-6CDE-87E811B6FB7F}"/>
              </a:ext>
            </a:extLst>
          </p:cNvPr>
          <p:cNvSpPr/>
          <p:nvPr/>
        </p:nvSpPr>
        <p:spPr>
          <a:xfrm>
            <a:off x="6094476" y="1664208"/>
            <a:ext cx="0" cy="2670048"/>
          </a:xfrm>
          <a:prstGeom prst="line">
            <a:avLst/>
          </a:prstGeom>
          <a:noFill/>
          <a:ln w="12700">
            <a:solidFill>
              <a:srgbClr val="D9D9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1432EAAB-AC37-7D08-6889-565FCD15D674}"/>
              </a:ext>
            </a:extLst>
          </p:cNvPr>
          <p:cNvSpPr/>
          <p:nvPr/>
        </p:nvSpPr>
        <p:spPr>
          <a:xfrm>
            <a:off x="5838444" y="2798064"/>
            <a:ext cx="512064" cy="365760"/>
          </a:xfrm>
          <a:prstGeom prst="rect">
            <a:avLst/>
          </a:prstGeom>
          <a:solidFill>
            <a:srgbClr val="F4F4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8A95"/>
                </a:solidFill>
                <a:latin typeface="+mj-ea"/>
                <a:ea typeface="+mj-ea"/>
              </a:rPr>
              <a:t>vs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E78537EF-42C6-9FFC-1932-288287498971}"/>
              </a:ext>
            </a:extLst>
          </p:cNvPr>
          <p:cNvSpPr/>
          <p:nvPr/>
        </p:nvSpPr>
        <p:spPr>
          <a:xfrm>
            <a:off x="566928" y="1664208"/>
            <a:ext cx="5294376" cy="402336"/>
          </a:xfrm>
          <a:prstGeom prst="rect">
            <a:avLst/>
          </a:prstGeom>
          <a:solidFill>
            <a:srgbClr val="8A8A9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1355E7A3-3B99-025E-09C5-F1042C9E00B6}"/>
              </a:ext>
            </a:extLst>
          </p:cNvPr>
          <p:cNvSpPr/>
          <p:nvPr/>
        </p:nvSpPr>
        <p:spPr>
          <a:xfrm>
            <a:off x="566928" y="1664208"/>
            <a:ext cx="5294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+mj-ea"/>
                <a:ea typeface="+mj-ea"/>
              </a:rPr>
              <a:t>기존 RAG · one-shot retrieval</a:t>
            </a:r>
            <a:endParaRPr lang="en-US" sz="1450" dirty="0">
              <a:latin typeface="+mj-ea"/>
              <a:ea typeface="+mj-ea"/>
            </a:endParaRP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8CF227E7-0163-C7EF-9573-5E99562CD3CC}"/>
              </a:ext>
            </a:extLst>
          </p:cNvPr>
          <p:cNvSpPr/>
          <p:nvPr/>
        </p:nvSpPr>
        <p:spPr>
          <a:xfrm>
            <a:off x="6327648" y="1664208"/>
            <a:ext cx="5294376" cy="402336"/>
          </a:xfrm>
          <a:prstGeom prst="rect">
            <a:avLst/>
          </a:prstGeom>
          <a:solidFill>
            <a:srgbClr val="7B6F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FB2B91A2-3895-0470-3F5E-99CA11B137B7}"/>
              </a:ext>
            </a:extLst>
          </p:cNvPr>
          <p:cNvSpPr/>
          <p:nvPr/>
        </p:nvSpPr>
        <p:spPr>
          <a:xfrm>
            <a:off x="6327648" y="1664208"/>
            <a:ext cx="5294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+mj-ea"/>
                <a:ea typeface="+mj-ea"/>
              </a:rPr>
              <a:t>우리 문제 · sequential evidence selection</a:t>
            </a:r>
            <a:endParaRPr lang="en-US" sz="1450" dirty="0">
              <a:latin typeface="+mj-ea"/>
              <a:ea typeface="+mj-ea"/>
            </a:endParaRP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8F3B5713-200A-8628-5E39-2B9D9F34FED4}"/>
              </a:ext>
            </a:extLst>
          </p:cNvPr>
          <p:cNvSpPr/>
          <p:nvPr/>
        </p:nvSpPr>
        <p:spPr>
          <a:xfrm>
            <a:off x="1065276" y="2240280"/>
            <a:ext cx="429768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4C92C6AB-980B-6989-26AB-DE871169B244}"/>
              </a:ext>
            </a:extLst>
          </p:cNvPr>
          <p:cNvSpPr/>
          <p:nvPr/>
        </p:nvSpPr>
        <p:spPr>
          <a:xfrm>
            <a:off x="1110996" y="224028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3333D"/>
                </a:solidFill>
                <a:latin typeface="+mj-ea"/>
                <a:ea typeface="+mj-ea"/>
              </a:rPr>
              <a:t>Question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CDF7DC47-0AB9-3EC0-8AAB-28D46606AEBA}"/>
              </a:ext>
            </a:extLst>
          </p:cNvPr>
          <p:cNvSpPr/>
          <p:nvPr/>
        </p:nvSpPr>
        <p:spPr>
          <a:xfrm>
            <a:off x="3214116" y="2770632"/>
            <a:ext cx="0" cy="251460"/>
          </a:xfrm>
          <a:prstGeom prst="line">
            <a:avLst/>
          </a:prstGeom>
          <a:noFill/>
          <a:ln w="25400">
            <a:solidFill>
              <a:srgbClr val="5A5A6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FBFADB88-A003-C7E4-B3BF-1723703DC34A}"/>
              </a:ext>
            </a:extLst>
          </p:cNvPr>
          <p:cNvSpPr/>
          <p:nvPr/>
        </p:nvSpPr>
        <p:spPr>
          <a:xfrm>
            <a:off x="1065276" y="3022092"/>
            <a:ext cx="4297680" cy="530352"/>
          </a:xfrm>
          <a:prstGeom prst="rect">
            <a:avLst/>
          </a:prstGeom>
          <a:solidFill>
            <a:srgbClr val="E8E8EE"/>
          </a:solidFill>
          <a:ln w="22225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1D5B601D-CDE5-C7FF-E2FC-0DA2DD473BA8}"/>
              </a:ext>
            </a:extLst>
          </p:cNvPr>
          <p:cNvSpPr/>
          <p:nvPr/>
        </p:nvSpPr>
        <p:spPr>
          <a:xfrm>
            <a:off x="1110996" y="302209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3333D"/>
                </a:solidFill>
                <a:latin typeface="+mj-ea"/>
                <a:ea typeface="+mj-ea"/>
              </a:rPr>
              <a:t>Cosine Top-k Retrieval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69A79A4B-0BBC-BD18-3B91-ED2D5CFAAF49}"/>
              </a:ext>
            </a:extLst>
          </p:cNvPr>
          <p:cNvSpPr/>
          <p:nvPr/>
        </p:nvSpPr>
        <p:spPr>
          <a:xfrm>
            <a:off x="3214116" y="3552444"/>
            <a:ext cx="0" cy="251460"/>
          </a:xfrm>
          <a:prstGeom prst="line">
            <a:avLst/>
          </a:prstGeom>
          <a:noFill/>
          <a:ln w="25400">
            <a:solidFill>
              <a:srgbClr val="5A5A6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3CDB86E9-93A2-907B-9A29-AD3CC5EBEFBB}"/>
              </a:ext>
            </a:extLst>
          </p:cNvPr>
          <p:cNvSpPr/>
          <p:nvPr/>
        </p:nvSpPr>
        <p:spPr>
          <a:xfrm>
            <a:off x="1065276" y="3803904"/>
            <a:ext cx="429768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4779647C-E10A-7061-C687-7EE167C8522E}"/>
              </a:ext>
            </a:extLst>
          </p:cNvPr>
          <p:cNvSpPr/>
          <p:nvPr/>
        </p:nvSpPr>
        <p:spPr>
          <a:xfrm>
            <a:off x="1110996" y="380390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3333D"/>
                </a:solidFill>
                <a:latin typeface="+mj-ea"/>
                <a:ea typeface="+mj-ea"/>
              </a:rPr>
              <a:t>LLM Answer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628F7B6F-04A4-3ABE-4759-61F402D7E969}"/>
              </a:ext>
            </a:extLst>
          </p:cNvPr>
          <p:cNvSpPr/>
          <p:nvPr/>
        </p:nvSpPr>
        <p:spPr>
          <a:xfrm>
            <a:off x="566928" y="4379976"/>
            <a:ext cx="5294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8A8A95"/>
                </a:solidFill>
                <a:latin typeface="+mj-ea"/>
                <a:ea typeface="+mj-ea"/>
              </a:rPr>
              <a:t>질문과 직접 닮은 문서엔 강하지만,</a:t>
            </a:r>
            <a:endParaRPr lang="en-US" sz="1200" dirty="0">
              <a:latin typeface="+mj-ea"/>
              <a:ea typeface="+mj-ea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8A8A95"/>
                </a:solidFill>
                <a:latin typeface="+mj-ea"/>
                <a:ea typeface="+mj-ea"/>
              </a:rPr>
              <a:t>표면적으로 닮지 않은 bridge evidence를 놓치기 쉽다.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19F45378-9CC7-C70D-C33D-BC03D56EE47B}"/>
              </a:ext>
            </a:extLst>
          </p:cNvPr>
          <p:cNvSpPr/>
          <p:nvPr/>
        </p:nvSpPr>
        <p:spPr>
          <a:xfrm>
            <a:off x="6825996" y="2240280"/>
            <a:ext cx="4297680" cy="402336"/>
          </a:xfrm>
          <a:prstGeom prst="rect">
            <a:avLst/>
          </a:prstGeom>
          <a:solidFill>
            <a:srgbClr val="FFFFFF"/>
          </a:solidFill>
          <a:ln w="22225">
            <a:solidFill>
              <a:srgbClr val="7B6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AFB03056-3622-466A-591F-57732E3F577E}"/>
              </a:ext>
            </a:extLst>
          </p:cNvPr>
          <p:cNvSpPr/>
          <p:nvPr/>
        </p:nvSpPr>
        <p:spPr>
          <a:xfrm>
            <a:off x="6871716" y="224028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3333D"/>
                </a:solidFill>
                <a:latin typeface="+mj-ea"/>
                <a:ea typeface="+mj-ea"/>
              </a:rPr>
              <a:t>Question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35" name="Shape 21">
            <a:extLst>
              <a:ext uri="{FF2B5EF4-FFF2-40B4-BE49-F238E27FC236}">
                <a16:creationId xmlns:a16="http://schemas.microsoft.com/office/drawing/2014/main" id="{DDD000A4-9150-C4A4-2C2F-E0A57402DA2D}"/>
              </a:ext>
            </a:extLst>
          </p:cNvPr>
          <p:cNvSpPr/>
          <p:nvPr/>
        </p:nvSpPr>
        <p:spPr>
          <a:xfrm>
            <a:off x="8974836" y="2642616"/>
            <a:ext cx="0" cy="161849"/>
          </a:xfrm>
          <a:prstGeom prst="line">
            <a:avLst/>
          </a:prstGeom>
          <a:noFill/>
          <a:ln w="25400">
            <a:solidFill>
              <a:srgbClr val="5A5A6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88E19F8B-6FEA-6624-908B-FEE1926AFCE4}"/>
              </a:ext>
            </a:extLst>
          </p:cNvPr>
          <p:cNvSpPr/>
          <p:nvPr/>
        </p:nvSpPr>
        <p:spPr>
          <a:xfrm>
            <a:off x="6825996" y="2804465"/>
            <a:ext cx="4297680" cy="402336"/>
          </a:xfrm>
          <a:prstGeom prst="rect">
            <a:avLst/>
          </a:prstGeom>
          <a:solidFill>
            <a:srgbClr val="ECE9FC"/>
          </a:solidFill>
          <a:ln w="22225">
            <a:solidFill>
              <a:srgbClr val="7B6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5899C8DD-D944-D288-FF4B-D0C8BF63E13E}"/>
              </a:ext>
            </a:extLst>
          </p:cNvPr>
          <p:cNvSpPr/>
          <p:nvPr/>
        </p:nvSpPr>
        <p:spPr>
          <a:xfrm>
            <a:off x="6871716" y="2804465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3333D"/>
                </a:solidFill>
                <a:latin typeface="+mj-ea"/>
                <a:ea typeface="+mj-ea"/>
              </a:rPr>
              <a:t>Evidence 1  </a:t>
            </a:r>
            <a:r>
              <a:rPr lang="en-US" sz="1100" dirty="0">
                <a:solidFill>
                  <a:srgbClr val="7B6FEF"/>
                </a:solidFill>
                <a:latin typeface="+mj-ea"/>
                <a:ea typeface="+mj-ea"/>
              </a:rPr>
              <a:t>keep / drop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38" name="Shape 24">
            <a:extLst>
              <a:ext uri="{FF2B5EF4-FFF2-40B4-BE49-F238E27FC236}">
                <a16:creationId xmlns:a16="http://schemas.microsoft.com/office/drawing/2014/main" id="{AFB95DDC-FFAC-C24F-8A72-D96D80E7EF08}"/>
              </a:ext>
            </a:extLst>
          </p:cNvPr>
          <p:cNvSpPr/>
          <p:nvPr/>
        </p:nvSpPr>
        <p:spPr>
          <a:xfrm>
            <a:off x="8974836" y="3206801"/>
            <a:ext cx="0" cy="161849"/>
          </a:xfrm>
          <a:prstGeom prst="line">
            <a:avLst/>
          </a:prstGeom>
          <a:noFill/>
          <a:ln w="25400">
            <a:solidFill>
              <a:srgbClr val="5A5A6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25">
            <a:extLst>
              <a:ext uri="{FF2B5EF4-FFF2-40B4-BE49-F238E27FC236}">
                <a16:creationId xmlns:a16="http://schemas.microsoft.com/office/drawing/2014/main" id="{1FFC83B1-9ACC-13B0-C2F6-77D3D7EEF53C}"/>
              </a:ext>
            </a:extLst>
          </p:cNvPr>
          <p:cNvSpPr/>
          <p:nvPr/>
        </p:nvSpPr>
        <p:spPr>
          <a:xfrm>
            <a:off x="6825996" y="3368650"/>
            <a:ext cx="4297680" cy="402336"/>
          </a:xfrm>
          <a:prstGeom prst="rect">
            <a:avLst/>
          </a:prstGeom>
          <a:solidFill>
            <a:srgbClr val="ECE9FC"/>
          </a:solidFill>
          <a:ln w="22225">
            <a:solidFill>
              <a:srgbClr val="7B6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26">
            <a:extLst>
              <a:ext uri="{FF2B5EF4-FFF2-40B4-BE49-F238E27FC236}">
                <a16:creationId xmlns:a16="http://schemas.microsoft.com/office/drawing/2014/main" id="{314628DB-6FB0-8382-2A33-8C4CD953701D}"/>
              </a:ext>
            </a:extLst>
          </p:cNvPr>
          <p:cNvSpPr/>
          <p:nvPr/>
        </p:nvSpPr>
        <p:spPr>
          <a:xfrm>
            <a:off x="6871716" y="336865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3333D"/>
                </a:solidFill>
                <a:latin typeface="+mj-ea"/>
                <a:ea typeface="+mj-ea"/>
              </a:rPr>
              <a:t>Evidence 2  </a:t>
            </a:r>
            <a:r>
              <a:rPr lang="en-US" sz="1100" dirty="0">
                <a:solidFill>
                  <a:srgbClr val="7B6FEF"/>
                </a:solidFill>
                <a:latin typeface="+mj-ea"/>
                <a:ea typeface="+mj-ea"/>
              </a:rPr>
              <a:t>keep / drop  ↺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41" name="Shape 27">
            <a:extLst>
              <a:ext uri="{FF2B5EF4-FFF2-40B4-BE49-F238E27FC236}">
                <a16:creationId xmlns:a16="http://schemas.microsoft.com/office/drawing/2014/main" id="{D444D9B4-96EA-30BE-4F5C-54EF4DD7989F}"/>
              </a:ext>
            </a:extLst>
          </p:cNvPr>
          <p:cNvSpPr/>
          <p:nvPr/>
        </p:nvSpPr>
        <p:spPr>
          <a:xfrm>
            <a:off x="8974836" y="3770986"/>
            <a:ext cx="0" cy="161849"/>
          </a:xfrm>
          <a:prstGeom prst="line">
            <a:avLst/>
          </a:prstGeom>
          <a:noFill/>
          <a:ln w="25400">
            <a:solidFill>
              <a:srgbClr val="5A5A6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28">
            <a:extLst>
              <a:ext uri="{FF2B5EF4-FFF2-40B4-BE49-F238E27FC236}">
                <a16:creationId xmlns:a16="http://schemas.microsoft.com/office/drawing/2014/main" id="{F954C197-A088-4739-E42B-0B592592443A}"/>
              </a:ext>
            </a:extLst>
          </p:cNvPr>
          <p:cNvSpPr/>
          <p:nvPr/>
        </p:nvSpPr>
        <p:spPr>
          <a:xfrm>
            <a:off x="6825996" y="3932834"/>
            <a:ext cx="4297680" cy="402336"/>
          </a:xfrm>
          <a:prstGeom prst="rect">
            <a:avLst/>
          </a:prstGeom>
          <a:solidFill>
            <a:srgbClr val="FFFFFF"/>
          </a:solidFill>
          <a:ln w="22225">
            <a:solidFill>
              <a:srgbClr val="7B6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29">
            <a:extLst>
              <a:ext uri="{FF2B5EF4-FFF2-40B4-BE49-F238E27FC236}">
                <a16:creationId xmlns:a16="http://schemas.microsoft.com/office/drawing/2014/main" id="{1B217E84-17F0-C24A-B0FA-679CCADC751E}"/>
              </a:ext>
            </a:extLst>
          </p:cNvPr>
          <p:cNvSpPr/>
          <p:nvPr/>
        </p:nvSpPr>
        <p:spPr>
          <a:xfrm>
            <a:off x="6871716" y="393283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3333D"/>
                </a:solidFill>
                <a:latin typeface="+mj-ea"/>
                <a:ea typeface="+mj-ea"/>
              </a:rPr>
              <a:t>Stop </a:t>
            </a:r>
            <a:r>
              <a:rPr lang="en-US" sz="1200" dirty="0">
                <a:solidFill>
                  <a:srgbClr val="33333D"/>
                </a:solidFill>
                <a:latin typeface="+mj-ea"/>
                <a:ea typeface="+mj-ea"/>
              </a:rPr>
              <a:t>→ LLM Answer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8D4146DA-ADDF-61E5-8E9B-68A0B77F57FA}"/>
              </a:ext>
            </a:extLst>
          </p:cNvPr>
          <p:cNvSpPr/>
          <p:nvPr/>
        </p:nvSpPr>
        <p:spPr>
          <a:xfrm>
            <a:off x="6327648" y="4380890"/>
            <a:ext cx="5294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8A8A95"/>
                </a:solidFill>
                <a:latin typeface="+mj-ea"/>
                <a:ea typeface="+mj-ea"/>
              </a:rPr>
              <a:t>각 step에서 keep / drop / stop 결정 — 이전 선택이 다음 상태와 최종 답 품질에 영향을 준다.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45" name="Shape 31">
            <a:extLst>
              <a:ext uri="{FF2B5EF4-FFF2-40B4-BE49-F238E27FC236}">
                <a16:creationId xmlns:a16="http://schemas.microsoft.com/office/drawing/2014/main" id="{C167CAE1-5F9E-67BD-C067-503B4FEAF34A}"/>
              </a:ext>
            </a:extLst>
          </p:cNvPr>
          <p:cNvSpPr/>
          <p:nvPr/>
        </p:nvSpPr>
        <p:spPr>
          <a:xfrm>
            <a:off x="566928" y="4956048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D9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2">
            <a:extLst>
              <a:ext uri="{FF2B5EF4-FFF2-40B4-BE49-F238E27FC236}">
                <a16:creationId xmlns:a16="http://schemas.microsoft.com/office/drawing/2014/main" id="{068ABED0-7550-EA7D-9766-109C873F07D0}"/>
              </a:ext>
            </a:extLst>
          </p:cNvPr>
          <p:cNvSpPr/>
          <p:nvPr/>
        </p:nvSpPr>
        <p:spPr>
          <a:xfrm>
            <a:off x="4526280" y="5065776"/>
            <a:ext cx="0" cy="420624"/>
          </a:xfrm>
          <a:prstGeom prst="line">
            <a:avLst/>
          </a:prstGeom>
          <a:noFill/>
          <a:ln w="12700">
            <a:solidFill>
              <a:srgbClr val="D9D9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3">
            <a:extLst>
              <a:ext uri="{FF2B5EF4-FFF2-40B4-BE49-F238E27FC236}">
                <a16:creationId xmlns:a16="http://schemas.microsoft.com/office/drawing/2014/main" id="{C0CBE160-F704-267C-149B-2C468447BEFE}"/>
              </a:ext>
            </a:extLst>
          </p:cNvPr>
          <p:cNvSpPr/>
          <p:nvPr/>
        </p:nvSpPr>
        <p:spPr>
          <a:xfrm>
            <a:off x="7726680" y="5065776"/>
            <a:ext cx="0" cy="420624"/>
          </a:xfrm>
          <a:prstGeom prst="line">
            <a:avLst/>
          </a:prstGeom>
          <a:noFill/>
          <a:ln w="12700">
            <a:solidFill>
              <a:srgbClr val="D9D9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4">
            <a:extLst>
              <a:ext uri="{FF2B5EF4-FFF2-40B4-BE49-F238E27FC236}">
                <a16:creationId xmlns:a16="http://schemas.microsoft.com/office/drawing/2014/main" id="{328B87E5-D3AA-2D83-CB62-D802257E66E0}"/>
              </a:ext>
            </a:extLst>
          </p:cNvPr>
          <p:cNvSpPr/>
          <p:nvPr/>
        </p:nvSpPr>
        <p:spPr>
          <a:xfrm>
            <a:off x="777240" y="49560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B6FEF"/>
                </a:solidFill>
                <a:latin typeface="+mj-ea"/>
                <a:ea typeface="+mj-ea"/>
              </a:rPr>
              <a:t>State   </a:t>
            </a:r>
            <a:r>
              <a:rPr lang="en-US" sz="1250" dirty="0">
                <a:solidFill>
                  <a:srgbClr val="33333D"/>
                </a:solidFill>
                <a:latin typeface="+mj-ea"/>
                <a:ea typeface="+mj-ea"/>
              </a:rPr>
              <a:t>질문 + keep한 단락 + 후보 상태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49" name="Text 35">
            <a:extLst>
              <a:ext uri="{FF2B5EF4-FFF2-40B4-BE49-F238E27FC236}">
                <a16:creationId xmlns:a16="http://schemas.microsoft.com/office/drawing/2014/main" id="{BF0C282A-57C9-D285-9BD8-555E0BB34655}"/>
              </a:ext>
            </a:extLst>
          </p:cNvPr>
          <p:cNvSpPr/>
          <p:nvPr/>
        </p:nvSpPr>
        <p:spPr>
          <a:xfrm>
            <a:off x="4709160" y="49560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8860B"/>
                </a:solidFill>
                <a:latin typeface="+mj-ea"/>
                <a:ea typeface="+mj-ea"/>
              </a:rPr>
              <a:t>Action   </a:t>
            </a:r>
            <a:r>
              <a:rPr lang="en-US" sz="1250" dirty="0">
                <a:solidFill>
                  <a:srgbClr val="33333D"/>
                </a:solidFill>
                <a:latin typeface="+mj-ea"/>
                <a:ea typeface="+mj-ea"/>
              </a:rPr>
              <a:t>keep / drop / stop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0" name="Text 36">
            <a:extLst>
              <a:ext uri="{FF2B5EF4-FFF2-40B4-BE49-F238E27FC236}">
                <a16:creationId xmlns:a16="http://schemas.microsoft.com/office/drawing/2014/main" id="{6F8CE374-8AB5-B0E7-86C4-754C77013CD3}"/>
              </a:ext>
            </a:extLst>
          </p:cNvPr>
          <p:cNvSpPr/>
          <p:nvPr/>
        </p:nvSpPr>
        <p:spPr>
          <a:xfrm>
            <a:off x="7909560" y="49560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D"/>
                </a:solidFill>
                <a:latin typeface="+mj-ea"/>
                <a:ea typeface="+mj-ea"/>
              </a:rPr>
              <a:t>Reward   </a:t>
            </a:r>
            <a:r>
              <a:rPr lang="en-US" sz="1250" dirty="0">
                <a:solidFill>
                  <a:srgbClr val="33333D"/>
                </a:solidFill>
                <a:latin typeface="+mj-ea"/>
                <a:ea typeface="+mj-ea"/>
              </a:rPr>
              <a:t>supporting fact 보상 + answer F1 final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1" name="Shape 37">
            <a:extLst>
              <a:ext uri="{FF2B5EF4-FFF2-40B4-BE49-F238E27FC236}">
                <a16:creationId xmlns:a16="http://schemas.microsoft.com/office/drawing/2014/main" id="{7E2CE2B5-CD55-9C39-A8BC-AAFA9E3C4D39}"/>
              </a:ext>
            </a:extLst>
          </p:cNvPr>
          <p:cNvSpPr/>
          <p:nvPr/>
        </p:nvSpPr>
        <p:spPr>
          <a:xfrm>
            <a:off x="566928" y="5742432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ECE9FC"/>
          </a:solidFill>
          <a:ln w="15875">
            <a:solidFill>
              <a:srgbClr val="7B6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38">
            <a:extLst>
              <a:ext uri="{FF2B5EF4-FFF2-40B4-BE49-F238E27FC236}">
                <a16:creationId xmlns:a16="http://schemas.microsoft.com/office/drawing/2014/main" id="{FD4F11E3-2BC6-B17E-D8FB-73EBDFCF42BA}"/>
              </a:ext>
            </a:extLst>
          </p:cNvPr>
          <p:cNvSpPr/>
          <p:nvPr/>
        </p:nvSpPr>
        <p:spPr>
          <a:xfrm>
            <a:off x="566928" y="5742432"/>
            <a:ext cx="91440" cy="749808"/>
          </a:xfrm>
          <a:prstGeom prst="rect">
            <a:avLst/>
          </a:prstGeom>
          <a:solidFill>
            <a:srgbClr val="7B6F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39">
            <a:extLst>
              <a:ext uri="{FF2B5EF4-FFF2-40B4-BE49-F238E27FC236}">
                <a16:creationId xmlns:a16="http://schemas.microsoft.com/office/drawing/2014/main" id="{C0CF8831-D273-9C13-9CE5-1C7684932C95}"/>
              </a:ext>
            </a:extLst>
          </p:cNvPr>
          <p:cNvSpPr/>
          <p:nvPr/>
        </p:nvSpPr>
        <p:spPr>
          <a:xfrm>
            <a:off x="868680" y="574243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7B6FEF"/>
                </a:solidFill>
                <a:latin typeface="+mj-ea"/>
                <a:ea typeface="+mj-ea"/>
              </a:rPr>
              <a:t>핵심  </a:t>
            </a:r>
            <a:r>
              <a:rPr lang="en-US" sz="1450" dirty="0">
                <a:solidFill>
                  <a:srgbClr val="33333D"/>
                </a:solidFill>
                <a:latin typeface="+mj-ea"/>
                <a:ea typeface="+mj-ea"/>
              </a:rPr>
              <a:t>Multi-hop RAG의 passage selection은 단순 검색이 아니라 좋은 evidence를 순차적으로 모으는 </a:t>
            </a:r>
            <a:r>
              <a:rPr lang="en-US" sz="1450" b="1" dirty="0">
                <a:solidFill>
                  <a:srgbClr val="33333D"/>
                </a:solidFill>
                <a:latin typeface="+mj-ea"/>
                <a:ea typeface="+mj-ea"/>
              </a:rPr>
              <a:t>의사결정 문제</a:t>
            </a:r>
            <a:r>
              <a:rPr lang="en-US" sz="1450" dirty="0">
                <a:solidFill>
                  <a:srgbClr val="33333D"/>
                </a:solidFill>
                <a:latin typeface="+mj-ea"/>
                <a:ea typeface="+mj-ea"/>
              </a:rPr>
              <a:t> — 그래서 State / Action / Reward 로 정식화할 수 있다.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54" name="Text 2">
            <a:extLst>
              <a:ext uri="{FF2B5EF4-FFF2-40B4-BE49-F238E27FC236}">
                <a16:creationId xmlns:a16="http://schemas.microsoft.com/office/drawing/2014/main" id="{B343199B-CE39-B46F-A4A0-28EF37456B6C}"/>
              </a:ext>
            </a:extLst>
          </p:cNvPr>
          <p:cNvSpPr/>
          <p:nvPr/>
        </p:nvSpPr>
        <p:spPr>
          <a:xfrm>
            <a:off x="608076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PART 1 · 동기와 기여</a:t>
            </a:r>
            <a:endParaRPr lang="en-US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95292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PART 1 · 동기와 기여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연구 </a:t>
            </a:r>
            <a:r>
              <a:rPr lang="en-US" sz="2900" b="1" dirty="0" err="1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동기와</a:t>
            </a:r>
            <a:r>
              <a:rPr 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 기여</a:t>
            </a:r>
            <a:endParaRPr lang="en-US" sz="2900" dirty="0">
              <a:latin typeface="+mj-ea"/>
              <a:ea typeface="+mj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19" y="1673351"/>
            <a:ext cx="10820095" cy="169728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673351"/>
            <a:ext cx="95250" cy="1697281"/>
          </a:xfrm>
          <a:prstGeom prst="rect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560" y="1942031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 err="1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동기</a:t>
            </a:r>
            <a:r>
              <a:rPr lang="en-US" sz="160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(</a:t>
            </a:r>
            <a:r>
              <a:rPr lang="ko-KR" altLang="en-US" sz="160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문제 배경</a:t>
            </a:r>
            <a:r>
              <a:rPr lang="en-US" altLang="ko-KR" sz="160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)</a:t>
            </a:r>
            <a:r>
              <a:rPr lang="en-US" sz="160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RAG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는 일반적으로 질문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–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단락 유사도 기반의 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top-k 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검색으로 단락을 선택한다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그러나 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multi-hop 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질문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(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예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: "X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를 작곡한 사람이 태어난 도시는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?")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에서는 정답에 필요한 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2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차 단락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(bridge)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이 원 질문과 직접 유사하지 않아 검색에서 누락될 수 있다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본 연구는 이러한 </a:t>
            </a:r>
            <a:r>
              <a:rPr lang="ko-KR" altLang="en-US" sz="1400" b="1" u="sng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단락 선택 과정을 순차적 의사결정 문제</a:t>
            </a:r>
            <a:r>
              <a:rPr lang="en-US" altLang="ko-KR" sz="1400" b="1" u="sng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(MDP)</a:t>
            </a:r>
            <a:r>
              <a:rPr lang="ko-KR" altLang="en-US" sz="1400" b="1" u="sng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로 정식화하고</a:t>
            </a:r>
            <a:r>
              <a:rPr lang="en-US" altLang="ko-KR" sz="1400" b="1" u="sng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, </a:t>
            </a:r>
            <a:r>
              <a:rPr lang="ko-KR" altLang="en-US" sz="1400" b="1" u="sng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강화학습으로 최적화할 수 있는지 검증한다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3487367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기여 (Contributions)</a:t>
            </a:r>
            <a:endParaRPr lang="en-US" sz="1700" dirty="0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85800" y="3935423"/>
            <a:ext cx="475488" cy="475488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3935423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1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71600" y="3917135"/>
            <a:ext cx="10042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MDP 정식화 + step-wise reward 설계
</a:t>
            </a:r>
            <a:r>
              <a:rPr lang="en-US" sz="1250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supporting_facts에서 자동 생성되는 중간 보상 설계 (REINFORCE+baseline, CartPole 3-seed sanity 통과)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85800" y="4849823"/>
            <a:ext cx="475488" cy="475488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" y="4849823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2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71600" y="4831535"/>
            <a:ext cx="10042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체계적 진단 분석
</a:t>
            </a:r>
            <a:r>
              <a:rPr lang="en-US" sz="1250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reward hacking 정량 포착 · 입력 표현↔일반화 규명 · 단일 seed 착시의 3-seed 반증 · REINFORCE 불안정성 대응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5800" y="5764223"/>
            <a:ext cx="475488" cy="475488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5800" y="5764223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3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71600" y="5745935"/>
            <a:ext cx="10042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정직한 한계 규명
</a:t>
            </a:r>
            <a:r>
              <a:rPr lang="en-US" sz="1250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selection-only RL은 in-</a:t>
            </a:r>
            <a:r>
              <a:rPr lang="en-US" sz="1250" dirty="0" err="1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domain에서</a:t>
            </a:r>
            <a:r>
              <a:rPr lang="en-US" sz="1250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 cosine </a:t>
            </a:r>
            <a:r>
              <a:rPr lang="ko-KR" altLang="en-US" sz="1250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휴리스틱</a:t>
            </a:r>
            <a:r>
              <a:rPr lang="en-US" sz="1250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과 동급, transfer에서 열세 — 원인을 bridge 분석·Search-R1 대비로 설명</a:t>
            </a:r>
            <a:endParaRPr lang="en-US" sz="15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PART 1 · 문제 정의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문제 설정 </a:t>
            </a:r>
            <a:r>
              <a:rPr 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— State / Action / Reward</a:t>
            </a:r>
            <a:endParaRPr lang="en-US" sz="29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1 에피소드 = HotpotQA 1 샘플.  후보 단락 N개 (distractor 10 / 스포츠 8) 중 keep/drop을 순차 결정.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2103120"/>
            <a:ext cx="342381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2103120"/>
            <a:ext cx="3423818" cy="530352"/>
          </a:xfrm>
          <a:prstGeom prst="rect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34238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STATE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86968" y="2697480"/>
            <a:ext cx="30214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질문 + 현재까지 keep한 단락 집합 + 후보별 상태 + step t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83938" y="2103120"/>
            <a:ext cx="342381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83938" y="2103120"/>
            <a:ext cx="3423818" cy="530352"/>
          </a:xfrm>
          <a:prstGeom prst="rect">
            <a:avLst/>
          </a:prstGeom>
          <a:solidFill>
            <a:srgbClr val="D2CEFA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3938" y="2103120"/>
            <a:ext cx="34238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+mj-ea"/>
                <a:ea typeface="+mj-ea"/>
                <a:cs typeface="Arial" pitchFamily="34" charset="-120"/>
              </a:rPr>
              <a:t>ACTION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85106" y="2697480"/>
            <a:ext cx="30214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{ keep pᵢ,  drop pᵢ,  stop &amp; answer }</a:t>
            </a:r>
            <a:endParaRPr lang="en-US" sz="1350" dirty="0">
              <a:latin typeface="+mj-ea"/>
              <a:ea typeface="+mj-ea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고정 크기 2N+1, 처리한 단락은 마스킹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82077" y="2103120"/>
            <a:ext cx="342381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82077" y="2103120"/>
            <a:ext cx="3423818" cy="530352"/>
          </a:xfrm>
          <a:prstGeom prst="rect">
            <a:avLst/>
          </a:prstGeom>
          <a:solidFill>
            <a:srgbClr val="3333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082077" y="2103120"/>
            <a:ext cx="34238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REWARD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83245" y="2697480"/>
            <a:ext cx="30214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즉시 step reward (supporting_facts 기반)</a:t>
            </a:r>
            <a:endParaRPr lang="en-US" sz="1350" dirty="0">
              <a:latin typeface="+mj-ea"/>
              <a:ea typeface="+mj-ea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+ 종료 시 answer F1 기반 final reward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85800" y="4114800"/>
            <a:ext cx="1082009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05840" y="4114800"/>
            <a:ext cx="10180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Transition  </a:t>
            </a:r>
            <a:r>
              <a:rPr 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keep/drop은 해당 단락을 처리됨 표시, stop은 종료.    </a:t>
            </a:r>
            <a:r>
              <a:rPr lang="en-US" sz="140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Horizon  </a:t>
            </a:r>
            <a:r>
              <a:rPr 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최대 T=10 step. 종료 시 keep된 단락을 LLM에 넘겨 답 생성.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5800" y="51663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정책은 keep/drop/stop을 선택하고, 보상은 즉시(선택 품질) + 지연(답 품질) 두 층위로 학습 신호를 </a:t>
            </a:r>
            <a:r>
              <a:rPr lang="en-US" sz="1300" i="1" dirty="0" err="1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준다</a:t>
            </a:r>
            <a:r>
              <a:rPr lang="en-US" sz="13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3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2">
            <a:extLst>
              <a:ext uri="{FF2B5EF4-FFF2-40B4-BE49-F238E27FC236}">
                <a16:creationId xmlns:a16="http://schemas.microsoft.com/office/drawing/2014/main" id="{68AB0A79-6779-01E7-29A9-B62A516FDDAD}"/>
              </a:ext>
            </a:extLst>
          </p:cNvPr>
          <p:cNvSpPr/>
          <p:nvPr/>
        </p:nvSpPr>
        <p:spPr>
          <a:xfrm>
            <a:off x="684873" y="414491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b="1" kern="0" spc="150" dirty="0">
                <a:solidFill>
                  <a:srgbClr val="7B6FEF"/>
                </a:solidFill>
                <a:latin typeface="+mj-ea"/>
                <a:ea typeface="+mj-ea"/>
              </a:rPr>
              <a:t>PART 1 · MDP 흐름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596663C4-1439-A90F-5E1E-BF4FE57949C6}"/>
              </a:ext>
            </a:extLst>
          </p:cNvPr>
          <p:cNvSpPr/>
          <p:nvPr/>
        </p:nvSpPr>
        <p:spPr>
          <a:xfrm>
            <a:off x="684873" y="780251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순차적 의사결정 루프  —  Agent · Environment</a:t>
            </a: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13CBC5C2-781E-D39E-0FFA-292B0BAEB9D0}"/>
              </a:ext>
            </a:extLst>
          </p:cNvPr>
          <p:cNvSpPr/>
          <p:nvPr/>
        </p:nvSpPr>
        <p:spPr>
          <a:xfrm>
            <a:off x="703161" y="161739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8A8A95"/>
                </a:solidFill>
                <a:latin typeface="+mj-ea"/>
                <a:ea typeface="+mj-ea"/>
              </a:rPr>
              <a:t>매 </a:t>
            </a:r>
            <a:r>
              <a:rPr lang="en-US" altLang="ko-KR" sz="1500" dirty="0">
                <a:solidFill>
                  <a:srgbClr val="8A8A95"/>
                </a:solidFill>
                <a:latin typeface="+mj-ea"/>
                <a:ea typeface="+mj-ea"/>
              </a:rPr>
              <a:t>step</a:t>
            </a:r>
            <a:r>
              <a:rPr lang="ko-KR" altLang="en-US" sz="1500" dirty="0">
                <a:solidFill>
                  <a:srgbClr val="8A8A95"/>
                </a:solidFill>
                <a:latin typeface="+mj-ea"/>
                <a:ea typeface="+mj-ea"/>
              </a:rPr>
              <a:t>마다 에이전트는 </a:t>
            </a:r>
            <a:r>
              <a:rPr lang="en-US" altLang="ko-KR" sz="1500" dirty="0">
                <a:solidFill>
                  <a:srgbClr val="8A8A95"/>
                </a:solidFill>
                <a:latin typeface="+mj-ea"/>
                <a:ea typeface="+mj-ea"/>
              </a:rPr>
              <a:t>keep, drop, stop </a:t>
            </a:r>
            <a:r>
              <a:rPr lang="ko-KR" altLang="en-US" sz="1500" dirty="0">
                <a:solidFill>
                  <a:srgbClr val="8A8A95"/>
                </a:solidFill>
                <a:latin typeface="+mj-ea"/>
                <a:ea typeface="+mj-ea"/>
              </a:rPr>
              <a:t>중 하나를 선택하고</a:t>
            </a:r>
            <a:r>
              <a:rPr lang="en-US" altLang="ko-KR" sz="1500" dirty="0">
                <a:solidFill>
                  <a:srgbClr val="8A8A95"/>
                </a:solidFill>
                <a:latin typeface="+mj-ea"/>
                <a:ea typeface="+mj-ea"/>
              </a:rPr>
              <a:t>, </a:t>
            </a:r>
            <a:r>
              <a:rPr lang="ko-KR" altLang="en-US" sz="1500" dirty="0">
                <a:solidFill>
                  <a:srgbClr val="8A8A95"/>
                </a:solidFill>
                <a:latin typeface="+mj-ea"/>
                <a:ea typeface="+mj-ea"/>
              </a:rPr>
              <a:t>환경은 이에 따라 다음 상태와 보상을 반환한다</a:t>
            </a:r>
            <a:r>
              <a:rPr lang="en-US" altLang="ko-KR" sz="1500" dirty="0">
                <a:solidFill>
                  <a:srgbClr val="8A8A95"/>
                </a:solidFill>
                <a:latin typeface="+mj-ea"/>
                <a:ea typeface="+mj-ea"/>
              </a:rPr>
              <a:t>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sz="1500" dirty="0">
                <a:solidFill>
                  <a:srgbClr val="8A8A95"/>
                </a:solidFill>
                <a:latin typeface="+mj-ea"/>
                <a:ea typeface="+mj-ea"/>
              </a:rPr>
              <a:t>Stop</a:t>
            </a:r>
            <a:r>
              <a:rPr lang="ko-KR" altLang="en-US" sz="1500" dirty="0">
                <a:solidFill>
                  <a:srgbClr val="8A8A95"/>
                </a:solidFill>
                <a:latin typeface="+mj-ea"/>
                <a:ea typeface="+mj-ea"/>
              </a:rPr>
              <a:t>을 선택하면 에피소드가 종료되며</a:t>
            </a:r>
            <a:r>
              <a:rPr lang="en-US" altLang="ko-KR" sz="1500" dirty="0">
                <a:solidFill>
                  <a:srgbClr val="8A8A95"/>
                </a:solidFill>
                <a:latin typeface="+mj-ea"/>
                <a:ea typeface="+mj-ea"/>
              </a:rPr>
              <a:t>(Horizon T ≤ 10), </a:t>
            </a:r>
            <a:r>
              <a:rPr lang="ko-KR" altLang="en-US" sz="1500" dirty="0">
                <a:solidFill>
                  <a:srgbClr val="8A8A95"/>
                </a:solidFill>
                <a:latin typeface="+mj-ea"/>
                <a:ea typeface="+mj-ea"/>
              </a:rPr>
              <a:t>최종적으로 </a:t>
            </a:r>
            <a:r>
              <a:rPr lang="en-US" altLang="ko-KR" sz="1500" dirty="0">
                <a:solidFill>
                  <a:srgbClr val="8A8A95"/>
                </a:solidFill>
                <a:latin typeface="+mj-ea"/>
                <a:ea typeface="+mj-ea"/>
              </a:rPr>
              <a:t>keep</a:t>
            </a:r>
            <a:r>
              <a:rPr lang="ko-KR" altLang="en-US" sz="1500" dirty="0">
                <a:solidFill>
                  <a:srgbClr val="8A8A95"/>
                </a:solidFill>
                <a:latin typeface="+mj-ea"/>
                <a:ea typeface="+mj-ea"/>
              </a:rPr>
              <a:t>된 단락만 </a:t>
            </a:r>
            <a:r>
              <a:rPr lang="en-US" altLang="ko-KR" sz="1500" dirty="0">
                <a:solidFill>
                  <a:srgbClr val="8A8A95"/>
                </a:solidFill>
                <a:latin typeface="+mj-ea"/>
                <a:ea typeface="+mj-ea"/>
              </a:rPr>
              <a:t>LLM</a:t>
            </a:r>
            <a:r>
              <a:rPr lang="ko-KR" altLang="en-US" sz="1500" dirty="0">
                <a:solidFill>
                  <a:srgbClr val="8A8A95"/>
                </a:solidFill>
                <a:latin typeface="+mj-ea"/>
                <a:ea typeface="+mj-ea"/>
              </a:rPr>
              <a:t>에 전달되어 답변을 생성한다</a:t>
            </a:r>
            <a:r>
              <a:rPr lang="en-US" altLang="ko-KR" sz="1500" dirty="0">
                <a:solidFill>
                  <a:srgbClr val="8A8A95"/>
                </a:solidFill>
                <a:latin typeface="+mj-ea"/>
                <a:ea typeface="+mj-ea"/>
              </a:rPr>
              <a:t>.</a:t>
            </a:r>
            <a:endParaRPr lang="en-US" sz="1500" dirty="0">
              <a:latin typeface="+mj-ea"/>
              <a:ea typeface="+mj-ea"/>
            </a:endParaRPr>
          </a:p>
        </p:txBody>
      </p:sp>
      <p:pic>
        <p:nvPicPr>
          <p:cNvPr id="20" name="Image 0">
            <a:extLst>
              <a:ext uri="{FF2B5EF4-FFF2-40B4-BE49-F238E27FC236}">
                <a16:creationId xmlns:a16="http://schemas.microsoft.com/office/drawing/2014/main" id="{3ED54184-31D1-81CD-1CAD-069D3E605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13" y="2298155"/>
            <a:ext cx="10939138" cy="3230954"/>
          </a:xfrm>
          <a:prstGeom prst="rect">
            <a:avLst/>
          </a:prstGeom>
        </p:spPr>
      </p:pic>
      <p:sp>
        <p:nvSpPr>
          <p:cNvPr id="21" name="Shape 5">
            <a:extLst>
              <a:ext uri="{FF2B5EF4-FFF2-40B4-BE49-F238E27FC236}">
                <a16:creationId xmlns:a16="http://schemas.microsoft.com/office/drawing/2014/main" id="{2511D11A-01BB-9281-445D-9BD9B41A543B}"/>
              </a:ext>
            </a:extLst>
          </p:cNvPr>
          <p:cNvSpPr/>
          <p:nvPr/>
        </p:nvSpPr>
        <p:spPr>
          <a:xfrm>
            <a:off x="684873" y="5730277"/>
            <a:ext cx="1077163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2E8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D48C51AC-9FAA-51BB-1F2B-C508A0D5F385}"/>
              </a:ext>
            </a:extLst>
          </p:cNvPr>
          <p:cNvSpPr/>
          <p:nvPr/>
        </p:nvSpPr>
        <p:spPr>
          <a:xfrm>
            <a:off x="1041918" y="5730277"/>
            <a:ext cx="101081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7B6FEF"/>
                </a:solidFill>
                <a:latin typeface="+mj-ea"/>
                <a:ea typeface="+mj-ea"/>
              </a:rPr>
              <a:t>핵심  </a:t>
            </a:r>
            <a:r>
              <a:rPr lang="en-US" sz="1450" dirty="0">
                <a:solidFill>
                  <a:srgbClr val="33333D"/>
                </a:solidFill>
                <a:latin typeface="+mj-ea"/>
                <a:ea typeface="+mj-ea"/>
              </a:rPr>
              <a:t>보상은 </a:t>
            </a:r>
            <a:r>
              <a:rPr lang="en-US" sz="1450" b="1" dirty="0">
                <a:solidFill>
                  <a:srgbClr val="33333D"/>
                </a:solidFill>
                <a:latin typeface="+mj-ea"/>
                <a:ea typeface="+mj-ea"/>
              </a:rPr>
              <a:t>즉시 step reward(선택 품질)</a:t>
            </a:r>
            <a:r>
              <a:rPr lang="en-US" sz="1450" dirty="0">
                <a:solidFill>
                  <a:srgbClr val="33333D"/>
                </a:solidFill>
                <a:latin typeface="+mj-ea"/>
                <a:ea typeface="+mj-ea"/>
              </a:rPr>
              <a:t>와 </a:t>
            </a:r>
            <a:r>
              <a:rPr lang="en-US" sz="1450" b="1" dirty="0">
                <a:solidFill>
                  <a:srgbClr val="33333D"/>
                </a:solidFill>
                <a:latin typeface="+mj-ea"/>
                <a:ea typeface="+mj-ea"/>
              </a:rPr>
              <a:t>종료 시 final reward(답 품질)</a:t>
            </a:r>
            <a:r>
              <a:rPr lang="en-US" sz="1450" dirty="0">
                <a:solidFill>
                  <a:srgbClr val="33333D"/>
                </a:solidFill>
                <a:latin typeface="+mj-ea"/>
                <a:ea typeface="+mj-ea"/>
              </a:rPr>
              <a:t> 두 층위로 주어진다 — 다음 장에서 이 두 </a:t>
            </a:r>
            <a:r>
              <a:rPr lang="en-US" sz="1450" dirty="0" err="1">
                <a:solidFill>
                  <a:srgbClr val="33333D"/>
                </a:solidFill>
                <a:latin typeface="+mj-ea"/>
                <a:ea typeface="+mj-ea"/>
              </a:rPr>
              <a:t>신호를</a:t>
            </a:r>
            <a:r>
              <a:rPr lang="en-US" sz="1450" dirty="0">
                <a:solidFill>
                  <a:srgbClr val="33333D"/>
                </a:solidFill>
                <a:latin typeface="+mj-ea"/>
                <a:ea typeface="+mj-ea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450" dirty="0" err="1">
                <a:solidFill>
                  <a:srgbClr val="33333D"/>
                </a:solidFill>
                <a:latin typeface="+mj-ea"/>
                <a:ea typeface="+mj-ea"/>
              </a:rPr>
              <a:t>비대칭</a:t>
            </a:r>
            <a:r>
              <a:rPr lang="en-US" sz="1450" dirty="0">
                <a:solidFill>
                  <a:srgbClr val="33333D"/>
                </a:solidFill>
                <a:latin typeface="+mj-ea"/>
                <a:ea typeface="+mj-ea"/>
              </a:rPr>
              <a:t> step + 연속 F1 final로 설계한다.</a:t>
            </a:r>
            <a:endParaRPr lang="en-US" sz="14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9667AB-60E8-D813-0FA3-1FEFD0EF4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B8E1DF0F-2549-04B7-5084-6FDB4CAF298B}"/>
              </a:ext>
            </a:extLst>
          </p:cNvPr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PART 1 · Reward 설계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6D77484-DB38-59D5-1CF0-32D4E0E603E0}"/>
              </a:ext>
            </a:extLst>
          </p:cNvPr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비대칭 step reward + 연속 F1 final</a:t>
            </a:r>
            <a:endParaRPr lang="en-US" sz="2900" dirty="0">
              <a:latin typeface="+mj-ea"/>
              <a:ea typeface="+mj-ea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E8A7F69-1DCD-3708-A63B-E972B9CA0D2D}"/>
              </a:ext>
            </a:extLst>
          </p:cNvPr>
          <p:cNvSpPr/>
          <p:nvPr/>
        </p:nvSpPr>
        <p:spPr>
          <a:xfrm>
            <a:off x="68580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Step reward (즉시)</a:t>
            </a:r>
            <a:endParaRPr lang="en-US" sz="1500" dirty="0">
              <a:latin typeface="+mj-ea"/>
              <a:ea typeface="+mj-ea"/>
            </a:endParaRP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E6C92B29-8CBB-293F-30E8-34948E23C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903211"/>
              </p:ext>
            </p:extLst>
          </p:nvPr>
        </p:nvGraphicFramePr>
        <p:xfrm>
          <a:off x="685800" y="2084832"/>
          <a:ext cx="5120640" cy="2304288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이벤트</a:t>
                      </a:r>
                      <a:endParaRPr lang="en-US" sz="13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보상</a:t>
                      </a:r>
                      <a:endParaRPr lang="en-US" sz="13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정답 단락 keep</a:t>
                      </a:r>
                      <a:endParaRPr lang="en-US" sz="13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F9E73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+0.20</a:t>
                      </a:r>
                      <a:endParaRPr lang="en-US" sz="13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정답 단락 drop  (최대 페널티)</a:t>
                      </a:r>
                      <a:endParaRPr lang="en-US" sz="13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C0392B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−0.30</a:t>
                      </a:r>
                      <a:endParaRPr lang="en-US" sz="13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노이즈 keep</a:t>
                      </a:r>
                      <a:endParaRPr lang="en-US" sz="13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C0392B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−0.10</a:t>
                      </a:r>
                      <a:endParaRPr lang="en-US" sz="13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노이즈 drop</a:t>
                      </a:r>
                      <a:endParaRPr lang="en-US" sz="13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F9E73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+0.05</a:t>
                      </a:r>
                      <a:endParaRPr lang="en-US" sz="13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stop</a:t>
                      </a:r>
                      <a:endParaRPr lang="en-US" sz="13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6E6E79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>
            <a:extLst>
              <a:ext uri="{FF2B5EF4-FFF2-40B4-BE49-F238E27FC236}">
                <a16:creationId xmlns:a16="http://schemas.microsoft.com/office/drawing/2014/main" id="{CD4AFCA0-0C73-F95D-3AB9-06775899C2F0}"/>
              </a:ext>
            </a:extLst>
          </p:cNvPr>
          <p:cNvSpPr/>
          <p:nvPr/>
        </p:nvSpPr>
        <p:spPr>
          <a:xfrm>
            <a:off x="6126480" y="2084832"/>
            <a:ext cx="5379415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63C15D3-45B2-2E90-FE8C-5593973B18A7}"/>
              </a:ext>
            </a:extLst>
          </p:cNvPr>
          <p:cNvSpPr/>
          <p:nvPr/>
        </p:nvSpPr>
        <p:spPr>
          <a:xfrm>
            <a:off x="6126480" y="2084832"/>
            <a:ext cx="5379415" cy="128016"/>
          </a:xfrm>
          <a:prstGeom prst="rect">
            <a:avLst/>
          </a:prstGeom>
          <a:solidFill>
            <a:srgbClr val="F4C5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F2A0EFE-9D43-1DF3-B3BE-D244436A72A5}"/>
              </a:ext>
            </a:extLst>
          </p:cNvPr>
          <p:cNvSpPr/>
          <p:nvPr/>
        </p:nvSpPr>
        <p:spPr>
          <a:xfrm>
            <a:off x="635508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Final reward (연속, cliff 없음)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9ACBA82-5CFD-0C3A-671E-E381B510DFED}"/>
              </a:ext>
            </a:extLst>
          </p:cNvPr>
          <p:cNvSpPr/>
          <p:nvPr/>
        </p:nvSpPr>
        <p:spPr>
          <a:xfrm>
            <a:off x="6355080" y="26700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4FD4"/>
                </a:solidFill>
                <a:latin typeface="+mj-ea"/>
                <a:ea typeface="+mj-ea"/>
                <a:cs typeface="Consolas" pitchFamily="34" charset="-120"/>
              </a:rPr>
              <a:t>R_final  =  2.0 · F1(answer)  −  0.1 · t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D36B57F-6C8E-F1F9-41D6-23BDA68ECFA0}"/>
              </a:ext>
            </a:extLst>
          </p:cNvPr>
          <p:cNvSpPr/>
          <p:nvPr/>
        </p:nvSpPr>
        <p:spPr>
          <a:xfrm>
            <a:off x="6355080" y="30723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27"/>
                </a:solidFill>
                <a:latin typeface="+mj-ea"/>
                <a:ea typeface="+mj-ea"/>
                <a:cs typeface="Consolas" pitchFamily="34" charset="-120"/>
              </a:rPr>
              <a:t>Return  G₀ = Σ γᵏ rₖ + γᵀ R_final ,  γ = 0.99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2E62654-39C3-7052-B233-CCCA1D21DCB7}"/>
              </a:ext>
            </a:extLst>
          </p:cNvPr>
          <p:cNvSpPr/>
          <p:nvPr/>
        </p:nvSpPr>
        <p:spPr>
          <a:xfrm>
            <a:off x="6126480" y="3657600"/>
            <a:ext cx="5379415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0085F21-A86C-FE65-19D7-3EE928AB4CB3}"/>
              </a:ext>
            </a:extLst>
          </p:cNvPr>
          <p:cNvSpPr/>
          <p:nvPr/>
        </p:nvSpPr>
        <p:spPr>
          <a:xfrm>
            <a:off x="6126480" y="3657600"/>
            <a:ext cx="5379415" cy="128016"/>
          </a:xfrm>
          <a:prstGeom prst="rect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8C448E5-8E8B-F7BF-49A0-4128438C4D78}"/>
              </a:ext>
            </a:extLst>
          </p:cNvPr>
          <p:cNvSpPr/>
          <p:nvPr/>
        </p:nvSpPr>
        <p:spPr>
          <a:xfrm>
            <a:off x="6355080" y="3822192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설계 의도
</a:t>
            </a:r>
            <a:r>
              <a:rPr 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비대칭(정답 drop을 가장 무겁게) → recall 보존.</a:t>
            </a:r>
            <a:endParaRPr lang="en-US" sz="1400" dirty="0">
              <a:latin typeface="+mj-ea"/>
              <a:ea typeface="+mj-ea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연속 final reward → 정답 품질을 매끄럽게 유도.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5283EFD-17AC-27DD-6A27-8374D2476BA5}"/>
              </a:ext>
            </a:extLst>
          </p:cNvPr>
          <p:cNvSpPr/>
          <p:nvPr/>
        </p:nvSpPr>
        <p:spPr>
          <a:xfrm>
            <a:off x="685800" y="5138928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step reward는 "좋은 선택"을 즉시, final reward는 "좋은 답"을 지연 보상 — 두 신호를 결합한다.</a:t>
            </a:r>
            <a:endParaRPr lang="en-US" sz="13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12522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PART 1 · 환경·데이터셋 (공통)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데이터셋 — 학습 / In-domain / Transfer</a:t>
            </a:r>
            <a:endParaRPr lang="en-US" sz="2900" dirty="0">
              <a:latin typeface="+mj-ea"/>
              <a:ea typeface="+mj-ea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977420"/>
              </p:ext>
            </p:extLst>
          </p:nvPr>
        </p:nvGraphicFramePr>
        <p:xfrm>
          <a:off x="685800" y="1691640"/>
          <a:ext cx="10817352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용도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데이터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규모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학습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HotpotQA distractor (train)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2,000 샘플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In-domain 평가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HotpotQA distractor (validation)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n = 200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5C4FD4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Transfer 평가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스포츠 룰북 QA (자체 구축)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n = 350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685800" y="374904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85800" y="3749040"/>
            <a:ext cx="5303520" cy="128016"/>
          </a:xfrm>
          <a:prstGeom prst="rect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9" name="Text 6"/>
          <p:cNvSpPr/>
          <p:nvPr/>
        </p:nvSpPr>
        <p:spPr>
          <a:xfrm>
            <a:off x="914400" y="395020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Preprocessing
</a:t>
            </a:r>
            <a:r>
              <a:rPr lang="en-US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• supporting_facts 라벨 → step reward 자동 ground truth </a:t>
            </a:r>
            <a:br>
              <a:rPr lang="en-US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</a:br>
            <a:r>
              <a:rPr lang="en-US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(추가 라벨링 불필요)
• 스포츠 룰북(공식 룰)을 HotpotQA 포맷으로 라벨링
• 인코딩: MiniLM-L6-v2 384d (freeze)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63640" y="3749040"/>
            <a:ext cx="5242255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263640" y="3749040"/>
            <a:ext cx="5242255" cy="128016"/>
          </a:xfrm>
          <a:prstGeom prst="rect">
            <a:avLst/>
          </a:prstGeom>
          <a:solidFill>
            <a:srgbClr val="F4C5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92240" y="395020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B68A00"/>
                </a:solidFill>
                <a:latin typeface="+mj-ea"/>
                <a:ea typeface="+mj-ea"/>
                <a:cs typeface="Calibri" pitchFamily="34" charset="-120"/>
              </a:rPr>
              <a:t>스포츠 룰북 350문항 (자체 구축)
</a:t>
            </a:r>
            <a:r>
              <a:rPr lang="en-US" sz="1200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bridge 305 / comparison 45 · 전부 hard
</a:t>
            </a:r>
            <a:r>
              <a:rPr lang="en-US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배구41 · 탁구50 · 배드민턴50 · 미식축구50
축구40 · 농구40 · 야구40 · 하키39
</a:t>
            </a:r>
            <a:r>
              <a:rPr lang="en-US" sz="12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학습에 쓰지 않은 다른 분포 → H3(전이) 측정용</a:t>
            </a:r>
            <a:endParaRPr lang="en-US" sz="15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PART 1 · 알고리즘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REINFORCE + Learned Baseline</a:t>
            </a:r>
            <a:endParaRPr lang="en-US" sz="2900" dirty="0">
              <a:latin typeface="+mj-ea"/>
              <a:ea typeface="+mj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6126480" cy="2286000"/>
          </a:xfrm>
          <a:prstGeom prst="rect">
            <a:avLst/>
          </a:prstGeom>
          <a:solidFill>
            <a:srgbClr val="3333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C53D"/>
                </a:solidFill>
                <a:latin typeface="+mj-ea"/>
                <a:ea typeface="+mj-ea"/>
                <a:cs typeface="Arial" pitchFamily="34" charset="-120"/>
              </a:rPr>
              <a:t>핵심 업데이트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0120" y="228600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+mj-ea"/>
                <a:ea typeface="+mj-ea"/>
                <a:cs typeface="Consolas" pitchFamily="34" charset="-120"/>
              </a:rPr>
              <a:t>Aₜ = Gₜ − V_φ(sₜ)            (advantage)
</a:t>
            </a:r>
            <a:endParaRPr lang="en-US" sz="1500" dirty="0">
              <a:latin typeface="+mj-ea"/>
              <a:ea typeface="+mj-ea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+mj-ea"/>
                <a:ea typeface="+mj-ea"/>
                <a:cs typeface="Consolas" pitchFamily="34" charset="-120"/>
              </a:rPr>
              <a:t>∇J = Σ ∇ log π_θ(aₜ|sₜ) · Aₜ
</a:t>
            </a:r>
            <a:endParaRPr lang="en-US" sz="1500" dirty="0">
              <a:latin typeface="+mj-ea"/>
              <a:ea typeface="+mj-ea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+mj-ea"/>
                <a:ea typeface="+mj-ea"/>
                <a:cs typeface="Consolas" pitchFamily="34" charset="-120"/>
              </a:rPr>
              <a:t>value loss = MSE( V_φ , Gₜ )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949440" y="1691640"/>
            <a:ext cx="45564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949440" y="1691640"/>
            <a:ext cx="91440" cy="713232"/>
          </a:xfrm>
          <a:prstGeom prst="rect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78040" y="1691640"/>
            <a:ext cx="4144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분산 감소  </a:t>
            </a:r>
            <a:r>
              <a:rPr lang="en-US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baseline · reward-to-go · advantage 정규화 · gradient clipping (max_norm = 1.0)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949440" y="2478024"/>
            <a:ext cx="45564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949440" y="2478024"/>
            <a:ext cx="91440" cy="713232"/>
          </a:xfrm>
          <a:prstGeom prst="rect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178040" y="2478024"/>
            <a:ext cx="4144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정책망  </a:t>
            </a:r>
            <a:r>
              <a:rPr lang="en-US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2-layer MLP (~200K params).  hidden = (256, 128)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949440" y="3264408"/>
            <a:ext cx="45564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949440" y="3264408"/>
            <a:ext cx="91440" cy="713232"/>
          </a:xfrm>
          <a:prstGeom prst="rect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78040" y="3264408"/>
            <a:ext cx="4144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LLM  </a:t>
            </a:r>
            <a:r>
              <a:rPr lang="en-US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Qwen2.5-0.5B-Instruct — freeze, 답 생성에만 사용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5800" y="4206240"/>
            <a:ext cx="1082009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85800" y="4206240"/>
            <a:ext cx="91440" cy="777240"/>
          </a:xfrm>
          <a:prstGeom prst="rect">
            <a:avLst/>
          </a:prstGeom>
          <a:solidFill>
            <a:srgbClr val="F4C5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05840" y="4206240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B68A00"/>
                </a:solidFill>
                <a:latin typeface="+mj-ea"/>
                <a:ea typeface="+mj-ea"/>
                <a:cs typeface="Calibri" pitchFamily="34" charset="-120"/>
              </a:rPr>
              <a:t>사전 검증.  </a:t>
            </a:r>
            <a:r>
              <a:rPr 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본 학습 전 CartPole-v1로 알고리즘 sanity check — 3 seed 모두 avg(100ep) ≥ 195 통과 (242 / 185 / 157 episode).</a:t>
            </a:r>
            <a:endParaRPr lang="en-US" sz="13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PART 1 · 핵심 설계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학습 안정화를 위한</a:t>
            </a:r>
            <a:r>
              <a:rPr 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 설계</a:t>
            </a:r>
            <a:endParaRPr lang="en-US" sz="2900" dirty="0">
              <a:latin typeface="+mj-ea"/>
              <a:ea typeface="+mj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518144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5181448" cy="640080"/>
          </a:xfrm>
          <a:prstGeom prst="rect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0120" y="1737360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BC warmup</a:t>
            </a:r>
            <a:endParaRPr lang="en-US" sz="1900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632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+mj-ea"/>
                <a:ea typeface="+mj-ea"/>
                <a:cs typeface="Calibri" pitchFamily="34" charset="-120"/>
              </a:rPr>
              <a:t>문제
</a:t>
            </a:r>
            <a:r>
              <a:rPr 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cold-start 시 정책이 "즉시 stop" 국소최적에 빠짐 (reward hacking)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120" y="3840480"/>
            <a:ext cx="46328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9E73"/>
                </a:solidFill>
                <a:latin typeface="+mj-ea"/>
                <a:ea typeface="+mj-ea"/>
                <a:cs typeface="Calibri" pitchFamily="34" charset="-120"/>
              </a:rPr>
              <a:t>해결
</a:t>
            </a:r>
            <a:r>
              <a:rPr lang="en-US" sz="14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supporting_facts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로 생성한 </a:t>
            </a:r>
            <a:r>
              <a:rPr 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expert 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정책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(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정답 </a:t>
            </a:r>
            <a:r>
              <a:rPr 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keep → 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노이즈 </a:t>
            </a:r>
            <a:r>
              <a:rPr 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drop → stop)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을 </a:t>
            </a:r>
            <a:r>
              <a:rPr 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cross-entropy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로 모방 학습한 뒤 </a:t>
            </a:r>
            <a:r>
              <a:rPr 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RL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을 시작함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24448" y="1737360"/>
            <a:ext cx="518144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24448" y="1737360"/>
            <a:ext cx="5181448" cy="640080"/>
          </a:xfrm>
          <a:prstGeom prst="rect">
            <a:avLst/>
          </a:prstGeom>
          <a:solidFill>
            <a:srgbClr val="D2CEFA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98768" y="1737360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A4A00"/>
                </a:solidFill>
                <a:latin typeface="+mj-ea"/>
                <a:ea typeface="+mj-ea"/>
                <a:cs typeface="Arial" pitchFamily="34" charset="-120"/>
              </a:rPr>
              <a:t>Lean state (32d)</a:t>
            </a:r>
            <a:endParaRPr lang="en-US" sz="1900" dirty="0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98768" y="2606040"/>
            <a:ext cx="4632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+mj-ea"/>
                <a:ea typeface="+mj-ea"/>
                <a:cs typeface="Calibri" pitchFamily="34" charset="-120"/>
              </a:rPr>
              <a:t>문제
</a:t>
            </a:r>
            <a:r>
              <a:rPr 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raw 임베딩(4639d) 입력은 train 과적합 → dev F1 0.19 (cosine 휴리스틱보다 낮음)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98768" y="3840480"/>
            <a:ext cx="46328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9E73"/>
                </a:solidFill>
                <a:latin typeface="+mj-ea"/>
                <a:ea typeface="+mj-ea"/>
                <a:cs typeface="Calibri" pitchFamily="34" charset="-120"/>
              </a:rPr>
              <a:t>해결
</a:t>
            </a:r>
            <a:r>
              <a:rPr 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일반화되는 per-candidate 신호로 축소 — q_sim · kept_sim · 처리여부 · step. dev 0.29 → 0.35로 일반화 회복.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두 설계는 모두 진단 단계에서 확인된 실패 원인을 직접 수정한 것으로</a:t>
            </a:r>
            <a:r>
              <a:rPr lang="en-US" altLang="ko-KR" sz="13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, </a:t>
            </a:r>
            <a:r>
              <a:rPr lang="ko-KR" altLang="en-US" sz="13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단순 </a:t>
            </a:r>
            <a:r>
              <a:rPr lang="ko-KR" altLang="en-US" sz="1300" i="1" dirty="0" err="1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하이퍼파라미터</a:t>
            </a:r>
            <a:r>
              <a:rPr lang="ko-KR" altLang="en-US" sz="13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 조정이 아닌 원인 기반 개선에 해당함</a:t>
            </a:r>
            <a:r>
              <a:rPr lang="en-US" altLang="ko-KR" sz="13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3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PART 1 · 실험 셋업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Hyperparameter &amp; 평가 지표</a:t>
            </a:r>
            <a:endParaRPr lang="en-US" sz="2900" dirty="0">
              <a:latin typeface="+mj-ea"/>
              <a:ea typeface="+mj-ea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480070"/>
              </p:ext>
            </p:extLst>
          </p:nvPr>
        </p:nvGraphicFramePr>
        <p:xfrm>
          <a:off x="685800" y="1737360"/>
          <a:ext cx="6766560" cy="2944368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항목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값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Optimizer / lr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Adam, lr = 1e-4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γ / hidden / grad_clip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0.99 / (256,128) / 1.0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weight_decay / batch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1e-4 / 8 episodes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BC warmup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1000 샘플 · bc_lr 1e-3 · 30 ep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episodes / ckpt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2,500 / dev-best 선택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Encoder / LLM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MiniLM-L6-v2 / Qwen2.5-0.5B (freeze)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1737360"/>
            <a:ext cx="3824935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680960" y="1737360"/>
            <a:ext cx="3824935" cy="128016"/>
          </a:xfrm>
          <a:prstGeom prst="rect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9" name="Text 6"/>
          <p:cNvSpPr/>
          <p:nvPr/>
        </p:nvSpPr>
        <p:spPr>
          <a:xfrm>
            <a:off x="7909560" y="1901952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평가 지표
</a:t>
            </a:r>
            <a:r>
              <a:rPr 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answer_F1 (핵심) · exact_match</a:t>
            </a:r>
            <a:endParaRPr lang="en-US" sz="14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support_F1 (선택 품질) · avg_n_kept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6" name="Shape 7"/>
          <p:cNvSpPr/>
          <p:nvPr/>
        </p:nvSpPr>
        <p:spPr>
          <a:xfrm>
            <a:off x="7680960" y="3474720"/>
            <a:ext cx="3824935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680960" y="3474720"/>
            <a:ext cx="3824935" cy="128016"/>
          </a:xfrm>
          <a:prstGeom prst="rect">
            <a:avLst/>
          </a:prstGeom>
          <a:solidFill>
            <a:srgbClr val="F4C5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909560" y="3639312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68A00"/>
                </a:solidFill>
                <a:latin typeface="+mj-ea"/>
                <a:ea typeface="+mj-ea"/>
                <a:cs typeface="Calibri" pitchFamily="34" charset="-120"/>
              </a:rPr>
              <a:t>신뢰도 확보
</a:t>
            </a:r>
            <a:r>
              <a:rPr 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3 seed (42 / 123 / 7) 학습</a:t>
            </a:r>
            <a:endParaRPr lang="en-US" sz="14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→ mean ± std 신뢰구간</a:t>
            </a:r>
            <a:endParaRPr lang="en-US" sz="14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step vs sparse ablation 비교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85800" y="52120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하드웨어: RTX 4060 Ti 8GB · 모든 방법을 동일 frozen Qwen2.5-0.5B 위에서 공정 비교.</a:t>
            </a:r>
            <a:endParaRPr lang="en-US" sz="13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22764E-2D80-CC42-0468-E3009DB34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7B33F217-3A40-DA97-80B6-299499962518}"/>
              </a:ext>
            </a:extLst>
          </p:cNvPr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PART 1 · </a:t>
            </a:r>
            <a:r>
              <a:rPr lang="ko-KR" alt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환경 세팅</a:t>
            </a:r>
            <a:r>
              <a:rPr lang="en-US" altLang="ko-KR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(</a:t>
            </a:r>
            <a:r>
              <a:rPr lang="ko-KR" alt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상세</a:t>
            </a:r>
            <a:r>
              <a:rPr lang="en-US" altLang="ko-KR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)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96EB464-3918-7998-B19A-5093F4D199BF}"/>
              </a:ext>
            </a:extLst>
          </p:cNvPr>
          <p:cNvSpPr/>
          <p:nvPr/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800" b="1" dirty="0">
                <a:latin typeface="+mj-ea"/>
                <a:ea typeface="+mj-ea"/>
              </a:rPr>
              <a:t>실험 설계 근거</a:t>
            </a:r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F0A8E5DA-B84F-F78C-5ABF-7E310AC7346B}"/>
              </a:ext>
            </a:extLst>
          </p:cNvPr>
          <p:cNvSpPr/>
          <p:nvPr/>
        </p:nvSpPr>
        <p:spPr>
          <a:xfrm>
            <a:off x="685800" y="1919850"/>
            <a:ext cx="475488" cy="475488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492CBCC3-49E2-09BE-FFE6-AFD452B82B60}"/>
              </a:ext>
            </a:extLst>
          </p:cNvPr>
          <p:cNvSpPr/>
          <p:nvPr/>
        </p:nvSpPr>
        <p:spPr>
          <a:xfrm>
            <a:off x="685800" y="191985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1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381A8115-5BCD-A479-4C5F-54E17A87107F}"/>
              </a:ext>
            </a:extLst>
          </p:cNvPr>
          <p:cNvSpPr/>
          <p:nvPr/>
        </p:nvSpPr>
        <p:spPr>
          <a:xfrm>
            <a:off x="1371599" y="1993002"/>
            <a:ext cx="10042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4000"/>
              </a:lnSpc>
            </a:pPr>
            <a:r>
              <a:rPr lang="en-US" altLang="ko-KR" sz="1600" b="1" dirty="0">
                <a:solidFill>
                  <a:srgbClr val="222222"/>
                </a:solidFill>
                <a:latin typeface="+mj-ea"/>
                <a:ea typeface="+mj-ea"/>
              </a:rPr>
              <a:t>LLM = Qwen2.5-0.5B-Instruct (freeze, </a:t>
            </a:r>
            <a:r>
              <a:rPr lang="ko-KR" altLang="en-US" sz="1600" b="1" dirty="0">
                <a:solidFill>
                  <a:srgbClr val="222222"/>
                </a:solidFill>
                <a:latin typeface="+mj-ea"/>
                <a:ea typeface="+mj-ea"/>
              </a:rPr>
              <a:t>학습 안 함</a:t>
            </a:r>
            <a:r>
              <a:rPr lang="en-US" altLang="ko-KR" sz="1600" b="1" dirty="0">
                <a:solidFill>
                  <a:srgbClr val="222222"/>
                </a:solidFill>
                <a:latin typeface="+mj-ea"/>
                <a:ea typeface="+mj-ea"/>
              </a:rPr>
              <a:t>)</a:t>
            </a:r>
          </a:p>
          <a:p>
            <a:pPr lvl="1">
              <a:spcAft>
                <a:spcPts val="200"/>
              </a:spcAft>
            </a:pP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–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이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PART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의 가설은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"selection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을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RL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로 최적화하면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cosine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휴리스틱을 넘는가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" — LLM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은 변수가 아닌 고정 환경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  – LLM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은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episode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종료 시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(</a:t>
            </a:r>
            <a:r>
              <a:rPr lang="en-US" altLang="ko-KR" sz="1200" dirty="0" err="1">
                <a:solidFill>
                  <a:srgbClr val="222222"/>
                </a:solidFill>
                <a:latin typeface="+mj-ea"/>
                <a:ea typeface="+mj-ea"/>
              </a:rPr>
              <a:t>stop_and_answer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)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에만 호출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: question + keep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된 단락 → 답 생성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.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학습 중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gradient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안 흐름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  –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부수효과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: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학습은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~200K params MLP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만 갱신 →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8GB GPU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에서도 매우 가볍게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.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4CF8761F-BFBF-B9D3-7BE3-CD24D9DDD0E6}"/>
              </a:ext>
            </a:extLst>
          </p:cNvPr>
          <p:cNvSpPr/>
          <p:nvPr/>
        </p:nvSpPr>
        <p:spPr>
          <a:xfrm>
            <a:off x="685800" y="3066547"/>
            <a:ext cx="475488" cy="475488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38B08A9C-2DA0-DA37-A81E-F34116A0038D}"/>
              </a:ext>
            </a:extLst>
          </p:cNvPr>
          <p:cNvSpPr/>
          <p:nvPr/>
        </p:nvSpPr>
        <p:spPr>
          <a:xfrm>
            <a:off x="685800" y="306654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2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5078F013-2D57-6A91-4D29-AC79E6A3FFD5}"/>
              </a:ext>
            </a:extLst>
          </p:cNvPr>
          <p:cNvSpPr/>
          <p:nvPr/>
        </p:nvSpPr>
        <p:spPr>
          <a:xfrm>
            <a:off x="1371599" y="3056431"/>
            <a:ext cx="10042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altLang="ko-KR" sz="1600" b="1" dirty="0">
                <a:solidFill>
                  <a:srgbClr val="222222"/>
                </a:solidFill>
                <a:latin typeface="+mj-ea"/>
                <a:ea typeface="+mj-ea"/>
              </a:rPr>
              <a:t>Encoder = sentence-transformers MiniLM-L6-v2 (384d, freeze)</a:t>
            </a:r>
          </a:p>
          <a:p>
            <a:pPr lvl="1">
              <a:spcAft>
                <a:spcPts val="200"/>
              </a:spcAft>
            </a:pP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 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–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학습 없이 일반화된 의미 </a:t>
            </a:r>
            <a:r>
              <a:rPr lang="ko-KR" altLang="en-US" sz="1200" dirty="0" err="1">
                <a:solidFill>
                  <a:srgbClr val="222222"/>
                </a:solidFill>
                <a:latin typeface="+mj-ea"/>
                <a:ea typeface="+mj-ea"/>
              </a:rPr>
              <a:t>임베딩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—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이것이 곧 우리가 넘어야 할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"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학습 없는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cosine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휴리스틱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".</a:t>
            </a:r>
          </a:p>
          <a:p>
            <a:pPr lvl="1">
              <a:spcAft>
                <a:spcPts val="200"/>
              </a:spcAft>
            </a:pP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  – state encoder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와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baseline retriever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모두 동일 모델을 재사용 → 공정 비교를 위해 </a:t>
            </a:r>
            <a:r>
              <a:rPr lang="ko-KR" altLang="en-US" sz="1200" dirty="0" err="1">
                <a:solidFill>
                  <a:srgbClr val="222222"/>
                </a:solidFill>
                <a:latin typeface="+mj-ea"/>
                <a:ea typeface="+mj-ea"/>
              </a:rPr>
              <a:t>임베딩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 공간 통일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AADCE895-2F45-8B68-8835-59A88FE5DB65}"/>
              </a:ext>
            </a:extLst>
          </p:cNvPr>
          <p:cNvSpPr/>
          <p:nvPr/>
        </p:nvSpPr>
        <p:spPr>
          <a:xfrm>
            <a:off x="685800" y="4009742"/>
            <a:ext cx="475488" cy="475488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D660D48-04CC-737B-85EE-B29075F952F8}"/>
              </a:ext>
            </a:extLst>
          </p:cNvPr>
          <p:cNvSpPr/>
          <p:nvPr/>
        </p:nvSpPr>
        <p:spPr>
          <a:xfrm>
            <a:off x="685800" y="400974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3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CDD5D8CA-CAFE-73B0-F5BD-BBC8E6F3885C}"/>
              </a:ext>
            </a:extLst>
          </p:cNvPr>
          <p:cNvSpPr/>
          <p:nvPr/>
        </p:nvSpPr>
        <p:spPr>
          <a:xfrm>
            <a:off x="1371599" y="3887175"/>
            <a:ext cx="10042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4000"/>
              </a:lnSpc>
            </a:pPr>
            <a:r>
              <a:rPr lang="ko-KR" altLang="en-US" sz="1600" b="1" dirty="0" err="1">
                <a:solidFill>
                  <a:srgbClr val="222222"/>
                </a:solidFill>
                <a:latin typeface="+mj-ea"/>
                <a:ea typeface="+mj-ea"/>
              </a:rPr>
              <a:t>정책망</a:t>
            </a:r>
            <a:r>
              <a:rPr lang="ko-KR" altLang="en-US" sz="1600" b="1" dirty="0">
                <a:solidFill>
                  <a:srgbClr val="222222"/>
                </a:solidFill>
                <a:latin typeface="+mj-ea"/>
                <a:ea typeface="+mj-ea"/>
              </a:rPr>
              <a:t> </a:t>
            </a:r>
            <a:r>
              <a:rPr lang="en-US" altLang="ko-KR" sz="1600" b="1" dirty="0">
                <a:solidFill>
                  <a:srgbClr val="222222"/>
                </a:solidFill>
                <a:latin typeface="+mj-ea"/>
                <a:ea typeface="+mj-ea"/>
              </a:rPr>
              <a:t>= 2-layer MLP, hidden (256, 128), </a:t>
            </a:r>
            <a:r>
              <a:rPr lang="ko-KR" altLang="en-US" sz="1600" b="1" dirty="0">
                <a:solidFill>
                  <a:srgbClr val="222222"/>
                </a:solidFill>
                <a:latin typeface="+mj-ea"/>
                <a:ea typeface="+mj-ea"/>
              </a:rPr>
              <a:t>약 </a:t>
            </a:r>
            <a:r>
              <a:rPr lang="en-US" altLang="ko-KR" sz="1600" b="1" dirty="0">
                <a:solidFill>
                  <a:srgbClr val="222222"/>
                </a:solidFill>
                <a:latin typeface="+mj-ea"/>
                <a:ea typeface="+mj-ea"/>
              </a:rPr>
              <a:t>200K params</a:t>
            </a:r>
            <a:endParaRPr lang="en-US" altLang="ko-KR" sz="1200" dirty="0">
              <a:solidFill>
                <a:srgbClr val="222222"/>
              </a:solidFill>
              <a:latin typeface="+mj-ea"/>
              <a:ea typeface="+mj-ea"/>
            </a:endParaRPr>
          </a:p>
          <a:p>
            <a:pPr lvl="1">
              <a:spcAft>
                <a:spcPts val="200"/>
              </a:spcAft>
            </a:pP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–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작게 잡은 이유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: MDP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의 진짜 병목이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state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표현인지 정책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capacity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인지 분리하기 위함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.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결과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"capacity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부족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"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이 진단으로 확정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95622AC1-93DD-16C3-B9DF-DE03BEE0149B}"/>
              </a:ext>
            </a:extLst>
          </p:cNvPr>
          <p:cNvSpPr/>
          <p:nvPr/>
        </p:nvSpPr>
        <p:spPr>
          <a:xfrm>
            <a:off x="685800" y="4879785"/>
            <a:ext cx="475488" cy="475488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CA2A80D1-F661-0F71-1D99-CD93E53A4483}"/>
              </a:ext>
            </a:extLst>
          </p:cNvPr>
          <p:cNvSpPr/>
          <p:nvPr/>
        </p:nvSpPr>
        <p:spPr>
          <a:xfrm>
            <a:off x="685800" y="487978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4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750BD2FB-0AAD-3530-41CA-BDEEB750954A}"/>
              </a:ext>
            </a:extLst>
          </p:cNvPr>
          <p:cNvSpPr/>
          <p:nvPr/>
        </p:nvSpPr>
        <p:spPr>
          <a:xfrm>
            <a:off x="1371599" y="4952937"/>
            <a:ext cx="10042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ko-KR" altLang="en-US" sz="1600" b="1" dirty="0">
                <a:solidFill>
                  <a:srgbClr val="222222"/>
                </a:solidFill>
                <a:latin typeface="+mj-ea"/>
                <a:ea typeface="+mj-ea"/>
              </a:rPr>
              <a:t>데이터 분할 </a:t>
            </a:r>
            <a:r>
              <a:rPr lang="en-US" altLang="ko-KR" sz="1600" b="1" dirty="0">
                <a:solidFill>
                  <a:srgbClr val="222222"/>
                </a:solidFill>
                <a:latin typeface="+mj-ea"/>
                <a:ea typeface="+mj-ea"/>
              </a:rPr>
              <a:t>(</a:t>
            </a:r>
            <a:r>
              <a:rPr lang="ko-KR" altLang="en-US" sz="1600" b="1" dirty="0">
                <a:solidFill>
                  <a:srgbClr val="222222"/>
                </a:solidFill>
                <a:latin typeface="+mj-ea"/>
                <a:ea typeface="+mj-ea"/>
              </a:rPr>
              <a:t>학습</a:t>
            </a:r>
            <a:r>
              <a:rPr lang="en-US" altLang="ko-KR" sz="1600" b="1" dirty="0">
                <a:solidFill>
                  <a:srgbClr val="222222"/>
                </a:solidFill>
                <a:latin typeface="+mj-ea"/>
                <a:ea typeface="+mj-ea"/>
              </a:rPr>
              <a:t>/in-domain/transfer)</a:t>
            </a:r>
          </a:p>
          <a:p>
            <a:pPr lvl="1">
              <a:spcAft>
                <a:spcPts val="200"/>
              </a:spcAft>
            </a:pP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 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–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학습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: </a:t>
            </a:r>
            <a:r>
              <a:rPr lang="en-US" altLang="ko-KR" sz="1200" dirty="0" err="1">
                <a:solidFill>
                  <a:srgbClr val="222222"/>
                </a:solidFill>
                <a:latin typeface="+mj-ea"/>
                <a:ea typeface="+mj-ea"/>
              </a:rPr>
              <a:t>HotpotQA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distractor train 2,000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샘플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(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수렴엔 충분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시간 절약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).</a:t>
            </a:r>
          </a:p>
          <a:p>
            <a:pPr lvl="1">
              <a:spcAft>
                <a:spcPts val="200"/>
              </a:spcAft>
            </a:pP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  – in-domain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평가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: </a:t>
            </a:r>
            <a:r>
              <a:rPr lang="en-US" altLang="ko-KR" sz="1200" dirty="0" err="1">
                <a:solidFill>
                  <a:srgbClr val="222222"/>
                </a:solidFill>
                <a:latin typeface="+mj-ea"/>
                <a:ea typeface="+mj-ea"/>
              </a:rPr>
              <a:t>HotpotQA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distractor validation n=200.</a:t>
            </a:r>
          </a:p>
          <a:p>
            <a:pPr lvl="1">
              <a:spcAft>
                <a:spcPts val="200"/>
              </a:spcAft>
            </a:pP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  – transfer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평가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: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자체 구축 스포츠 </a:t>
            </a:r>
            <a:r>
              <a:rPr lang="ko-KR" altLang="en-US" sz="1200" dirty="0" err="1">
                <a:solidFill>
                  <a:srgbClr val="222222"/>
                </a:solidFill>
                <a:latin typeface="+mj-ea"/>
                <a:ea typeface="+mj-ea"/>
              </a:rPr>
              <a:t>룰북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350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문항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—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학습에 미사용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(H3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측정 전용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).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A127001A-1CBA-E558-968D-B5897A4ABAAE}"/>
              </a:ext>
            </a:extLst>
          </p:cNvPr>
          <p:cNvSpPr/>
          <p:nvPr/>
        </p:nvSpPr>
        <p:spPr>
          <a:xfrm>
            <a:off x="685800" y="5945547"/>
            <a:ext cx="475488" cy="475488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3B1CAF26-1A04-4C64-9632-8ABDECCD8811}"/>
              </a:ext>
            </a:extLst>
          </p:cNvPr>
          <p:cNvSpPr/>
          <p:nvPr/>
        </p:nvSpPr>
        <p:spPr>
          <a:xfrm>
            <a:off x="685800" y="594554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5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E035BB78-BC69-9535-6B9E-A48DCE0CB4DA}"/>
              </a:ext>
            </a:extLst>
          </p:cNvPr>
          <p:cNvSpPr/>
          <p:nvPr/>
        </p:nvSpPr>
        <p:spPr>
          <a:xfrm>
            <a:off x="1371598" y="5945547"/>
            <a:ext cx="10042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ko-KR" altLang="en-US" sz="1600" b="1" dirty="0">
                <a:solidFill>
                  <a:srgbClr val="222222"/>
                </a:solidFill>
                <a:latin typeface="+mj-ea"/>
                <a:ea typeface="+mj-ea"/>
              </a:rPr>
              <a:t> 하드웨어 </a:t>
            </a:r>
            <a:r>
              <a:rPr lang="en-US" altLang="ko-KR" sz="1600" b="1" dirty="0">
                <a:solidFill>
                  <a:srgbClr val="222222"/>
                </a:solidFill>
                <a:latin typeface="+mj-ea"/>
                <a:ea typeface="+mj-ea"/>
              </a:rPr>
              <a:t>= </a:t>
            </a:r>
            <a:r>
              <a:rPr lang="ko-KR" altLang="en-US" sz="1600" b="1" dirty="0">
                <a:solidFill>
                  <a:srgbClr val="222222"/>
                </a:solidFill>
                <a:latin typeface="+mj-ea"/>
                <a:ea typeface="+mj-ea"/>
              </a:rPr>
              <a:t>로컬 </a:t>
            </a:r>
            <a:r>
              <a:rPr lang="en-US" altLang="ko-KR" sz="1600" b="1" dirty="0">
                <a:solidFill>
                  <a:srgbClr val="222222"/>
                </a:solidFill>
                <a:latin typeface="+mj-ea"/>
                <a:ea typeface="+mj-ea"/>
              </a:rPr>
              <a:t>RTX 4060 Ti 8GB · CUDA 12.1 · Python 3.11 </a:t>
            </a:r>
            <a:r>
              <a:rPr lang="en-US" altLang="ko-KR" sz="1600" b="1" dirty="0" err="1">
                <a:solidFill>
                  <a:srgbClr val="222222"/>
                </a:solidFill>
                <a:latin typeface="+mj-ea"/>
                <a:ea typeface="+mj-ea"/>
              </a:rPr>
              <a:t>venv</a:t>
            </a:r>
            <a:endParaRPr lang="en-US" altLang="ko-KR" sz="1600" b="1" dirty="0">
              <a:solidFill>
                <a:srgbClr val="222222"/>
              </a:solidFill>
              <a:latin typeface="+mj-ea"/>
              <a:ea typeface="+mj-ea"/>
            </a:endParaRPr>
          </a:p>
          <a:p>
            <a:pPr lvl="1">
              <a:spcAft>
                <a:spcPts val="200"/>
              </a:spcAft>
            </a:pP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 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– 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의존성 핀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: </a:t>
            </a:r>
            <a:r>
              <a:rPr lang="en-US" altLang="ko-KR" sz="1200" dirty="0" err="1">
                <a:solidFill>
                  <a:srgbClr val="222222"/>
                </a:solidFill>
                <a:latin typeface="+mj-ea"/>
                <a:ea typeface="+mj-ea"/>
              </a:rPr>
              <a:t>numpy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 1.26 / </a:t>
            </a:r>
            <a:r>
              <a:rPr lang="en-US" altLang="ko-KR" sz="1200" dirty="0" err="1">
                <a:solidFill>
                  <a:srgbClr val="222222"/>
                </a:solidFill>
                <a:latin typeface="+mj-ea"/>
                <a:ea typeface="+mj-ea"/>
              </a:rPr>
              <a:t>pyarrow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 17 / pandas 2.3 / datasets 2.21 (Windows</a:t>
            </a:r>
            <a:r>
              <a:rPr lang="ko-KR" altLang="en-US" sz="1200" dirty="0">
                <a:solidFill>
                  <a:srgbClr val="222222"/>
                </a:solidFill>
                <a:latin typeface="+mj-ea"/>
                <a:ea typeface="+mj-ea"/>
              </a:rPr>
              <a:t>에서 검증된 조합</a:t>
            </a:r>
            <a:r>
              <a:rPr lang="en-US" altLang="ko-KR" sz="1200" dirty="0">
                <a:solidFill>
                  <a:srgbClr val="222222"/>
                </a:solidFill>
                <a:latin typeface="+mj-ea"/>
                <a:ea typeface="+mj-ea"/>
              </a:rPr>
              <a:t>).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99AC9767-09C0-6E44-92A2-C9B2C0937A95}"/>
              </a:ext>
            </a:extLst>
          </p:cNvPr>
          <p:cNvSpPr/>
          <p:nvPr/>
        </p:nvSpPr>
        <p:spPr>
          <a:xfrm>
            <a:off x="756920" y="1373253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400" b="1" kern="0" spc="100" dirty="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  <a:cs typeface="Calibri" pitchFamily="34" charset="-120"/>
              </a:rPr>
              <a:t>frozen LLM, </a:t>
            </a:r>
            <a:r>
              <a:rPr lang="ko-KR" altLang="en-US" sz="1400" b="1" kern="0" spc="100" dirty="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  <a:cs typeface="Calibri" pitchFamily="34" charset="-120"/>
              </a:rPr>
              <a:t>모델 규모</a:t>
            </a:r>
            <a:r>
              <a:rPr lang="en-US" altLang="ko-KR" sz="1400" b="1" kern="0" spc="100" dirty="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  <a:cs typeface="Calibri" pitchFamily="34" charset="-120"/>
              </a:rPr>
              <a:t>, </a:t>
            </a:r>
            <a:r>
              <a:rPr lang="ko-KR" altLang="en-US" sz="1400" b="1" kern="0" spc="100" dirty="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  <a:cs typeface="Calibri" pitchFamily="34" charset="-120"/>
              </a:rPr>
              <a:t>데이터 분할을 선택한 이유</a:t>
            </a:r>
            <a:endParaRPr lang="en-US" sz="1400" dirty="0">
              <a:solidFill>
                <a:schemeClr val="bg2">
                  <a:lumMod val="7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24394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PART 1 · 결과 ① in-domain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In-domain (HotpotQA, n=200)</a:t>
            </a:r>
            <a:endParaRPr lang="en-US" sz="2900" dirty="0">
              <a:latin typeface="+mj-ea"/>
              <a:ea typeface="+mj-ea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747977"/>
              </p:ext>
            </p:extLst>
          </p:nvPr>
        </p:nvGraphicFramePr>
        <p:xfrm>
          <a:off x="685800" y="1691640"/>
          <a:ext cx="6492240" cy="294436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방법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answer F1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support F1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kept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E6E79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Oracle (상한)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E6E79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0.557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E6E79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1.000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E6E79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2.0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Naive RAG (cosine top-3)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C4FD4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0.370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0.582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3.0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use_all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0.367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0.340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9.9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B68A00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Step-wise RL (제안)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B68A00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0.355 ±.012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0.533 ±.005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2.0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Sparse RL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0.354 ±.002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0.512 ±.027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2.0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E6E79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random (하한)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E6E79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0.275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E6E79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0.258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E6E79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3.0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444302213"/>
              </p:ext>
            </p:extLst>
          </p:nvPr>
        </p:nvGraphicFramePr>
        <p:xfrm>
          <a:off x="7315200" y="1600200"/>
          <a:ext cx="4190695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/>
          <p:nvPr/>
        </p:nvSpPr>
        <p:spPr>
          <a:xfrm>
            <a:off x="685800" y="50749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B68A00"/>
                </a:solidFill>
                <a:latin typeface="+mj-ea"/>
                <a:ea typeface="+mj-ea"/>
                <a:cs typeface="Calibri" pitchFamily="34" charset="-120"/>
              </a:rPr>
              <a:t>RL(0.355)이 학습 </a:t>
            </a:r>
            <a:r>
              <a:rPr lang="en-US" sz="1300" b="1" dirty="0" err="1">
                <a:solidFill>
                  <a:srgbClr val="B68A00"/>
                </a:solidFill>
                <a:latin typeface="+mj-ea"/>
                <a:ea typeface="+mj-ea"/>
                <a:cs typeface="Calibri" pitchFamily="34" charset="-120"/>
              </a:rPr>
              <a:t>없는</a:t>
            </a:r>
            <a:r>
              <a:rPr lang="en-US" sz="1300" b="1" dirty="0">
                <a:solidFill>
                  <a:srgbClr val="B68A00"/>
                </a:solidFill>
                <a:latin typeface="+mj-ea"/>
                <a:ea typeface="+mj-ea"/>
                <a:cs typeface="Calibri" pitchFamily="34" charset="-120"/>
              </a:rPr>
              <a:t> cosine </a:t>
            </a:r>
            <a:r>
              <a:rPr lang="ko-KR" altLang="en-US" sz="1300" b="1" dirty="0">
                <a:solidFill>
                  <a:srgbClr val="B68A00"/>
                </a:solidFill>
                <a:latin typeface="+mj-ea"/>
                <a:ea typeface="+mj-ea"/>
                <a:cs typeface="Calibri" pitchFamily="34" charset="-120"/>
              </a:rPr>
              <a:t>휴리스틱</a:t>
            </a:r>
            <a:r>
              <a:rPr lang="en-US" sz="1300" b="1" dirty="0">
                <a:solidFill>
                  <a:srgbClr val="B68A00"/>
                </a:solidFill>
                <a:latin typeface="+mj-ea"/>
                <a:ea typeface="+mj-ea"/>
                <a:cs typeface="Calibri" pitchFamily="34" charset="-120"/>
              </a:rPr>
              <a:t>(0.370)을 못 넘음. </a:t>
            </a:r>
            <a:r>
              <a:rPr 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단 단락을 2개만 keep해 cosine 휴리스틱(3개)과 비슷한 F1 — precision 이점.</a:t>
            </a:r>
            <a:endParaRPr lang="en-US" sz="13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PART 1 · 결과 ② transfer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Transfer (스포츠 룰북, n=350)</a:t>
            </a:r>
            <a:endParaRPr lang="en-US" sz="2900" dirty="0">
              <a:latin typeface="+mj-ea"/>
              <a:ea typeface="+mj-ea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69415"/>
              </p:ext>
            </p:extLst>
          </p:nvPr>
        </p:nvGraphicFramePr>
        <p:xfrm>
          <a:off x="685800" y="1691640"/>
          <a:ext cx="5760720" cy="2944368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방법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answer F1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support F1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E6E79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Oracle (상한)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E6E79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0.452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E6E79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1.000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Naive RAG (cosine top-3)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C4FD4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0.386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0.666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use_all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0.369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0.400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B68A00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Step-wise RL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B68A00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0.270 ±.038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0.461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Sparse RL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0.267 ±.034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0.456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E6E79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random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E6E79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0.263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E6E79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0.305</a:t>
                      </a:r>
                      <a:endParaRPr lang="en-US" sz="125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58368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In-domain → Transfer 변화</a:t>
            </a:r>
            <a:endParaRPr lang="en-US" sz="1400" dirty="0">
              <a:latin typeface="+mj-ea"/>
              <a:ea typeface="+mj-ea"/>
            </a:endParaRPr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312322746"/>
              </p:ext>
            </p:extLst>
          </p:nvPr>
        </p:nvGraphicFramePr>
        <p:xfrm>
          <a:off x="6583680" y="1920240"/>
          <a:ext cx="492221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685800" y="4892040"/>
            <a:ext cx="108200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85800" y="4892040"/>
            <a:ext cx="109728" cy="960120"/>
          </a:xfrm>
          <a:prstGeom prst="rect">
            <a:avLst/>
          </a:prstGeom>
          <a:solidFill>
            <a:srgbClr val="F4C5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005840" y="48920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B68A00"/>
                </a:solidFill>
                <a:latin typeface="+mj-ea"/>
                <a:ea typeface="+mj-ea"/>
                <a:cs typeface="Calibri" pitchFamily="34" charset="-120"/>
              </a:rPr>
              <a:t>핵심. 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Naive(cosine)는 도메인이 바뀌어도 견고(+0.016). 반면 </a:t>
            </a:r>
            <a:r>
              <a:rPr lang="en-US" sz="1350" b="1" dirty="0">
                <a:solidFill>
                  <a:srgbClr val="C0392B"/>
                </a:solidFill>
                <a:latin typeface="+mj-ea"/>
                <a:ea typeface="+mj-ea"/>
                <a:cs typeface="Calibri" pitchFamily="34" charset="-120"/>
              </a:rPr>
              <a:t>학습된 RL은 −24% 폭락(0.355→0.270)</a:t>
            </a:r>
            <a:r>
              <a:rPr 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— 심지어 random(0.263) 수준. 학습 정책이 HotpotQA 분포에 특화돼 전이가 안 </a:t>
            </a: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됨</a:t>
            </a:r>
            <a:r>
              <a:rPr 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3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PART 1 · 결과 ③ 학습곡선·hop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학습곡선 &amp; Hop 타입별 분석</a:t>
            </a:r>
            <a:endParaRPr lang="en-US" sz="2900" dirty="0">
              <a:latin typeface="+mj-ea"/>
              <a:ea typeface="+mj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59893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pic>
        <p:nvPicPr>
          <p:cNvPr id="7" name="Image 0" descr="/home/claude/l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5528" y="1810512"/>
            <a:ext cx="5760720" cy="3429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413248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Figure 1 · dev F1 (3 seed mean±std) — 두 곡선의 std 음영이 학습 내내 겹침 = 유의차 없음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9" name="Text 6"/>
          <p:cNvSpPr/>
          <p:nvPr/>
        </p:nvSpPr>
        <p:spPr>
          <a:xfrm>
            <a:off x="685800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Hop 타입별 (in-domain, seed 42)</a:t>
            </a:r>
            <a:endParaRPr lang="en-US" sz="1500" dirty="0">
              <a:latin typeface="+mj-ea"/>
              <a:ea typeface="+mj-ea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927705"/>
              </p:ext>
            </p:extLst>
          </p:nvPr>
        </p:nvGraphicFramePr>
        <p:xfrm>
          <a:off x="6858000" y="2148840"/>
          <a:ext cx="5102352" cy="1371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방법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bridge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comparison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Naive (cosine)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C4FD4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0.350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0.435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68A00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Step-wise RL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68A00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0.316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0.448</a:t>
                      </a:r>
                      <a:endParaRPr lang="en-US" sz="13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858000" y="3749040"/>
            <a:ext cx="510235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858000" y="3749040"/>
            <a:ext cx="5102352" cy="128016"/>
          </a:xfrm>
          <a:prstGeom prst="rect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0" name="Text 9"/>
          <p:cNvSpPr/>
          <p:nvPr/>
        </p:nvSpPr>
        <p:spPr>
          <a:xfrm>
            <a:off x="6971460" y="3913632"/>
            <a:ext cx="49888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RL이 이겨야 할 곳은 cosine 휴리스틱이 실패하는 bridge(multi-hop)</a:t>
            </a:r>
            <a:r>
              <a:rPr lang="en-US" sz="12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인데</a:t>
            </a:r>
            <a:r>
              <a:rPr lang="en-US" sz="12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C0392B"/>
                </a:solidFill>
                <a:latin typeface="+mj-ea"/>
                <a:ea typeface="+mj-ea"/>
                <a:cs typeface="Calibri" pitchFamily="34" charset="-120"/>
              </a:rPr>
              <a:t>정작 bridge에서 RL이 cosine 휴리스틱보다 낮다 (0.316 &lt; 0.350).
</a:t>
            </a:r>
            <a:r>
              <a:rPr lang="en-US" sz="12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→ 정책이 multi-hop 추론(1차→2차 단락 연결)을 학습하지 못했다.</a:t>
            </a:r>
            <a:endParaRPr lang="en-US" sz="12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PART 1 · </a:t>
            </a:r>
            <a:r>
              <a:rPr lang="en-US" sz="1400" b="1" kern="0" spc="100" dirty="0" err="1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토의</a:t>
            </a: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ko-KR" alt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및 결론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가설 검증 — 셋 다 지지되지 않음</a:t>
            </a:r>
            <a:endParaRPr lang="en-US" sz="2900" dirty="0">
              <a:latin typeface="+mj-ea"/>
              <a:ea typeface="+mj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10820095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188720" cy="1298448"/>
          </a:xfrm>
          <a:prstGeom prst="rect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8013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H1</a:t>
            </a:r>
            <a:endParaRPr lang="en-US" sz="2200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23500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9E5FF"/>
                </a:solidFill>
                <a:latin typeface="+mj-ea"/>
                <a:ea typeface="+mj-ea"/>
                <a:cs typeface="Calibri" pitchFamily="34" charset="-120"/>
              </a:rPr>
              <a:t>Step-wise ≫ Sparse?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103120" y="2075688"/>
            <a:ext cx="1051560" cy="530352"/>
          </a:xfrm>
          <a:prstGeom prst="rect">
            <a:avLst/>
          </a:prstGeom>
          <a:solidFill>
            <a:srgbClr val="F4C5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03120" y="207568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A4A00"/>
                </a:solidFill>
                <a:latin typeface="+mj-ea"/>
                <a:ea typeface="+mj-ea"/>
                <a:cs typeface="Arial" pitchFamily="34" charset="-120"/>
              </a:rPr>
              <a:t>기각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83280" y="1783080"/>
            <a:ext cx="7894015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3-seed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평균에서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answer F1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은 사실상 동일함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(0.355 vs 0.354). </a:t>
            </a: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단일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seed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에서 관찰된 우위는 재현되지 않음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 </a:t>
            </a: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반면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step reward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는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support_F1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분산이 더 작아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(±0.005 vs ±0.027),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선택 품질을 보다 일관되게 유지함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85800" y="3136392"/>
            <a:ext cx="10820095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85800" y="3136392"/>
            <a:ext cx="1188720" cy="1298448"/>
          </a:xfrm>
          <a:prstGeom prst="rect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H2</a:t>
            </a:r>
            <a:endParaRPr lang="en-US" sz="2200" dirty="0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" y="3794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9E5FF"/>
                </a:solidFill>
                <a:latin typeface="+mj-ea"/>
                <a:ea typeface="+mj-ea"/>
                <a:cs typeface="Calibri" pitchFamily="34" charset="-120"/>
              </a:rPr>
              <a:t>RL &gt; Naive?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103120" y="3520440"/>
            <a:ext cx="1051560" cy="530352"/>
          </a:xfrm>
          <a:prstGeom prst="rect">
            <a:avLst/>
          </a:prstGeom>
          <a:solidFill>
            <a:srgbClr val="F4C5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103120" y="352044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A4A00"/>
                </a:solidFill>
                <a:latin typeface="+mj-ea"/>
                <a:ea typeface="+mj-ea"/>
                <a:cs typeface="Arial" pitchFamily="34" charset="-120"/>
              </a:rPr>
              <a:t>기각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83280" y="3227832"/>
            <a:ext cx="7894015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in-domain에서 RL(0.355) &lt; cosine 휴리스틱(0.370). precision 이점은 있으나 절대 성능은 못 넘음.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5800" y="4581144"/>
            <a:ext cx="10820095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85800" y="4581144"/>
            <a:ext cx="1188720" cy="1298448"/>
          </a:xfrm>
          <a:prstGeom prst="rect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85800" y="46908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H3</a:t>
            </a:r>
            <a:endParaRPr lang="en-US" sz="2200" dirty="0">
              <a:latin typeface="+mj-ea"/>
              <a:ea typeface="+mj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5800" y="523951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9E5FF"/>
                </a:solidFill>
                <a:latin typeface="+mj-ea"/>
                <a:ea typeface="+mj-ea"/>
                <a:cs typeface="Calibri" pitchFamily="34" charset="-120"/>
              </a:rPr>
              <a:t>Transfer 가능?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103120" y="4965192"/>
            <a:ext cx="1051560" cy="530352"/>
          </a:xfrm>
          <a:prstGeom prst="rect">
            <a:avLst/>
          </a:prstGeom>
          <a:solidFill>
            <a:srgbClr val="F4C5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103120" y="4965192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A4A00"/>
                </a:solidFill>
                <a:latin typeface="+mj-ea"/>
                <a:ea typeface="+mj-ea"/>
                <a:cs typeface="Arial" pitchFamily="34" charset="-120"/>
              </a:rPr>
              <a:t>부정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83280" y="4672584"/>
            <a:ext cx="7894015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새 도메인에서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RL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성능이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24%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하락함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 </a:t>
            </a: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이는 학습된 정책이 </a:t>
            </a:r>
            <a:r>
              <a:rPr lang="en-US" altLang="ko-KR" sz="13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HotpotQA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분포에 특화되어 새로운 도메인으로 일반화되지 못했음을 시사함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3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주요 시사점</a:t>
            </a:r>
            <a:endParaRPr lang="en-US" sz="2900" dirty="0">
              <a:latin typeface="+mj-ea"/>
              <a:ea typeface="+mj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518144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1832" y="1993392"/>
            <a:ext cx="402336" cy="402336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941832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1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63040" y="196596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Reward hacking 정량 포착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78408" y="2514600"/>
            <a:ext cx="461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BC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없이 학습하면 정책이 즉시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stop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을 선택하는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reward hacking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에 빠짐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기대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reward(+0.198)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가 실제 </a:t>
            </a:r>
            <a:r>
              <a:rPr lang="ko-KR" altLang="en-US" sz="13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관측값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(+0.20)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과 일치했으며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, BC warmup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으로 이를 해결함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24448" y="1737360"/>
            <a:ext cx="518144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80480" y="1993392"/>
            <a:ext cx="402336" cy="402336"/>
          </a:xfrm>
          <a:prstGeom prst="ellipse">
            <a:avLst/>
          </a:prstGeom>
          <a:solidFill>
            <a:srgbClr val="F4C5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8048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4A00"/>
                </a:solidFill>
                <a:latin typeface="+mj-ea"/>
                <a:ea typeface="+mj-ea"/>
                <a:cs typeface="Arial" pitchFamily="34" charset="-120"/>
              </a:rPr>
              <a:t>2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101688" y="196596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입력 표현이 일반화를 좌우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17056" y="2514600"/>
            <a:ext cx="461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고차원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raw </a:t>
            </a:r>
            <a:r>
              <a:rPr lang="ko-KR" altLang="en-US" sz="13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임베딩은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과적합을 유발함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(dev 0.19). 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반면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lean state(32d)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는 일반화를 개선해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dev 0.35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를 달성함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5800" y="3931920"/>
            <a:ext cx="518144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41832" y="4187952"/>
            <a:ext cx="402336" cy="402336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41832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3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463040" y="416052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단일 seed 착시 반증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78408" y="4709160"/>
            <a:ext cx="461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단일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seed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에서는 성능 향상이 있는 것처럼 보였지만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, 3-seed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평균에서는 차이가 사라짐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재현성 검증의 중요성을 확인함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24448" y="3931920"/>
            <a:ext cx="518144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580480" y="4187952"/>
            <a:ext cx="402336" cy="402336"/>
          </a:xfrm>
          <a:prstGeom prst="ellipse">
            <a:avLst/>
          </a:prstGeom>
          <a:solidFill>
            <a:srgbClr val="F4C5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80480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4A00"/>
                </a:solidFill>
                <a:latin typeface="+mj-ea"/>
                <a:ea typeface="+mj-ea"/>
                <a:cs typeface="Arial" pitchFamily="34" charset="-120"/>
              </a:rPr>
              <a:t>4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01688" y="416052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REINFORCE 불안정성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617056" y="4709160"/>
            <a:ext cx="461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학습 후반에 성능이 다시 하락하는 현상이 나타남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따라서 최고 성능 시점의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checkpoint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를 저장하여 사용함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3174630C-5B1C-96AD-14DE-CC2481877367}"/>
              </a:ext>
            </a:extLst>
          </p:cNvPr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PART 1 · </a:t>
            </a:r>
            <a:r>
              <a:rPr lang="en-US" sz="1400" b="1" kern="0" spc="100" dirty="0" err="1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토의</a:t>
            </a: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ko-KR" alt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및 결론</a:t>
            </a:r>
            <a:endParaRPr lang="en-US" sz="1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6B588-2EF4-8236-F56A-3A89A0EE0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DB4AE86-44C8-D488-B1E4-98061E36D131}"/>
              </a:ext>
            </a:extLst>
          </p:cNvPr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kern="0" spc="100" dirty="0">
                <a:solidFill>
                  <a:srgbClr val="7B6FF0"/>
                </a:solidFill>
                <a:latin typeface="+mj-ea"/>
                <a:cs typeface="Calibri" pitchFamily="34" charset="-120"/>
              </a:rPr>
              <a:t>PART 2</a:t>
            </a:r>
            <a:endParaRPr lang="en-US" altLang="ko-KR" sz="1400" dirty="0">
              <a:latin typeface="+mj-ea"/>
              <a:ea typeface="+mj-ea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7C00BA1-8D5E-110A-29BE-848399A35063}"/>
              </a:ext>
            </a:extLst>
          </p:cNvPr>
          <p:cNvSpPr/>
          <p:nvPr/>
        </p:nvSpPr>
        <p:spPr>
          <a:xfrm>
            <a:off x="533552" y="2725689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Part</a:t>
            </a:r>
            <a:r>
              <a:rPr lang="ko-KR" altLang="en-US" sz="40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 </a:t>
            </a:r>
            <a:r>
              <a:rPr lang="en-US" altLang="ko-KR" sz="40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2.</a:t>
            </a:r>
            <a:r>
              <a:rPr lang="ko-KR" altLang="en-US" sz="40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 </a:t>
            </a:r>
            <a:endParaRPr lang="en-US" sz="4000" dirty="0"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4F4D7-733A-0B23-350F-33F43EC5BF72}"/>
              </a:ext>
            </a:extLst>
          </p:cNvPr>
          <p:cNvSpPr txBox="1"/>
          <p:nvPr/>
        </p:nvSpPr>
        <p:spPr>
          <a:xfrm>
            <a:off x="3047189" y="4029471"/>
            <a:ext cx="6094378" cy="355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추론을</a:t>
            </a:r>
            <a:r>
              <a:rPr lang="en-US" altLang="ko-KR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LLM </a:t>
            </a:r>
            <a:r>
              <a:rPr lang="en-US" altLang="ko-KR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안에</a:t>
            </a:r>
            <a:r>
              <a:rPr lang="en-US" altLang="ko-KR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두면</a:t>
            </a:r>
            <a:r>
              <a:rPr lang="en-US" altLang="ko-KR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cosine </a:t>
            </a:r>
            <a:r>
              <a:rPr lang="ko-KR" altLang="en-US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휴리스틱을</a:t>
            </a:r>
            <a:r>
              <a:rPr lang="en-US" altLang="ko-KR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넘을까</a:t>
            </a:r>
            <a:r>
              <a:rPr lang="en-US" altLang="ko-KR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?</a:t>
            </a: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2" name="box">
            <a:extLst>
              <a:ext uri="{FF2B5EF4-FFF2-40B4-BE49-F238E27FC236}">
                <a16:creationId xmlns:a16="http://schemas.microsoft.com/office/drawing/2014/main" id="{E8B1E0F1-4265-075D-8552-155E9C142588}"/>
              </a:ext>
            </a:extLst>
          </p:cNvPr>
          <p:cNvSpPr/>
          <p:nvPr/>
        </p:nvSpPr>
        <p:spPr>
          <a:xfrm>
            <a:off x="828040" y="5031495"/>
            <a:ext cx="10820400" cy="1306732"/>
          </a:xfrm>
          <a:prstGeom prst="roundRect">
            <a:avLst/>
          </a:prstGeom>
          <a:solidFill>
            <a:srgbClr val="EFECF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6" name="tb">
            <a:extLst>
              <a:ext uri="{FF2B5EF4-FFF2-40B4-BE49-F238E27FC236}">
                <a16:creationId xmlns:a16="http://schemas.microsoft.com/office/drawing/2014/main" id="{FF5F7A7B-BC28-31AC-A5F0-CCD9AA513A09}"/>
              </a:ext>
            </a:extLst>
          </p:cNvPr>
          <p:cNvSpPr/>
          <p:nvPr/>
        </p:nvSpPr>
        <p:spPr>
          <a:xfrm>
            <a:off x="1122240" y="5151495"/>
            <a:ext cx="10300000" cy="11867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B6FF0"/>
                </a:solidFill>
                <a:latin typeface="+mj-ea"/>
                <a:ea typeface="+mj-ea"/>
                <a:cs typeface="Arial"/>
              </a:rPr>
              <a:t>프로젝트 목적 (Purpose)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5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Multi-hop QA에서 RL이 무엇을 어디까지 줄 수 있는지를 두 단계로 정직하게 검증한다. </a:t>
            </a:r>
            <a:br>
              <a:rPr lang="en-US" sz="135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</a:br>
            <a:r>
              <a:rPr lang="ko-KR" altLang="en-US" sz="1350" b="0" dirty="0">
                <a:latin typeface="+mj-ea"/>
                <a:ea typeface="+mj-ea"/>
                <a:cs typeface="Calibri"/>
              </a:rPr>
              <a:t>－ </a:t>
            </a:r>
            <a:r>
              <a:rPr lang="en-US" sz="1350" b="1" dirty="0">
                <a:latin typeface="+mj-ea"/>
                <a:ea typeface="+mj-ea"/>
                <a:cs typeface="Calibri"/>
              </a:rPr>
              <a:t>Part 1: </a:t>
            </a:r>
            <a:r>
              <a:rPr lang="en-US" sz="1350" b="0" dirty="0">
                <a:latin typeface="+mj-ea"/>
                <a:ea typeface="+mj-ea"/>
                <a:cs typeface="Calibri"/>
              </a:rPr>
              <a:t>frozen LLM 위 selector를 RL로 학습해 cosine 휴리스틱과 겨룬다. </a:t>
            </a:r>
            <a:br>
              <a:rPr lang="en-US" sz="1350" b="0" u="sng" dirty="0">
                <a:solidFill>
                  <a:srgbClr val="FF0000"/>
                </a:solidFill>
                <a:latin typeface="+mj-ea"/>
                <a:ea typeface="+mj-ea"/>
                <a:cs typeface="Calibri"/>
              </a:rPr>
            </a:br>
            <a:r>
              <a:rPr lang="ko-KR" altLang="en-US" sz="1350" b="0" u="sng" dirty="0">
                <a:solidFill>
                  <a:srgbClr val="FF0000"/>
                </a:solidFill>
                <a:latin typeface="+mj-ea"/>
                <a:ea typeface="+mj-ea"/>
                <a:cs typeface="Calibri"/>
              </a:rPr>
              <a:t>－ </a:t>
            </a:r>
            <a:r>
              <a:rPr lang="en-US" sz="1350" b="1" u="sng" dirty="0">
                <a:solidFill>
                  <a:srgbClr val="FF0000"/>
                </a:solidFill>
                <a:latin typeface="+mj-ea"/>
                <a:ea typeface="+mj-ea"/>
                <a:cs typeface="Calibri"/>
              </a:rPr>
              <a:t>Part 2: </a:t>
            </a:r>
            <a:r>
              <a:rPr lang="en-US" sz="1350" b="0" u="sng" dirty="0">
                <a:solidFill>
                  <a:srgbClr val="FF0000"/>
                </a:solidFill>
                <a:latin typeface="+mj-ea"/>
                <a:ea typeface="+mj-ea"/>
                <a:cs typeface="Calibri"/>
              </a:rPr>
              <a:t>LLM 자체를 SFT→GRPO RL로 파인튜닝(Search-R1)해 추론을 LLM 안에 둔다.</a:t>
            </a:r>
          </a:p>
        </p:txBody>
      </p:sp>
    </p:spTree>
    <p:extLst>
      <p:ext uri="{BB962C8B-B14F-4D97-AF65-F5344CB8AC3E}">
        <p14:creationId xmlns:p14="http://schemas.microsoft.com/office/powerpoint/2010/main" val="380524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FE9A50C5-B5AA-CEE8-09E0-17CA9F6B655E}"/>
              </a:ext>
            </a:extLst>
          </p:cNvPr>
          <p:cNvSpPr/>
          <p:nvPr/>
        </p:nvSpPr>
        <p:spPr>
          <a:xfrm>
            <a:off x="686806" y="412041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7B6FEF"/>
                </a:solidFill>
                <a:latin typeface="+mj-ea"/>
                <a:ea typeface="+mj-ea"/>
              </a:rPr>
              <a:t>PART 2 · 전환 동기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DBCFB82-3820-BE5B-F4F0-339132075836}"/>
              </a:ext>
            </a:extLst>
          </p:cNvPr>
          <p:cNvSpPr/>
          <p:nvPr/>
        </p:nvSpPr>
        <p:spPr>
          <a:xfrm>
            <a:off x="696137" y="7863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altLang="ko-KR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PART 1</a:t>
            </a:r>
            <a:r>
              <a:rPr lang="ko-KR" alt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의 한계와 </a:t>
            </a:r>
            <a:r>
              <a:rPr lang="en-US" altLang="ko-KR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Search-R1</a:t>
            </a:r>
            <a:r>
              <a:rPr lang="ko-KR" alt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의 출발점</a:t>
            </a:r>
            <a:endParaRPr lang="en-US" sz="2900" b="1" dirty="0">
              <a:solidFill>
                <a:srgbClr val="1F1F27"/>
              </a:solidFill>
              <a:latin typeface="+mj-ea"/>
              <a:ea typeface="+mj-ea"/>
              <a:cs typeface="Arial" pitchFamily="34" charset="-12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4E52D34-D71C-548E-5959-C852B4724C8C}"/>
              </a:ext>
            </a:extLst>
          </p:cNvPr>
          <p:cNvGrpSpPr/>
          <p:nvPr/>
        </p:nvGrpSpPr>
        <p:grpSpPr>
          <a:xfrm>
            <a:off x="696137" y="1664208"/>
            <a:ext cx="10755528" cy="4828032"/>
            <a:chOff x="696137" y="1664208"/>
            <a:chExt cx="11064240" cy="4828032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EE0E67DB-6BD9-7188-BBC6-24E7AB8FEB32}"/>
                </a:ext>
              </a:extLst>
            </p:cNvPr>
            <p:cNvSpPr/>
            <p:nvPr/>
          </p:nvSpPr>
          <p:spPr>
            <a:xfrm>
              <a:off x="6223685" y="1664208"/>
              <a:ext cx="0" cy="2670048"/>
            </a:xfrm>
            <a:prstGeom prst="line">
              <a:avLst/>
            </a:prstGeom>
            <a:noFill/>
            <a:ln w="12700">
              <a:solidFill>
                <a:srgbClr val="D9D9E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3F1C1F71-EFD8-504F-2040-2549E09B48A4}"/>
                </a:ext>
              </a:extLst>
            </p:cNvPr>
            <p:cNvSpPr/>
            <p:nvPr/>
          </p:nvSpPr>
          <p:spPr>
            <a:xfrm>
              <a:off x="5967653" y="2798064"/>
              <a:ext cx="512064" cy="365760"/>
            </a:xfrm>
            <a:prstGeom prst="rect">
              <a:avLst/>
            </a:prstGeom>
            <a:solidFill>
              <a:srgbClr val="F4F4F6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8A8A95"/>
                  </a:solidFill>
                  <a:latin typeface="+mj-ea"/>
                  <a:ea typeface="+mj-ea"/>
                </a:rPr>
                <a:t>vs</a:t>
              </a:r>
              <a:endParaRPr lang="en-US" sz="1300" dirty="0">
                <a:latin typeface="+mj-ea"/>
                <a:ea typeface="+mj-ea"/>
              </a:endParaRPr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D0EA409F-AB18-3111-A6E8-C0E14406DF2E}"/>
                </a:ext>
              </a:extLst>
            </p:cNvPr>
            <p:cNvSpPr/>
            <p:nvPr/>
          </p:nvSpPr>
          <p:spPr>
            <a:xfrm>
              <a:off x="696137" y="1664208"/>
              <a:ext cx="5294376" cy="402336"/>
            </a:xfrm>
            <a:prstGeom prst="rect">
              <a:avLst/>
            </a:prstGeom>
            <a:solidFill>
              <a:srgbClr val="8A8A9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12A78BD5-EAE8-1C47-FDFF-E7F2396BD903}"/>
                </a:ext>
              </a:extLst>
            </p:cNvPr>
            <p:cNvSpPr/>
            <p:nvPr/>
          </p:nvSpPr>
          <p:spPr>
            <a:xfrm>
              <a:off x="696137" y="1664208"/>
              <a:ext cx="529437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+mj-ea"/>
                  <a:ea typeface="+mj-ea"/>
                </a:rPr>
                <a:t>PART 1 방식 · frozen LLM + 외부 selector</a:t>
              </a:r>
              <a:endParaRPr lang="en-US" sz="1400" dirty="0">
                <a:latin typeface="+mj-ea"/>
                <a:ea typeface="+mj-ea"/>
              </a:endParaRPr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2C6DD133-EE00-CA6A-3A1E-77398306D0D7}"/>
                </a:ext>
              </a:extLst>
            </p:cNvPr>
            <p:cNvSpPr/>
            <p:nvPr/>
          </p:nvSpPr>
          <p:spPr>
            <a:xfrm>
              <a:off x="6456857" y="1664208"/>
              <a:ext cx="5294376" cy="402336"/>
            </a:xfrm>
            <a:prstGeom prst="rect">
              <a:avLst/>
            </a:prstGeom>
            <a:solidFill>
              <a:srgbClr val="7B6FE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174C8EB8-351B-2A6C-BD82-7EE62ACA73F9}"/>
                </a:ext>
              </a:extLst>
            </p:cNvPr>
            <p:cNvSpPr/>
            <p:nvPr/>
          </p:nvSpPr>
          <p:spPr>
            <a:xfrm>
              <a:off x="6456857" y="1664208"/>
              <a:ext cx="529437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+mj-ea"/>
                  <a:ea typeface="+mj-ea"/>
                </a:rPr>
                <a:t>PART 2 방식 · LLM 내부 추론·검색 (Search-R1)</a:t>
              </a:r>
              <a:endParaRPr lang="en-US" sz="1400" dirty="0">
                <a:latin typeface="+mj-ea"/>
                <a:ea typeface="+mj-ea"/>
              </a:endParaRPr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2B3BA91B-9F23-43E1-DC2E-9D1E9DB67705}"/>
                </a:ext>
              </a:extLst>
            </p:cNvPr>
            <p:cNvSpPr/>
            <p:nvPr/>
          </p:nvSpPr>
          <p:spPr>
            <a:xfrm>
              <a:off x="1194485" y="2240280"/>
              <a:ext cx="4297680" cy="530352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33333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79C68AFD-02A0-F4A8-5608-FB9E32888549}"/>
                </a:ext>
              </a:extLst>
            </p:cNvPr>
            <p:cNvSpPr/>
            <p:nvPr/>
          </p:nvSpPr>
          <p:spPr>
            <a:xfrm>
              <a:off x="1240205" y="2240280"/>
              <a:ext cx="420624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400" b="1" dirty="0">
                  <a:solidFill>
                    <a:srgbClr val="33333D"/>
                  </a:solidFill>
                  <a:latin typeface="+mj-ea"/>
                  <a:ea typeface="+mj-ea"/>
                </a:rPr>
                <a:t>Question</a:t>
              </a:r>
              <a:endParaRPr lang="en-US" sz="1400" dirty="0">
                <a:latin typeface="+mj-ea"/>
                <a:ea typeface="+mj-ea"/>
              </a:endParaRPr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262E298B-5E70-1DE0-144C-A1BFDE4F5A1C}"/>
                </a:ext>
              </a:extLst>
            </p:cNvPr>
            <p:cNvSpPr/>
            <p:nvPr/>
          </p:nvSpPr>
          <p:spPr>
            <a:xfrm>
              <a:off x="3343325" y="2770632"/>
              <a:ext cx="0" cy="251460"/>
            </a:xfrm>
            <a:prstGeom prst="line">
              <a:avLst/>
            </a:prstGeom>
            <a:noFill/>
            <a:ln w="25400">
              <a:solidFill>
                <a:srgbClr val="5A5A66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1585C472-B415-7BD8-0559-5478496E9A71}"/>
                </a:ext>
              </a:extLst>
            </p:cNvPr>
            <p:cNvSpPr/>
            <p:nvPr/>
          </p:nvSpPr>
          <p:spPr>
            <a:xfrm>
              <a:off x="1194485" y="3022092"/>
              <a:ext cx="4297680" cy="530352"/>
            </a:xfrm>
            <a:prstGeom prst="rect">
              <a:avLst/>
            </a:prstGeom>
            <a:solidFill>
              <a:srgbClr val="E8E8EE"/>
            </a:solidFill>
            <a:ln w="22225">
              <a:solidFill>
                <a:srgbClr val="33333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34A16AB0-A9C2-2123-5B4E-89741F71BA06}"/>
                </a:ext>
              </a:extLst>
            </p:cNvPr>
            <p:cNvSpPr/>
            <p:nvPr/>
          </p:nvSpPr>
          <p:spPr>
            <a:xfrm>
              <a:off x="1240205" y="3022092"/>
              <a:ext cx="420624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350" b="1" dirty="0">
                  <a:solidFill>
                    <a:srgbClr val="33333D"/>
                  </a:solidFill>
                  <a:latin typeface="+mj-ea"/>
                  <a:ea typeface="+mj-ea"/>
                </a:rPr>
                <a:t>MLP Selector  </a:t>
              </a:r>
              <a:r>
                <a:rPr lang="en-US" sz="1100" dirty="0">
                  <a:solidFill>
                    <a:srgbClr val="8A8A95"/>
                  </a:solidFill>
                  <a:latin typeface="+mj-ea"/>
                  <a:ea typeface="+mj-ea"/>
                </a:rPr>
                <a:t>keep / drop</a:t>
              </a:r>
              <a:endParaRPr lang="en-US" sz="1350" dirty="0">
                <a:latin typeface="+mj-ea"/>
                <a:ea typeface="+mj-ea"/>
              </a:endParaRPr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FA152A36-C04F-87E3-0F9F-C9D128DFFCA3}"/>
                </a:ext>
              </a:extLst>
            </p:cNvPr>
            <p:cNvSpPr/>
            <p:nvPr/>
          </p:nvSpPr>
          <p:spPr>
            <a:xfrm>
              <a:off x="3343325" y="3552444"/>
              <a:ext cx="0" cy="251460"/>
            </a:xfrm>
            <a:prstGeom prst="line">
              <a:avLst/>
            </a:prstGeom>
            <a:noFill/>
            <a:ln w="25400">
              <a:solidFill>
                <a:srgbClr val="5A5A66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D50D6FCF-51DA-508E-B524-F0BCCF8858E0}"/>
                </a:ext>
              </a:extLst>
            </p:cNvPr>
            <p:cNvSpPr/>
            <p:nvPr/>
          </p:nvSpPr>
          <p:spPr>
            <a:xfrm>
              <a:off x="1194485" y="3803904"/>
              <a:ext cx="4297680" cy="530352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33333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41F909FA-759C-7E02-4752-5009B629CE23}"/>
                </a:ext>
              </a:extLst>
            </p:cNvPr>
            <p:cNvSpPr/>
            <p:nvPr/>
          </p:nvSpPr>
          <p:spPr>
            <a:xfrm>
              <a:off x="1240205" y="3803904"/>
              <a:ext cx="420624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350" b="1" dirty="0">
                  <a:solidFill>
                    <a:srgbClr val="33333D"/>
                  </a:solidFill>
                  <a:latin typeface="+mj-ea"/>
                  <a:ea typeface="+mj-ea"/>
                </a:rPr>
                <a:t>frozen LLM </a:t>
              </a:r>
              <a:r>
                <a:rPr lang="en-US" sz="1200" dirty="0">
                  <a:solidFill>
                    <a:srgbClr val="33333D"/>
                  </a:solidFill>
                  <a:latin typeface="+mj-ea"/>
                  <a:ea typeface="+mj-ea"/>
                </a:rPr>
                <a:t>→ Answer</a:t>
              </a:r>
              <a:endParaRPr lang="en-US" sz="1350" dirty="0">
                <a:latin typeface="+mj-ea"/>
                <a:ea typeface="+mj-ea"/>
              </a:endParaRPr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85ADDBC5-C4E6-CC2F-4EAE-6184873E8FD6}"/>
                </a:ext>
              </a:extLst>
            </p:cNvPr>
            <p:cNvSpPr/>
            <p:nvPr/>
          </p:nvSpPr>
          <p:spPr>
            <a:xfrm>
              <a:off x="696137" y="4379976"/>
              <a:ext cx="529437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200" i="1" dirty="0">
                  <a:solidFill>
                    <a:srgbClr val="8A8A95"/>
                  </a:solidFill>
                  <a:latin typeface="+mj-ea"/>
                  <a:ea typeface="+mj-ea"/>
                </a:rPr>
                <a:t>selector엔 multi-hop 추론 용량이 없어</a:t>
              </a:r>
              <a:endParaRPr lang="en-US" sz="1200" dirty="0">
                <a:latin typeface="+mj-ea"/>
                <a:ea typeface="+mj-ea"/>
              </a:endParaRPr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200" i="1" dirty="0">
                  <a:solidFill>
                    <a:srgbClr val="8A8A95"/>
                  </a:solidFill>
                  <a:latin typeface="+mj-ea"/>
                  <a:ea typeface="+mj-ea"/>
                </a:rPr>
                <a:t>학습 없는 cosine 휴리스틱을 못 넘음 (0.355 &lt; 0.370).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1371F62D-1BAF-7E39-3623-A2BF6B45A542}"/>
                </a:ext>
              </a:extLst>
            </p:cNvPr>
            <p:cNvSpPr/>
            <p:nvPr/>
          </p:nvSpPr>
          <p:spPr>
            <a:xfrm>
              <a:off x="6955205" y="2240280"/>
              <a:ext cx="4297680" cy="40233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7B6FE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D0E34840-988A-41AB-37E3-34016C5A4A75}"/>
                </a:ext>
              </a:extLst>
            </p:cNvPr>
            <p:cNvSpPr/>
            <p:nvPr/>
          </p:nvSpPr>
          <p:spPr>
            <a:xfrm>
              <a:off x="7000925" y="2240280"/>
              <a:ext cx="420624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350" b="1" dirty="0">
                  <a:solidFill>
                    <a:srgbClr val="33333D"/>
                  </a:solidFill>
                  <a:latin typeface="+mj-ea"/>
                  <a:ea typeface="+mj-ea"/>
                </a:rPr>
                <a:t>Question</a:t>
              </a:r>
              <a:endParaRPr lang="en-US" sz="1350" dirty="0">
                <a:latin typeface="+mj-ea"/>
                <a:ea typeface="+mj-ea"/>
              </a:endParaRPr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F885C8D8-F585-C7DE-E951-3113E5DE48F7}"/>
                </a:ext>
              </a:extLst>
            </p:cNvPr>
            <p:cNvSpPr/>
            <p:nvPr/>
          </p:nvSpPr>
          <p:spPr>
            <a:xfrm>
              <a:off x="9104045" y="2642616"/>
              <a:ext cx="0" cy="161849"/>
            </a:xfrm>
            <a:prstGeom prst="line">
              <a:avLst/>
            </a:prstGeom>
            <a:noFill/>
            <a:ln w="25400">
              <a:solidFill>
                <a:srgbClr val="5A5A66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2DBC96F6-2F0D-5319-B2C3-54ED0C06B7A6}"/>
                </a:ext>
              </a:extLst>
            </p:cNvPr>
            <p:cNvSpPr/>
            <p:nvPr/>
          </p:nvSpPr>
          <p:spPr>
            <a:xfrm>
              <a:off x="6955205" y="2804465"/>
              <a:ext cx="4297680" cy="402336"/>
            </a:xfrm>
            <a:prstGeom prst="rect">
              <a:avLst/>
            </a:prstGeom>
            <a:solidFill>
              <a:srgbClr val="ECE9FC"/>
            </a:solidFill>
            <a:ln w="22225">
              <a:solidFill>
                <a:srgbClr val="7B6FE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D17A354F-4DE9-4317-CFA1-FEDB1EC0E9BA}"/>
                </a:ext>
              </a:extLst>
            </p:cNvPr>
            <p:cNvSpPr/>
            <p:nvPr/>
          </p:nvSpPr>
          <p:spPr>
            <a:xfrm>
              <a:off x="7000925" y="2804465"/>
              <a:ext cx="420624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250" b="1" dirty="0">
                  <a:solidFill>
                    <a:srgbClr val="33333D"/>
                  </a:solidFill>
                  <a:latin typeface="+mj-ea"/>
                  <a:ea typeface="+mj-ea"/>
                </a:rPr>
                <a:t>&lt;think&gt; 추론  →  &lt;search&gt; 질의</a:t>
              </a:r>
              <a:endParaRPr lang="en-US" sz="1250" dirty="0">
                <a:latin typeface="+mj-ea"/>
                <a:ea typeface="+mj-ea"/>
              </a:endParaRPr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B41A28D7-BD0D-EFC5-4C62-82ADFB13F2D1}"/>
                </a:ext>
              </a:extLst>
            </p:cNvPr>
            <p:cNvSpPr/>
            <p:nvPr/>
          </p:nvSpPr>
          <p:spPr>
            <a:xfrm>
              <a:off x="9104045" y="3206801"/>
              <a:ext cx="0" cy="161849"/>
            </a:xfrm>
            <a:prstGeom prst="line">
              <a:avLst/>
            </a:prstGeom>
            <a:noFill/>
            <a:ln w="25400">
              <a:solidFill>
                <a:srgbClr val="5A5A66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5">
              <a:extLst>
                <a:ext uri="{FF2B5EF4-FFF2-40B4-BE49-F238E27FC236}">
                  <a16:creationId xmlns:a16="http://schemas.microsoft.com/office/drawing/2014/main" id="{E5898B63-D318-02BE-1393-896200CA8FF2}"/>
                </a:ext>
              </a:extLst>
            </p:cNvPr>
            <p:cNvSpPr/>
            <p:nvPr/>
          </p:nvSpPr>
          <p:spPr>
            <a:xfrm>
              <a:off x="6955205" y="3368650"/>
              <a:ext cx="4297680" cy="402336"/>
            </a:xfrm>
            <a:prstGeom prst="rect">
              <a:avLst/>
            </a:prstGeom>
            <a:solidFill>
              <a:srgbClr val="ECE9FC"/>
            </a:solidFill>
            <a:ln w="22225">
              <a:solidFill>
                <a:srgbClr val="7B6FE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A95C4615-2B98-1A13-BC05-1CA62EB34AB3}"/>
                </a:ext>
              </a:extLst>
            </p:cNvPr>
            <p:cNvSpPr/>
            <p:nvPr/>
          </p:nvSpPr>
          <p:spPr>
            <a:xfrm>
              <a:off x="7000925" y="3368650"/>
              <a:ext cx="420624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250" b="1" dirty="0">
                  <a:solidFill>
                    <a:srgbClr val="33333D"/>
                  </a:solidFill>
                  <a:latin typeface="+mj-ea"/>
                  <a:ea typeface="+mj-ea"/>
                </a:rPr>
                <a:t>env: &lt;information&gt; 주입  </a:t>
              </a:r>
              <a:r>
                <a:rPr lang="en-US" sz="1100" dirty="0">
                  <a:solidFill>
                    <a:srgbClr val="7B6FEF"/>
                  </a:solidFill>
                  <a:latin typeface="+mj-ea"/>
                  <a:ea typeface="+mj-ea"/>
                </a:rPr>
                <a:t>↺ 반복</a:t>
              </a:r>
              <a:endParaRPr lang="en-US" sz="1250" dirty="0">
                <a:latin typeface="+mj-ea"/>
                <a:ea typeface="+mj-ea"/>
              </a:endParaRPr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447B7A64-002C-A732-5FC0-5379833C4869}"/>
                </a:ext>
              </a:extLst>
            </p:cNvPr>
            <p:cNvSpPr/>
            <p:nvPr/>
          </p:nvSpPr>
          <p:spPr>
            <a:xfrm>
              <a:off x="9104045" y="3770986"/>
              <a:ext cx="0" cy="161849"/>
            </a:xfrm>
            <a:prstGeom prst="line">
              <a:avLst/>
            </a:prstGeom>
            <a:noFill/>
            <a:ln w="25400">
              <a:solidFill>
                <a:srgbClr val="5A5A66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Shape 28">
              <a:extLst>
                <a:ext uri="{FF2B5EF4-FFF2-40B4-BE49-F238E27FC236}">
                  <a16:creationId xmlns:a16="http://schemas.microsoft.com/office/drawing/2014/main" id="{BAE11BCC-6ACE-F3E8-6800-786D9399E317}"/>
                </a:ext>
              </a:extLst>
            </p:cNvPr>
            <p:cNvSpPr/>
            <p:nvPr/>
          </p:nvSpPr>
          <p:spPr>
            <a:xfrm>
              <a:off x="6955205" y="3932834"/>
              <a:ext cx="4297680" cy="40233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7B6FE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EC6746A7-AD60-50C3-29CD-26FEF7CE7389}"/>
                </a:ext>
              </a:extLst>
            </p:cNvPr>
            <p:cNvSpPr/>
            <p:nvPr/>
          </p:nvSpPr>
          <p:spPr>
            <a:xfrm>
              <a:off x="7000925" y="3932834"/>
              <a:ext cx="420624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350" b="1" dirty="0">
                  <a:solidFill>
                    <a:srgbClr val="33333D"/>
                  </a:solidFill>
                  <a:latin typeface="+mj-ea"/>
                  <a:ea typeface="+mj-ea"/>
                </a:rPr>
                <a:t>&lt;answer&gt; 답</a:t>
              </a:r>
              <a:endParaRPr lang="en-US" sz="1350" dirty="0">
                <a:latin typeface="+mj-ea"/>
                <a:ea typeface="+mj-ea"/>
              </a:endParaRPr>
            </a:p>
          </p:txBody>
        </p:sp>
        <p:sp>
          <p:nvSpPr>
            <p:cNvPr id="32" name="Text 30">
              <a:extLst>
                <a:ext uri="{FF2B5EF4-FFF2-40B4-BE49-F238E27FC236}">
                  <a16:creationId xmlns:a16="http://schemas.microsoft.com/office/drawing/2014/main" id="{D703F600-442E-6C9A-62D9-97585FD4CCF7}"/>
                </a:ext>
              </a:extLst>
            </p:cNvPr>
            <p:cNvSpPr/>
            <p:nvPr/>
          </p:nvSpPr>
          <p:spPr>
            <a:xfrm>
              <a:off x="6456857" y="4380890"/>
              <a:ext cx="529437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200" i="1" dirty="0">
                  <a:solidFill>
                    <a:srgbClr val="8A8A95"/>
                  </a:solidFill>
                  <a:latin typeface="+mj-ea"/>
                  <a:ea typeface="+mj-ea"/>
                </a:rPr>
                <a:t>추론·검색을 LLM 안에서 수행(Search-R1) — 학습 대상이 selector가 아니라 LLM 자체.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33" name="Shape 31">
              <a:extLst>
                <a:ext uri="{FF2B5EF4-FFF2-40B4-BE49-F238E27FC236}">
                  <a16:creationId xmlns:a16="http://schemas.microsoft.com/office/drawing/2014/main" id="{2EA6D981-FCB4-A087-0A9D-28AE8CF3D549}"/>
                </a:ext>
              </a:extLst>
            </p:cNvPr>
            <p:cNvSpPr/>
            <p:nvPr/>
          </p:nvSpPr>
          <p:spPr>
            <a:xfrm>
              <a:off x="696137" y="4956048"/>
              <a:ext cx="11064240" cy="64008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12700">
              <a:solidFill>
                <a:srgbClr val="D9D9E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Shape 32">
              <a:extLst>
                <a:ext uri="{FF2B5EF4-FFF2-40B4-BE49-F238E27FC236}">
                  <a16:creationId xmlns:a16="http://schemas.microsoft.com/office/drawing/2014/main" id="{38381277-0520-EE1E-A76B-38ADF9FC3724}"/>
                </a:ext>
              </a:extLst>
            </p:cNvPr>
            <p:cNvSpPr/>
            <p:nvPr/>
          </p:nvSpPr>
          <p:spPr>
            <a:xfrm>
              <a:off x="4655489" y="5065776"/>
              <a:ext cx="0" cy="420624"/>
            </a:xfrm>
            <a:prstGeom prst="line">
              <a:avLst/>
            </a:prstGeom>
            <a:noFill/>
            <a:ln w="12700">
              <a:solidFill>
                <a:srgbClr val="D9D9E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3">
              <a:extLst>
                <a:ext uri="{FF2B5EF4-FFF2-40B4-BE49-F238E27FC236}">
                  <a16:creationId xmlns:a16="http://schemas.microsoft.com/office/drawing/2014/main" id="{465022E3-F7EA-DFE5-0CD7-6BDBA3F9BC05}"/>
                </a:ext>
              </a:extLst>
            </p:cNvPr>
            <p:cNvSpPr/>
            <p:nvPr/>
          </p:nvSpPr>
          <p:spPr>
            <a:xfrm>
              <a:off x="7855889" y="5065776"/>
              <a:ext cx="0" cy="420624"/>
            </a:xfrm>
            <a:prstGeom prst="line">
              <a:avLst/>
            </a:prstGeom>
            <a:noFill/>
            <a:ln w="12700">
              <a:solidFill>
                <a:srgbClr val="D9D9E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 34">
              <a:extLst>
                <a:ext uri="{FF2B5EF4-FFF2-40B4-BE49-F238E27FC236}">
                  <a16:creationId xmlns:a16="http://schemas.microsoft.com/office/drawing/2014/main" id="{8751247D-5088-EE66-9BD7-46E178A1E699}"/>
                </a:ext>
              </a:extLst>
            </p:cNvPr>
            <p:cNvSpPr/>
            <p:nvPr/>
          </p:nvSpPr>
          <p:spPr>
            <a:xfrm>
              <a:off x="906449" y="4956048"/>
              <a:ext cx="36576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7B6FEF"/>
                  </a:solidFill>
                  <a:latin typeface="+mj-ea"/>
                  <a:ea typeface="+mj-ea"/>
                </a:rPr>
                <a:t>Policy   </a:t>
              </a:r>
              <a:r>
                <a:rPr lang="en-US" sz="1200" dirty="0">
                  <a:solidFill>
                    <a:srgbClr val="33333D"/>
                  </a:solidFill>
                  <a:latin typeface="+mj-ea"/>
                  <a:ea typeface="+mj-ea"/>
                </a:rPr>
                <a:t>Qwen + LoRA · think→search→answer</a:t>
              </a:r>
              <a:endParaRPr lang="en-US" sz="1400" dirty="0">
                <a:latin typeface="+mj-ea"/>
                <a:ea typeface="+mj-ea"/>
              </a:endParaRPr>
            </a:p>
          </p:txBody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446FE52C-D290-30C1-1541-FF931AF7833B}"/>
                </a:ext>
              </a:extLst>
            </p:cNvPr>
            <p:cNvSpPr/>
            <p:nvPr/>
          </p:nvSpPr>
          <p:spPr>
            <a:xfrm>
              <a:off x="4838369" y="4956048"/>
              <a:ext cx="29260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B8860B"/>
                  </a:solidFill>
                  <a:latin typeface="+mj-ea"/>
                  <a:ea typeface="+mj-ea"/>
                </a:rPr>
                <a:t>Reward   </a:t>
              </a:r>
              <a:r>
                <a:rPr lang="en-US" sz="1250" dirty="0">
                  <a:solidFill>
                    <a:srgbClr val="33333D"/>
                  </a:solidFill>
                  <a:latin typeface="+mj-ea"/>
                  <a:ea typeface="+mj-ea"/>
                </a:rPr>
                <a:t>answer F1 + 0.1·format</a:t>
              </a:r>
              <a:endParaRPr lang="en-US" sz="1400" dirty="0">
                <a:latin typeface="+mj-ea"/>
                <a:ea typeface="+mj-ea"/>
              </a:endParaRPr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63E04A0A-6275-329A-8AA6-099D8FADDF69}"/>
                </a:ext>
              </a:extLst>
            </p:cNvPr>
            <p:cNvSpPr/>
            <p:nvPr/>
          </p:nvSpPr>
          <p:spPr>
            <a:xfrm>
              <a:off x="8038769" y="4956048"/>
              <a:ext cx="35661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33333D"/>
                  </a:solidFill>
                  <a:latin typeface="+mj-ea"/>
                  <a:ea typeface="+mj-ea"/>
                </a:rPr>
                <a:t>GRPO   </a:t>
              </a:r>
              <a:r>
                <a:rPr lang="en-US" sz="1200" dirty="0">
                  <a:solidFill>
                    <a:srgbClr val="33333D"/>
                  </a:solidFill>
                  <a:latin typeface="+mj-ea"/>
                  <a:ea typeface="+mj-ea"/>
                </a:rPr>
                <a:t>G=5 group baseline + KL(참조 SFT)</a:t>
              </a:r>
              <a:endParaRPr lang="en-US" sz="1400" dirty="0">
                <a:latin typeface="+mj-ea"/>
                <a:ea typeface="+mj-ea"/>
              </a:endParaRPr>
            </a:p>
          </p:txBody>
        </p:sp>
        <p:sp>
          <p:nvSpPr>
            <p:cNvPr id="39" name="Shape 37">
              <a:extLst>
                <a:ext uri="{FF2B5EF4-FFF2-40B4-BE49-F238E27FC236}">
                  <a16:creationId xmlns:a16="http://schemas.microsoft.com/office/drawing/2014/main" id="{C8DF0CCF-AB4A-BCD5-6490-BC344584DE3B}"/>
                </a:ext>
              </a:extLst>
            </p:cNvPr>
            <p:cNvSpPr/>
            <p:nvPr/>
          </p:nvSpPr>
          <p:spPr>
            <a:xfrm>
              <a:off x="696137" y="5742432"/>
              <a:ext cx="11064240" cy="749808"/>
            </a:xfrm>
            <a:prstGeom prst="roundRect">
              <a:avLst>
                <a:gd name="adj" fmla="val 7317"/>
              </a:avLst>
            </a:prstGeom>
            <a:solidFill>
              <a:srgbClr val="ECE9FC"/>
            </a:solidFill>
            <a:ln w="15875">
              <a:solidFill>
                <a:srgbClr val="7B6FE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Shape 38">
              <a:extLst>
                <a:ext uri="{FF2B5EF4-FFF2-40B4-BE49-F238E27FC236}">
                  <a16:creationId xmlns:a16="http://schemas.microsoft.com/office/drawing/2014/main" id="{E6FA09F7-BFCF-8771-E6A4-50B150F05402}"/>
                </a:ext>
              </a:extLst>
            </p:cNvPr>
            <p:cNvSpPr/>
            <p:nvPr/>
          </p:nvSpPr>
          <p:spPr>
            <a:xfrm>
              <a:off x="696137" y="5742432"/>
              <a:ext cx="91440" cy="749808"/>
            </a:xfrm>
            <a:prstGeom prst="rect">
              <a:avLst/>
            </a:prstGeom>
            <a:solidFill>
              <a:srgbClr val="7B6FE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 39">
              <a:extLst>
                <a:ext uri="{FF2B5EF4-FFF2-40B4-BE49-F238E27FC236}">
                  <a16:creationId xmlns:a16="http://schemas.microsoft.com/office/drawing/2014/main" id="{F7D41784-6EE2-F3A7-5E65-FADDA63FB877}"/>
                </a:ext>
              </a:extLst>
            </p:cNvPr>
            <p:cNvSpPr/>
            <p:nvPr/>
          </p:nvSpPr>
          <p:spPr>
            <a:xfrm>
              <a:off x="997889" y="5742432"/>
              <a:ext cx="10515600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sz="1500" b="1" dirty="0">
                  <a:solidFill>
                    <a:srgbClr val="7B6FEF"/>
                  </a:solidFill>
                  <a:latin typeface="+mj-ea"/>
                  <a:ea typeface="+mj-ea"/>
                </a:rPr>
                <a:t>핵심  </a:t>
              </a:r>
              <a:r>
                <a:rPr lang="en-US" sz="1450" dirty="0">
                  <a:solidFill>
                    <a:srgbClr val="33333D"/>
                  </a:solidFill>
                  <a:latin typeface="+mj-ea"/>
                  <a:ea typeface="+mj-ea"/>
                </a:rPr>
                <a:t>PART 1의 병목은 selector의 </a:t>
              </a:r>
              <a:r>
                <a:rPr lang="en-US" sz="1450" b="1" dirty="0">
                  <a:solidFill>
                    <a:srgbClr val="33333D"/>
                  </a:solidFill>
                  <a:latin typeface="+mj-ea"/>
                  <a:ea typeface="+mj-ea"/>
                </a:rPr>
                <a:t>추론 용량 부재</a:t>
              </a:r>
              <a:r>
                <a:rPr lang="en-US" sz="1450" dirty="0">
                  <a:solidFill>
                    <a:srgbClr val="33333D"/>
                  </a:solidFill>
                  <a:latin typeface="+mj-ea"/>
                  <a:ea typeface="+mj-ea"/>
                </a:rPr>
                <a:t> — 학습 대상을 LLM 자체로 옮겨 추론·검색을 LLM 안에서 수행하고, outcome F1 보상으로 </a:t>
              </a:r>
              <a:r>
                <a:rPr lang="en-US" sz="1450" b="1" dirty="0">
                  <a:solidFill>
                    <a:srgbClr val="33333D"/>
                  </a:solidFill>
                  <a:latin typeface="+mj-ea"/>
                  <a:ea typeface="+mj-ea"/>
                </a:rPr>
                <a:t>GRPO로 최적화</a:t>
              </a:r>
              <a:r>
                <a:rPr lang="en-US" sz="1450" dirty="0">
                  <a:solidFill>
                    <a:srgbClr val="33333D"/>
                  </a:solidFill>
                  <a:latin typeface="+mj-ea"/>
                  <a:ea typeface="+mj-ea"/>
                </a:rPr>
                <a:t>한다.</a:t>
              </a:r>
              <a:endParaRPr lang="en-US" sz="15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5993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400" b="1" spc="100" dirty="0">
                <a:solidFill>
                  <a:srgbClr val="7B6FF0"/>
                </a:solidFill>
                <a:latin typeface="+mj-ea"/>
                <a:ea typeface="+mj-ea"/>
                <a:cs typeface="Calibri"/>
              </a:rPr>
              <a:t>PART 1 → PART 2 · 전환</a:t>
            </a:r>
          </a:p>
        </p:txBody>
      </p:sp>
      <p:sp>
        <p:nvSpPr>
          <p:cNvPr id="14" name="title"/>
          <p:cNvSpPr/>
          <p:nvPr/>
        </p:nvSpPr>
        <p:spPr>
          <a:xfrm>
            <a:off x="685800" y="822960"/>
            <a:ext cx="10820400" cy="60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PART 1의 한계 → PART 2의 보완</a:t>
            </a:r>
          </a:p>
        </p:txBody>
      </p:sp>
      <p:sp>
        <p:nvSpPr>
          <p:cNvPr id="2" name="tb"/>
          <p:cNvSpPr/>
          <p:nvPr/>
        </p:nvSpPr>
        <p:spPr>
          <a:xfrm>
            <a:off x="685800" y="148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PART 1의 결론이 곧 PART 2의 출발점 — </a:t>
            </a:r>
            <a:r>
              <a:rPr lang="en-US" sz="1400" b="0" dirty="0">
                <a:solidFill>
                  <a:srgbClr val="5C4FD4"/>
                </a:solidFill>
                <a:latin typeface="+mj-ea"/>
                <a:ea typeface="+mj-ea"/>
                <a:cs typeface="Calibri"/>
              </a:rPr>
              <a:t>무엇을 보완하려 했는가</a:t>
            </a:r>
          </a:p>
        </p:txBody>
      </p:sp>
      <p:sp>
        <p:nvSpPr>
          <p:cNvPr id="3" name="box"/>
          <p:cNvSpPr/>
          <p:nvPr/>
        </p:nvSpPr>
        <p:spPr>
          <a:xfrm>
            <a:off x="685800" y="2080000"/>
            <a:ext cx="5180000" cy="3650000"/>
          </a:xfrm>
          <a:prstGeom prst="roundRect">
            <a:avLst>
              <a:gd name="adj" fmla="val 5279"/>
            </a:avLst>
          </a:prstGeom>
          <a:solidFill>
            <a:srgbClr val="F6DEDE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5" name="tb"/>
          <p:cNvSpPr/>
          <p:nvPr/>
        </p:nvSpPr>
        <p:spPr>
          <a:xfrm>
            <a:off x="985800" y="2300000"/>
            <a:ext cx="45800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+mj-ea"/>
                <a:ea typeface="+mj-ea"/>
                <a:cs typeface="Arial"/>
              </a:rPr>
              <a:t>PART 1이 멈춘 지점</a:t>
            </a:r>
          </a:p>
        </p:txBody>
      </p:sp>
      <p:sp>
        <p:nvSpPr>
          <p:cNvPr id="15" name="tb"/>
          <p:cNvSpPr/>
          <p:nvPr/>
        </p:nvSpPr>
        <p:spPr>
          <a:xfrm>
            <a:off x="985800" y="2880000"/>
            <a:ext cx="4580000" cy="2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• RL(0.355)이 cosine </a:t>
            </a:r>
            <a:r>
              <a:rPr lang="ko-KR" altLang="en-US" sz="1250" b="1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휴리스틱</a:t>
            </a:r>
            <a:r>
              <a:rPr lang="en-US" sz="1250" b="1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(0.370)을 못 넘음</a:t>
            </a:r>
          </a:p>
          <a:p>
            <a:pPr marL="0" indent="0">
              <a:lnSpc>
                <a:spcPct val="124000"/>
              </a:lnSpc>
              <a:buNone/>
            </a:pPr>
            <a:r>
              <a:rPr lang="en-US" sz="118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• 이겨야 할 bridge(multi-hop)에서 오히려 더 낮음 (0.316 &lt; 0.35)</a:t>
            </a:r>
          </a:p>
          <a:p>
            <a:pPr marL="0" indent="0">
              <a:lnSpc>
                <a:spcPct val="124000"/>
              </a:lnSpc>
              <a:buNone/>
            </a:pPr>
            <a:r>
              <a:rPr lang="en-US" sz="118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• 새 도메인 transfer에서 −24% 폭락, cosine 휴리스틱은 견고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180" b="0" dirty="0">
              <a:solidFill>
                <a:srgbClr val="1F1F27"/>
              </a:solidFill>
              <a:latin typeface="+mj-ea"/>
              <a:ea typeface="+mj-ea"/>
              <a:cs typeface="Calibri"/>
            </a:endParaRPr>
          </a:p>
          <a:p>
            <a:pPr marL="0" indent="0">
              <a:lnSpc>
                <a:spcPct val="124000"/>
              </a:lnSpc>
              <a:buNone/>
            </a:pPr>
            <a:r>
              <a:rPr lang="en-US" sz="1400" b="1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진단: </a:t>
            </a:r>
          </a:p>
          <a:p>
            <a:pPr marL="0" indent="0">
              <a:lnSpc>
                <a:spcPct val="124000"/>
              </a:lnSpc>
              <a:buNone/>
            </a:pPr>
            <a:r>
              <a:rPr lang="en-US" sz="1200" b="0" dirty="0" err="1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정책이</a:t>
            </a:r>
            <a:r>
              <a:rPr lang="en-US" sz="120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 유사도 feature 위 작은 MLP라 multi-hop </a:t>
            </a:r>
            <a:r>
              <a:rPr lang="en-US" sz="1200" b="0" dirty="0" err="1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추론</a:t>
            </a:r>
            <a:r>
              <a:rPr lang="ko-KR" altLang="en-US" sz="120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을 학습하기에 표현력이 제한적이었을 가능성이 있음</a:t>
            </a:r>
            <a:endParaRPr lang="en-US" altLang="ko-KR" sz="1200" b="0" dirty="0">
              <a:solidFill>
                <a:srgbClr val="1F1F27"/>
              </a:solidFill>
              <a:latin typeface="+mj-ea"/>
              <a:ea typeface="+mj-ea"/>
              <a:cs typeface="Calibri"/>
            </a:endParaRPr>
          </a:p>
          <a:p>
            <a:pPr marL="0" indent="0">
              <a:lnSpc>
                <a:spcPct val="124000"/>
              </a:lnSpc>
              <a:buNone/>
            </a:pPr>
            <a:r>
              <a:rPr lang="en-US" sz="120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.</a:t>
            </a:r>
            <a:r>
              <a:rPr lang="en-US" sz="1200" b="0" dirty="0" err="1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LLM은</a:t>
            </a:r>
            <a:r>
              <a:rPr lang="en-US" sz="120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 freeze. → </a:t>
            </a:r>
            <a:r>
              <a:rPr lang="en-US" sz="1200" b="1" dirty="0">
                <a:solidFill>
                  <a:srgbClr val="C0392B"/>
                </a:solidFill>
                <a:latin typeface="+mj-ea"/>
                <a:ea typeface="+mj-ea"/>
                <a:cs typeface="Calibri"/>
              </a:rPr>
              <a:t>multi-hop 추론 용량이 구조적으로 부재.</a:t>
            </a:r>
          </a:p>
        </p:txBody>
      </p:sp>
      <p:sp>
        <p:nvSpPr>
          <p:cNvPr id="16" name="arr"/>
          <p:cNvSpPr/>
          <p:nvPr/>
        </p:nvSpPr>
        <p:spPr>
          <a:xfrm>
            <a:off x="5980000" y="3650000"/>
            <a:ext cx="420000" cy="420000"/>
          </a:xfrm>
          <a:prstGeom prst="rightArrow">
            <a:avLst/>
          </a:prstGeom>
          <a:solidFill>
            <a:srgbClr val="F4B74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7" name="box"/>
          <p:cNvSpPr/>
          <p:nvPr/>
        </p:nvSpPr>
        <p:spPr>
          <a:xfrm>
            <a:off x="6520000" y="2080000"/>
            <a:ext cx="4986200" cy="3650000"/>
          </a:xfrm>
          <a:prstGeom prst="roundRect">
            <a:avLst>
              <a:gd name="adj" fmla="val 3572"/>
            </a:avLst>
          </a:prstGeom>
          <a:solidFill>
            <a:srgbClr val="EFECF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9" name="tb"/>
          <p:cNvSpPr/>
          <p:nvPr/>
        </p:nvSpPr>
        <p:spPr>
          <a:xfrm>
            <a:off x="6820000" y="2300000"/>
            <a:ext cx="43862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7B6FF0"/>
                </a:solidFill>
                <a:latin typeface="+mj-ea"/>
                <a:ea typeface="+mj-ea"/>
                <a:cs typeface="Arial"/>
              </a:rPr>
              <a:t>PART 2가 바꾼 것</a:t>
            </a:r>
          </a:p>
        </p:txBody>
      </p:sp>
      <p:sp>
        <p:nvSpPr>
          <p:cNvPr id="20" name="tb"/>
          <p:cNvSpPr/>
          <p:nvPr/>
        </p:nvSpPr>
        <p:spPr>
          <a:xfrm>
            <a:off x="6820000" y="2880000"/>
            <a:ext cx="4386200" cy="2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5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• </a:t>
            </a:r>
            <a:r>
              <a:rPr lang="ko-KR" altLang="en-US" sz="125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학습 대상을 </a:t>
            </a:r>
            <a:r>
              <a:rPr lang="en-US" altLang="ko-KR" sz="125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selector</a:t>
            </a:r>
            <a:r>
              <a:rPr lang="ko-KR" altLang="en-US" sz="125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에서 </a:t>
            </a:r>
            <a:r>
              <a:rPr lang="en-US" altLang="ko-KR" sz="125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LLM</a:t>
            </a:r>
            <a:r>
              <a:rPr lang="ko-KR" altLang="en-US" sz="125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으로 이동</a:t>
            </a:r>
            <a:endParaRPr lang="en-US" altLang="ko-KR" sz="1250" b="0" dirty="0">
              <a:solidFill>
                <a:srgbClr val="1F1F27"/>
              </a:solidFill>
              <a:latin typeface="+mj-ea"/>
              <a:ea typeface="+mj-ea"/>
              <a:cs typeface="Calibri"/>
            </a:endParaRPr>
          </a:p>
          <a:p>
            <a:pPr marL="0" indent="0">
              <a:lnSpc>
                <a:spcPct val="124000"/>
              </a:lnSpc>
              <a:buNone/>
            </a:pPr>
            <a:r>
              <a:rPr lang="en-US" sz="118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• 추론을 LLM </a:t>
            </a:r>
            <a:r>
              <a:rPr lang="ko-KR" altLang="en-US" sz="118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내부</a:t>
            </a:r>
            <a:r>
              <a:rPr lang="en-US" sz="1180" b="0" dirty="0" err="1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에서</a:t>
            </a:r>
            <a:r>
              <a:rPr lang="en-US" sz="118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 수행 (Search-R1: think→search→answer)</a:t>
            </a:r>
          </a:p>
          <a:p>
            <a:pPr marL="0" indent="0">
              <a:lnSpc>
                <a:spcPct val="124000"/>
              </a:lnSpc>
              <a:buNone/>
            </a:pPr>
            <a:r>
              <a:rPr lang="en-US" sz="118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• Qwen </a:t>
            </a:r>
            <a:r>
              <a:rPr lang="en-US" sz="1180" b="0" dirty="0" err="1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LoRA를</a:t>
            </a:r>
            <a:r>
              <a:rPr lang="en-US" sz="118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 </a:t>
            </a:r>
            <a:r>
              <a:rPr lang="en-US" altLang="ko-KR" sz="118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SFT → GRPO</a:t>
            </a:r>
            <a:r>
              <a:rPr lang="ko-KR" altLang="en-US" sz="118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를 적용하여 검색</a:t>
            </a:r>
            <a:r>
              <a:rPr lang="en-US" altLang="ko-KR" sz="118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·</a:t>
            </a:r>
            <a:r>
              <a:rPr lang="ko-KR" altLang="en-US" sz="118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추론 정책을 직접 학습</a:t>
            </a:r>
            <a:endParaRPr lang="en-US" altLang="ko-KR" sz="1180" b="0" dirty="0">
              <a:solidFill>
                <a:srgbClr val="1F1F27"/>
              </a:solidFill>
              <a:latin typeface="+mj-ea"/>
              <a:ea typeface="+mj-ea"/>
              <a:cs typeface="Calibri"/>
            </a:endParaRPr>
          </a:p>
          <a:p>
            <a:pPr marL="0" indent="0">
              <a:lnSpc>
                <a:spcPct val="124000"/>
              </a:lnSpc>
              <a:buNone/>
            </a:pPr>
            <a:endParaRPr lang="en-US" sz="1180" b="0" dirty="0">
              <a:solidFill>
                <a:srgbClr val="1F1F27"/>
              </a:solidFill>
              <a:latin typeface="+mj-ea"/>
              <a:ea typeface="+mj-ea"/>
              <a:cs typeface="Calibri"/>
            </a:endParaRPr>
          </a:p>
          <a:p>
            <a:pPr marL="0" indent="0">
              <a:lnSpc>
                <a:spcPct val="124000"/>
              </a:lnSpc>
              <a:buNone/>
            </a:pPr>
            <a:r>
              <a:rPr lang="en-US" sz="1400" b="1" dirty="0" err="1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핵심</a:t>
            </a:r>
            <a:r>
              <a:rPr lang="en-US" sz="1400" b="1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:</a:t>
            </a:r>
          </a:p>
          <a:p>
            <a:pPr marL="0" indent="0">
              <a:lnSpc>
                <a:spcPct val="124000"/>
              </a:lnSpc>
              <a:buNone/>
            </a:pPr>
            <a:r>
              <a:rPr lang="en-US" sz="1200" b="0" dirty="0" err="1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같은</a:t>
            </a:r>
            <a:r>
              <a:rPr lang="en-US" sz="120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 "supervised warmup → RL" 레시피를 </a:t>
            </a:r>
            <a:r>
              <a:rPr lang="en-US" sz="1200" b="1" dirty="0">
                <a:solidFill>
                  <a:srgbClr val="7B6FF0"/>
                </a:solidFill>
                <a:latin typeface="+mj-ea"/>
                <a:ea typeface="+mj-ea"/>
                <a:cs typeface="Calibri"/>
              </a:rPr>
              <a:t>selector가 아니라 LLM에 적용</a:t>
            </a:r>
            <a:r>
              <a:rPr lang="en-US" sz="120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. </a:t>
            </a:r>
            <a:br>
              <a:rPr lang="en-US" sz="120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</a:br>
            <a:r>
              <a:rPr lang="ko-KR" altLang="en-US" sz="120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동일한 </a:t>
            </a:r>
            <a:r>
              <a:rPr lang="en-US" altLang="ko-KR" sz="120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SFT→RL </a:t>
            </a:r>
            <a:r>
              <a:rPr lang="ko-KR" altLang="en-US" sz="120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학습 절차를 유지하되</a:t>
            </a:r>
            <a:r>
              <a:rPr lang="en-US" altLang="ko-KR" sz="120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, </a:t>
            </a:r>
            <a:r>
              <a:rPr lang="ko-KR" altLang="en-US" sz="120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학습 대상을 </a:t>
            </a:r>
            <a:r>
              <a:rPr lang="en-US" altLang="ko-KR" sz="120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selector</a:t>
            </a:r>
            <a:r>
              <a:rPr lang="ko-KR" altLang="en-US" sz="120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가 아닌 </a:t>
            </a:r>
            <a:r>
              <a:rPr lang="en-US" altLang="ko-KR" sz="120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LLM</a:t>
            </a:r>
            <a:r>
              <a:rPr lang="ko-KR" altLang="en-US" sz="120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으로 변경함</a:t>
            </a:r>
            <a:r>
              <a:rPr lang="en-US" altLang="ko-KR" sz="1200" b="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.</a:t>
            </a:r>
          </a:p>
          <a:p>
            <a:pPr marL="0" indent="0">
              <a:lnSpc>
                <a:spcPct val="124000"/>
              </a:lnSpc>
              <a:buNone/>
            </a:pPr>
            <a:endParaRPr lang="en-US" sz="1200" b="0" dirty="0">
              <a:solidFill>
                <a:srgbClr val="1F1F27"/>
              </a:solidFill>
              <a:latin typeface="+mj-ea"/>
              <a:ea typeface="+mj-ea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PART 2</a:t>
            </a:r>
            <a:r>
              <a:rPr lang="en-US" altLang="ko-KR" sz="1400" b="1" kern="0" spc="100" dirty="0">
                <a:solidFill>
                  <a:srgbClr val="7B6FF0"/>
                </a:solidFill>
                <a:latin typeface="+mj-ea"/>
                <a:cs typeface="Calibri" pitchFamily="34" charset="-120"/>
              </a:rPr>
              <a:t> ·</a:t>
            </a:r>
            <a:r>
              <a:rPr lang="ko-KR" alt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1400" b="1" kern="0" spc="100" dirty="0" err="1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진단</a:t>
            </a: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 → 처방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추론을 LLM 안으로 — Search-R1 방식 SFT→GRPO</a:t>
            </a:r>
            <a:endParaRPr lang="en-US" sz="2900" dirty="0">
              <a:latin typeface="+mj-ea"/>
              <a:ea typeface="+mj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645919"/>
            <a:ext cx="10820095" cy="159339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645919"/>
            <a:ext cx="109728" cy="1593391"/>
          </a:xfrm>
          <a:prstGeom prst="rect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560" y="1883665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배경. 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  <a:cs typeface="Calibri" pitchFamily="34" charset="-120"/>
              </a:rPr>
              <a:t>PART 1</a:t>
            </a:r>
            <a:r>
              <a:rPr lang="ko-KR" altLang="en-US" sz="1500" dirty="0">
                <a:latin typeface="+mj-ea"/>
                <a:ea typeface="+mj-ea"/>
                <a:cs typeface="Calibri" pitchFamily="34" charset="-120"/>
              </a:rPr>
              <a:t>에서 </a:t>
            </a:r>
            <a:r>
              <a:rPr lang="ko-KR" altLang="ko-KR" sz="1600" dirty="0" err="1">
                <a:latin typeface="+mj-ea"/>
                <a:ea typeface="+mj-ea"/>
              </a:rPr>
              <a:t>frozen</a:t>
            </a:r>
            <a:r>
              <a:rPr lang="ko-KR" altLang="ko-KR" sz="1600" dirty="0">
                <a:latin typeface="+mj-ea"/>
                <a:ea typeface="+mj-ea"/>
              </a:rPr>
              <a:t> LLM 위에 </a:t>
            </a:r>
            <a:r>
              <a:rPr lang="ko-KR" altLang="ko-KR" sz="1600" dirty="0" err="1">
                <a:latin typeface="+mj-ea"/>
                <a:ea typeface="+mj-ea"/>
              </a:rPr>
              <a:t>selector를</a:t>
            </a:r>
            <a:r>
              <a:rPr lang="ko-KR" altLang="ko-KR" sz="1600" dirty="0">
                <a:latin typeface="+mj-ea"/>
                <a:ea typeface="+mj-ea"/>
              </a:rPr>
              <a:t> 두고 </a:t>
            </a:r>
            <a:r>
              <a:rPr lang="ko-KR" altLang="ko-KR" sz="1600" dirty="0" err="1">
                <a:latin typeface="+mj-ea"/>
                <a:ea typeface="+mj-ea"/>
              </a:rPr>
              <a:t>REINFORCE+baseline으로</a:t>
            </a:r>
            <a:r>
              <a:rPr lang="ko-KR" altLang="ko-KR" sz="1600" dirty="0">
                <a:latin typeface="+mj-ea"/>
                <a:ea typeface="+mj-ea"/>
              </a:rPr>
              <a:t> 학습했지만</a:t>
            </a:r>
            <a:r>
              <a:rPr lang="ko-KR" altLang="en-US" sz="1500" dirty="0"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1500" dirty="0">
                <a:latin typeface="+mj-ea"/>
                <a:ea typeface="+mj-ea"/>
                <a:cs typeface="Calibri" pitchFamily="34" charset="-120"/>
              </a:rPr>
              <a:t>RL </a:t>
            </a:r>
            <a:r>
              <a:rPr lang="ko-KR" altLang="en-US" sz="1500" dirty="0">
                <a:latin typeface="+mj-ea"/>
                <a:ea typeface="+mj-ea"/>
                <a:cs typeface="Calibri" pitchFamily="34" charset="-120"/>
              </a:rPr>
              <a:t>기반 </a:t>
            </a:r>
            <a:r>
              <a:rPr lang="en-US" altLang="ko-KR" sz="1500" dirty="0">
                <a:latin typeface="+mj-ea"/>
                <a:ea typeface="+mj-ea"/>
                <a:cs typeface="Calibri" pitchFamily="34" charset="-120"/>
              </a:rPr>
              <a:t>selector</a:t>
            </a:r>
            <a:r>
              <a:rPr lang="ko-KR" altLang="en-US" sz="1500" dirty="0">
                <a:latin typeface="+mj-ea"/>
                <a:ea typeface="+mj-ea"/>
                <a:cs typeface="Calibri" pitchFamily="34" charset="-120"/>
              </a:rPr>
              <a:t>는 </a:t>
            </a:r>
            <a:r>
              <a:rPr lang="en-US" altLang="ko-KR" sz="1500" dirty="0">
                <a:latin typeface="+mj-ea"/>
                <a:ea typeface="+mj-ea"/>
                <a:cs typeface="Calibri" pitchFamily="34" charset="-120"/>
              </a:rPr>
              <a:t>cosine </a:t>
            </a:r>
            <a:r>
              <a:rPr lang="ko-KR" altLang="en-US" sz="1500" dirty="0">
                <a:latin typeface="+mj-ea"/>
                <a:ea typeface="+mj-ea"/>
                <a:cs typeface="Calibri" pitchFamily="34" charset="-120"/>
              </a:rPr>
              <a:t>휴리스틱을 넘지 못함</a:t>
            </a:r>
            <a:r>
              <a:rPr lang="en-US" altLang="ko-KR" sz="1500" dirty="0">
                <a:latin typeface="+mj-ea"/>
                <a:ea typeface="+mj-ea"/>
                <a:cs typeface="Calibri" pitchFamily="34" charset="-120"/>
              </a:rPr>
              <a:t>.(0.355 &lt; 0.370). 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  <a:cs typeface="Calibri" pitchFamily="34" charset="-120"/>
              </a:rPr>
              <a:t>우리는 이를 </a:t>
            </a:r>
            <a:r>
              <a:rPr lang="en-US" altLang="ko-KR" sz="1500" dirty="0">
                <a:latin typeface="+mj-ea"/>
                <a:ea typeface="+mj-ea"/>
                <a:cs typeface="Calibri" pitchFamily="34" charset="-120"/>
              </a:rPr>
              <a:t>selector</a:t>
            </a:r>
            <a:r>
              <a:rPr lang="ko-KR" altLang="en-US" sz="1500" dirty="0">
                <a:latin typeface="+mj-ea"/>
                <a:ea typeface="+mj-ea"/>
                <a:cs typeface="Calibri" pitchFamily="34" charset="-120"/>
              </a:rPr>
              <a:t>의 제한된 추론 용량 때문으로 해석했고</a:t>
            </a:r>
            <a:r>
              <a:rPr lang="en-US" altLang="ko-KR" sz="1500" dirty="0">
                <a:latin typeface="+mj-ea"/>
                <a:ea typeface="+mj-ea"/>
                <a:cs typeface="Calibri" pitchFamily="34" charset="-120"/>
              </a:rPr>
              <a:t>, PART 1</a:t>
            </a:r>
            <a:r>
              <a:rPr lang="ko-KR" altLang="en-US" sz="1500" dirty="0">
                <a:latin typeface="+mj-ea"/>
                <a:ea typeface="+mj-ea"/>
                <a:cs typeface="Calibri" pitchFamily="34" charset="-120"/>
              </a:rPr>
              <a:t>의 </a:t>
            </a:r>
            <a:r>
              <a:rPr lang="en-US" altLang="ko-KR" sz="1500" dirty="0">
                <a:latin typeface="+mj-ea"/>
                <a:ea typeface="+mj-ea"/>
                <a:cs typeface="Calibri" pitchFamily="34" charset="-120"/>
              </a:rPr>
              <a:t>Future Work</a:t>
            </a:r>
            <a:r>
              <a:rPr lang="ko-KR" altLang="en-US" sz="1500" dirty="0">
                <a:latin typeface="+mj-ea"/>
                <a:ea typeface="+mj-ea"/>
                <a:cs typeface="Calibri" pitchFamily="34" charset="-120"/>
              </a:rPr>
              <a:t>였던 </a:t>
            </a:r>
            <a:r>
              <a:rPr lang="en-US" altLang="ko-KR" sz="1500" dirty="0">
                <a:latin typeface="+mj-ea"/>
                <a:ea typeface="+mj-ea"/>
                <a:cs typeface="Calibri" pitchFamily="34" charset="-120"/>
              </a:rPr>
              <a:t>Search-R1(SFT→GRPO)</a:t>
            </a:r>
            <a:r>
              <a:rPr lang="ko-KR" altLang="en-US" sz="1500" dirty="0">
                <a:latin typeface="+mj-ea"/>
                <a:ea typeface="+mj-ea"/>
                <a:cs typeface="Calibri" pitchFamily="34" charset="-120"/>
              </a:rPr>
              <a:t>을 실제로 구현하여 이 가설을 검증하고자 함</a:t>
            </a:r>
            <a:r>
              <a:rPr lang="en-US" altLang="ko-KR" sz="1500" dirty="0">
                <a:latin typeface="+mj-ea"/>
                <a:ea typeface="+mj-ea"/>
                <a:cs typeface="Calibri" pitchFamily="34" charset="-120"/>
              </a:rPr>
              <a:t>. PART 2</a:t>
            </a:r>
            <a:r>
              <a:rPr lang="ko-KR" altLang="en-US" sz="1500" dirty="0">
                <a:latin typeface="+mj-ea"/>
                <a:ea typeface="+mj-ea"/>
                <a:cs typeface="Calibri" pitchFamily="34" charset="-120"/>
              </a:rPr>
              <a:t>의 목표는 추론을 </a:t>
            </a:r>
            <a:r>
              <a:rPr lang="en-US" altLang="ko-KR" sz="1500" dirty="0">
                <a:latin typeface="+mj-ea"/>
                <a:ea typeface="+mj-ea"/>
                <a:cs typeface="Calibri" pitchFamily="34" charset="-120"/>
              </a:rPr>
              <a:t>LLM </a:t>
            </a:r>
            <a:r>
              <a:rPr lang="ko-KR" altLang="en-US" sz="1500" dirty="0">
                <a:latin typeface="+mj-ea"/>
                <a:ea typeface="+mj-ea"/>
                <a:cs typeface="Calibri" pitchFamily="34" charset="-120"/>
              </a:rPr>
              <a:t>내부로 옮겼을 때 성능이 개선되는지 확인하는 것임</a:t>
            </a:r>
            <a:r>
              <a:rPr lang="en-US" altLang="ko-KR" sz="1500" dirty="0">
                <a:latin typeface="+mj-ea"/>
                <a:ea typeface="+mj-ea"/>
                <a:cs typeface="Calibri" pitchFamily="34" charset="-120"/>
              </a:rPr>
              <a:t>.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3429001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가설 (Hypotheses)</a:t>
            </a:r>
            <a:endParaRPr lang="en-US" sz="1700" dirty="0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85800" y="3877057"/>
            <a:ext cx="475488" cy="475488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387705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1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71600" y="3858769"/>
            <a:ext cx="10042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HA-1 · 추론 용량 가설
</a:t>
            </a:r>
            <a:r>
              <a:rPr lang="en-US" sz="1250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추론을 LLM 안에 두면(SFT search) 추론 없는 selector·cosine 휴리스틱을 in-domain에서 넘는다.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85800" y="4791457"/>
            <a:ext cx="475488" cy="475488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" y="479145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2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71600" y="4773169"/>
            <a:ext cx="10042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HA-2 · RL 추가이득
</a:t>
            </a:r>
            <a:r>
              <a:rPr lang="en-US" sz="1250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outcome F1 보상의 RL(GRPO)이 SFT 위에 추가 이득을 준다. 어떤 hop 타입에서 나타나는가?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5800" y="5705857"/>
            <a:ext cx="475488" cy="475488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5800" y="570585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3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71600" y="5687569"/>
            <a:ext cx="10042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HA-3 · 도메인 전이
</a:t>
            </a:r>
            <a:r>
              <a:rPr lang="en-US" sz="1250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파인튜닝된 search 정책의 도메인 전이는? 학습 </a:t>
            </a:r>
            <a:r>
              <a:rPr lang="en-US" sz="1250" dirty="0" err="1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없는</a:t>
            </a:r>
            <a:r>
              <a:rPr lang="en-US" sz="1250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 cosine </a:t>
            </a:r>
            <a:r>
              <a:rPr lang="ko-KR" altLang="en-US" sz="1250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휴리스틱</a:t>
            </a:r>
            <a:r>
              <a:rPr lang="en-US" sz="1250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 대비 우열은 어떻게 되는가?</a:t>
            </a:r>
            <a:endParaRPr lang="en-US" sz="15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PART 2</a:t>
            </a:r>
            <a:r>
              <a:rPr lang="en-US" altLang="ko-KR" sz="1400" b="1" kern="0" spc="100" dirty="0">
                <a:solidFill>
                  <a:srgbClr val="7B6FF0"/>
                </a:solidFill>
                <a:latin typeface="+mj-ea"/>
                <a:cs typeface="Calibri" pitchFamily="34" charset="-120"/>
              </a:rPr>
              <a:t> ·</a:t>
            </a:r>
            <a:r>
              <a:rPr lang="ko-KR" alt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1400" b="1" kern="0" spc="100" dirty="0" err="1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방법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검색·추론을 LLM 안에서 — SFT warmup → GRPO</a:t>
            </a:r>
            <a:endParaRPr lang="en-US" sz="29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799" y="1495552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35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Qwen2.5-0.5B-Instruct</a:t>
            </a:r>
            <a:r>
              <a:rPr lang="ko-KR" altLang="en-US" sz="135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를 </a:t>
            </a:r>
            <a:r>
              <a:rPr lang="en-US" altLang="ko-KR" sz="1350" i="1" dirty="0" err="1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LoRA</a:t>
            </a:r>
            <a:r>
              <a:rPr lang="en-US" altLang="ko-KR" sz="135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(r=16, q/k/v/o)</a:t>
            </a:r>
            <a:r>
              <a:rPr lang="ko-KR" altLang="en-US" sz="135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로 </a:t>
            </a:r>
            <a:r>
              <a:rPr lang="ko-KR" altLang="en-US" sz="1350" i="1" dirty="0" err="1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파인튜닝함</a:t>
            </a:r>
            <a:r>
              <a:rPr lang="en-US" altLang="ko-KR" sz="135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. </a:t>
            </a:r>
            <a:r>
              <a:rPr lang="ko-KR" altLang="en-US" sz="135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검색 결과는 별도 대화 턴이 아닌 동일 </a:t>
            </a:r>
            <a:r>
              <a:rPr lang="en-US" altLang="ko-KR" sz="135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assistant </a:t>
            </a:r>
            <a:r>
              <a:rPr lang="ko-KR" altLang="en-US" sz="135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턴 내에 </a:t>
            </a:r>
            <a:r>
              <a:rPr lang="en-US" altLang="ko-KR" sz="135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inline</a:t>
            </a:r>
            <a:r>
              <a:rPr lang="ko-KR" altLang="en-US" sz="135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으로 주입되어 추론과 답변 생성에 활용됨</a:t>
            </a:r>
            <a:r>
              <a:rPr lang="en-US" altLang="ko-KR" sz="135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2001520"/>
            <a:ext cx="3423818" cy="2128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2001520"/>
            <a:ext cx="3423818" cy="530352"/>
          </a:xfrm>
          <a:prstGeom prst="rect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2001520"/>
            <a:ext cx="34238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PROTOCOL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86968" y="2717800"/>
            <a:ext cx="30214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35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1. Think </a:t>
            </a:r>
            <a:r>
              <a:rPr lang="en-US" altLang="ko-KR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: </a:t>
            </a: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추론 계획 수립</a:t>
            </a:r>
            <a:endParaRPr lang="en-US" altLang="ko-KR" sz="1350" dirty="0">
              <a:solidFill>
                <a:srgbClr val="1F1F27"/>
              </a:solidFill>
              <a:latin typeface="+mj-ea"/>
              <a:ea typeface="+mj-ea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35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2. Search </a:t>
            </a:r>
            <a:r>
              <a:rPr lang="en-US" altLang="ko-KR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: </a:t>
            </a: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검색 질의 생성</a:t>
            </a:r>
            <a:endParaRPr lang="en-US" altLang="ko-KR" sz="1350" dirty="0">
              <a:solidFill>
                <a:srgbClr val="1F1F27"/>
              </a:solidFill>
              <a:latin typeface="+mj-ea"/>
              <a:ea typeface="+mj-ea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35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3. Information :</a:t>
            </a:r>
            <a:r>
              <a:rPr lang="en-US" altLang="ko-KR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검색 결과 주입</a:t>
            </a:r>
            <a:endParaRPr lang="en-US" altLang="ko-KR" sz="1350" dirty="0">
              <a:solidFill>
                <a:srgbClr val="1F1F27"/>
              </a:solidFill>
              <a:latin typeface="+mj-ea"/>
              <a:ea typeface="+mj-ea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35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4. Answer </a:t>
            </a:r>
            <a:r>
              <a:rPr lang="en-US" altLang="ko-KR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: </a:t>
            </a: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최종 답변 생성</a:t>
            </a:r>
            <a:endParaRPr lang="en-US" altLang="ko-KR" sz="1350" dirty="0">
              <a:solidFill>
                <a:srgbClr val="1F1F27"/>
              </a:solidFill>
              <a:latin typeface="+mj-ea"/>
              <a:ea typeface="+mj-ea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(</a:t>
            </a: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후보 풀 내 </a:t>
            </a:r>
            <a:r>
              <a:rPr lang="en-US" altLang="ko-KR" sz="135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MiniLM</a:t>
            </a:r>
            <a:r>
              <a:rPr lang="en-US" altLang="ko-KR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Top-2 </a:t>
            </a: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검색</a:t>
            </a:r>
            <a:r>
              <a:rPr lang="en-US" altLang="ko-KR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)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83938" y="2001520"/>
            <a:ext cx="3423818" cy="2128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83938" y="2001520"/>
            <a:ext cx="3423818" cy="530352"/>
          </a:xfrm>
          <a:prstGeom prst="rect">
            <a:avLst/>
          </a:prstGeom>
          <a:solidFill>
            <a:srgbClr val="F4C5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3938" y="2001520"/>
            <a:ext cx="34238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4A00"/>
                </a:solidFill>
                <a:latin typeface="+mj-ea"/>
                <a:ea typeface="+mj-ea"/>
                <a:cs typeface="Arial" pitchFamily="34" charset="-120"/>
              </a:rPr>
              <a:t>SFT WARMUP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84522" y="2609596"/>
            <a:ext cx="32226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35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supporting_facts</a:t>
            </a:r>
            <a:r>
              <a:rPr 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기반 </a:t>
            </a:r>
            <a:r>
              <a:rPr lang="ko-KR" altLang="en-US" sz="135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멀티홉</a:t>
            </a: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trace </a:t>
            </a: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생성</a:t>
            </a:r>
            <a:endParaRPr lang="en-US" altLang="ko-KR" sz="1350" dirty="0">
              <a:solidFill>
                <a:srgbClr val="1F1F27"/>
              </a:solidFill>
              <a:latin typeface="+mj-ea"/>
              <a:ea typeface="+mj-ea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35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think→search→answer</a:t>
            </a:r>
            <a:r>
              <a:rPr 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절차 학습</a:t>
            </a:r>
            <a:endParaRPr lang="en-US" altLang="ko-KR" sz="1350" dirty="0">
              <a:solidFill>
                <a:srgbClr val="1F1F27"/>
              </a:solidFill>
              <a:latin typeface="+mj-ea"/>
              <a:ea typeface="+mj-ea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cold-start </a:t>
            </a: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제거</a:t>
            </a:r>
            <a:r>
              <a:rPr lang="en-US" altLang="ko-KR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(</a:t>
            </a:r>
            <a:r>
              <a:rPr lang="en-US" sz="135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val</a:t>
            </a:r>
            <a:r>
              <a:rPr 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loss 0.113)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82077" y="2001520"/>
            <a:ext cx="3423818" cy="2128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82077" y="2001520"/>
            <a:ext cx="3423818" cy="530352"/>
          </a:xfrm>
          <a:prstGeom prst="rect">
            <a:avLst/>
          </a:prstGeom>
          <a:solidFill>
            <a:srgbClr val="3333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082077" y="2001520"/>
            <a:ext cx="34238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GRPO (RL)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83245" y="2595880"/>
            <a:ext cx="30214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질문당 </a:t>
            </a:r>
            <a:r>
              <a:rPr lang="en-US" altLang="ko-KR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G=5 rollout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보상</a:t>
            </a:r>
            <a:r>
              <a:rPr lang="en-US" altLang="ko-KR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:answer F1 + format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KL </a:t>
            </a: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정규화로 학습 안정성 확보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85800" y="4315968"/>
            <a:ext cx="10820095" cy="1952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6968" y="4551680"/>
            <a:ext cx="10417760" cy="148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핵심. “</a:t>
            </a:r>
            <a:r>
              <a:rPr lang="en-US" altLang="ko-KR" sz="140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GRPO</a:t>
            </a:r>
            <a:r>
              <a:rPr lang="ko-KR" altLang="en-US" sz="140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는 </a:t>
            </a:r>
            <a:r>
              <a:rPr lang="en-US" altLang="ko-KR" sz="140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REINFORCE</a:t>
            </a:r>
            <a:r>
              <a:rPr lang="ko-KR" altLang="en-US" sz="140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의 확장이고</a:t>
            </a:r>
            <a:r>
              <a:rPr lang="en-US" altLang="ko-KR" sz="140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, value network </a:t>
            </a:r>
            <a:r>
              <a:rPr lang="ko-KR" altLang="en-US" sz="140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없이 분산을 줄인다</a:t>
            </a:r>
            <a:r>
              <a:rPr lang="en-US" altLang="ko-KR" sz="140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.”</a:t>
            </a:r>
            <a:endParaRPr lang="en-US" sz="1400" dirty="0">
              <a:latin typeface="+mj-ea"/>
              <a:ea typeface="+mj-ea"/>
              <a:cs typeface="Calibri" pitchFamily="34" charset="-12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GRPO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는 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REINFORCE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에 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group baseline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과 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KL 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정규화를 결합한 방법으로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, 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강의에서 다룬 </a:t>
            </a:r>
            <a:r>
              <a:rPr lang="en-US" altLang="ko-KR" sz="1200" dirty="0" err="1">
                <a:latin typeface="+mj-ea"/>
                <a:ea typeface="+mj-ea"/>
                <a:cs typeface="Calibri" pitchFamily="34" charset="-120"/>
              </a:rPr>
              <a:t>baseline·variance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 reduction 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개념의 자연스러운 확장임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. 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질문당 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G=5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개의 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rollout 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평균을 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baseline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으로 사용하므로 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value network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가 필요 없으며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, 8GB GPU 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환경에서도 학습이 가능함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또한 검색은 외부 검색 서버가 아닌 후보 풀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(distractor 10) 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내 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query 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기반 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retrieval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로 제한함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. 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이를 통해 검색 서버 구축 요소를 제거하고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,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검색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·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추론 정책 자체의 효과를 분석하는 데 집중함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실험은 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RTX 4060 Ti 8GB 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환경에서 수행하였으며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, Windows 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환경 제약으로 </a:t>
            </a:r>
            <a:r>
              <a:rPr lang="en-US" altLang="ko-KR" sz="1200" dirty="0" err="1">
                <a:latin typeface="+mj-ea"/>
                <a:ea typeface="+mj-ea"/>
                <a:cs typeface="Calibri" pitchFamily="34" charset="-120"/>
              </a:rPr>
              <a:t>vLLM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 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대신 </a:t>
            </a:r>
            <a:r>
              <a:rPr lang="en-US" altLang="ko-KR" sz="1200" dirty="0" err="1">
                <a:latin typeface="+mj-ea"/>
                <a:ea typeface="+mj-ea"/>
                <a:cs typeface="Calibri" pitchFamily="34" charset="-120"/>
              </a:rPr>
              <a:t>HuggingFace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 generate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를 사용함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.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5799" y="63652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3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SFT</a:t>
            </a:r>
            <a:r>
              <a:rPr lang="ko-KR" altLang="en-US" sz="13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를 통해 </a:t>
            </a:r>
            <a:r>
              <a:rPr lang="en-US" altLang="ko-KR" sz="1300" i="1" dirty="0" err="1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think→search→answer</a:t>
            </a:r>
            <a:r>
              <a:rPr lang="en-US" altLang="ko-KR" sz="13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ko-KR" altLang="en-US" sz="13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프로토콜과 </a:t>
            </a:r>
            <a:r>
              <a:rPr lang="ko-KR" altLang="en-US" sz="1300" i="1" dirty="0" err="1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멀티홉</a:t>
            </a:r>
            <a:r>
              <a:rPr lang="ko-KR" altLang="en-US" sz="13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 추론 절차를 </a:t>
            </a:r>
            <a:r>
              <a:rPr lang="en-US" altLang="ko-KR" sz="13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LLM</a:t>
            </a:r>
            <a:r>
              <a:rPr lang="ko-KR" altLang="en-US" sz="13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에 학습시킨 뒤</a:t>
            </a:r>
            <a:r>
              <a:rPr lang="en-US" altLang="ko-KR" sz="13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, answer F1 </a:t>
            </a:r>
            <a:r>
              <a:rPr lang="ko-KR" altLang="en-US" sz="13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기반의 </a:t>
            </a:r>
            <a:r>
              <a:rPr lang="en-US" altLang="ko-KR" sz="13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GRPO</a:t>
            </a:r>
            <a:r>
              <a:rPr lang="ko-KR" altLang="en-US" sz="13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를 적용하여 검색 질의 생성과 답변 추론 정책을 추가 최적화함</a:t>
            </a:r>
            <a:r>
              <a:rPr lang="en-US" altLang="ko-KR" sz="13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3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A85E4-9DCC-450A-E589-C98F1ACA0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B1229CEA-C42E-0716-52B7-A9EB929F024B}"/>
              </a:ext>
            </a:extLst>
          </p:cNvPr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PART 2 · </a:t>
            </a:r>
            <a:r>
              <a:rPr lang="ko-KR" alt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환경 세팅</a:t>
            </a:r>
            <a:r>
              <a:rPr lang="en-US" altLang="ko-KR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(</a:t>
            </a:r>
            <a:r>
              <a:rPr lang="ko-KR" alt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상세</a:t>
            </a:r>
            <a:r>
              <a:rPr lang="en-US" altLang="ko-KR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)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8CAE56-8D93-3F87-7D8C-4EB08CBEF749}"/>
              </a:ext>
            </a:extLst>
          </p:cNvPr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800" b="1" dirty="0">
                <a:solidFill>
                  <a:srgbClr val="555555"/>
                </a:solidFill>
                <a:latin typeface="+mj-ea"/>
                <a:ea typeface="+mj-ea"/>
              </a:rPr>
              <a:t>8GB VRAM</a:t>
            </a:r>
            <a:r>
              <a:rPr lang="ko-KR" altLang="en-US" sz="2800" b="1" dirty="0">
                <a:solidFill>
                  <a:srgbClr val="555555"/>
                </a:solidFill>
                <a:latin typeface="+mj-ea"/>
                <a:ea typeface="+mj-ea"/>
              </a:rPr>
              <a:t>에서 </a:t>
            </a:r>
            <a:r>
              <a:rPr lang="en-US" altLang="ko-KR" sz="2800" b="1" dirty="0">
                <a:solidFill>
                  <a:srgbClr val="555555"/>
                </a:solidFill>
                <a:latin typeface="+mj-ea"/>
                <a:ea typeface="+mj-ea"/>
              </a:rPr>
              <a:t>LLM </a:t>
            </a:r>
            <a:r>
              <a:rPr lang="ko-KR" altLang="en-US" sz="2800" b="1" dirty="0">
                <a:solidFill>
                  <a:srgbClr val="555555"/>
                </a:solidFill>
                <a:latin typeface="+mj-ea"/>
                <a:ea typeface="+mj-ea"/>
              </a:rPr>
              <a:t>자체를 학습하기 위한 선택들</a:t>
            </a:r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893F349A-F8D2-5043-6E67-242BCE422804}"/>
              </a:ext>
            </a:extLst>
          </p:cNvPr>
          <p:cNvSpPr/>
          <p:nvPr/>
        </p:nvSpPr>
        <p:spPr>
          <a:xfrm>
            <a:off x="774039" y="1668876"/>
            <a:ext cx="203590" cy="203590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1D298329-6EFA-6E99-DBFB-10CB0D4247F9}"/>
              </a:ext>
            </a:extLst>
          </p:cNvPr>
          <p:cNvSpPr/>
          <p:nvPr/>
        </p:nvSpPr>
        <p:spPr>
          <a:xfrm>
            <a:off x="1055450" y="1668876"/>
            <a:ext cx="10042855" cy="500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altLang="ko-KR" sz="1200" b="1" dirty="0">
                <a:solidFill>
                  <a:srgbClr val="222222"/>
                </a:solidFill>
                <a:latin typeface="+mj-ea"/>
                <a:ea typeface="+mj-ea"/>
              </a:rPr>
              <a:t>Base LM = Qwen2.5-0.5B-Instruct (</a:t>
            </a:r>
            <a:r>
              <a:rPr lang="en-US" altLang="ko-KR" sz="1200" b="1" dirty="0" err="1">
                <a:solidFill>
                  <a:srgbClr val="222222"/>
                </a:solidFill>
                <a:latin typeface="+mj-ea"/>
                <a:ea typeface="+mj-ea"/>
              </a:rPr>
              <a:t>LoRA</a:t>
            </a:r>
            <a:r>
              <a:rPr lang="ko-KR" altLang="en-US" sz="1200" b="1" dirty="0">
                <a:solidFill>
                  <a:srgbClr val="222222"/>
                </a:solidFill>
                <a:latin typeface="+mj-ea"/>
                <a:ea typeface="+mj-ea"/>
              </a:rPr>
              <a:t> 학습 대상</a:t>
            </a:r>
            <a:r>
              <a:rPr lang="en-US" altLang="ko-KR" sz="1200" b="1" dirty="0">
                <a:solidFill>
                  <a:srgbClr val="222222"/>
                </a:solidFill>
                <a:latin typeface="+mj-ea"/>
                <a:ea typeface="+mj-ea"/>
              </a:rPr>
              <a:t>)</a:t>
            </a:r>
          </a:p>
          <a:p>
            <a:pPr lvl="1">
              <a:spcAft>
                <a:spcPts val="200"/>
              </a:spcAft>
            </a:pP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 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– 0.5B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이유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: 8GB VRAM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제약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. Full fine-tune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은 메모리 초과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— </a:t>
            </a:r>
            <a:r>
              <a:rPr lang="en-US" altLang="ko-KR" sz="1100" dirty="0" err="1">
                <a:solidFill>
                  <a:srgbClr val="222222"/>
                </a:solidFill>
                <a:latin typeface="+mj-ea"/>
                <a:ea typeface="+mj-ea"/>
              </a:rPr>
              <a:t>LoRA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로 학습 가능 부분만 한정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  – Instruct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변종 선택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: chat template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과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system/user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분리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, &lt;think&gt;/&lt;search&gt;/&lt;answer&gt; markup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출력 안정성이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base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대비 높음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.</a:t>
            </a:r>
          </a:p>
          <a:p>
            <a:pPr lvl="1">
              <a:spcAft>
                <a:spcPts val="200"/>
              </a:spcAft>
            </a:pPr>
            <a:endParaRPr lang="en-US" altLang="ko-KR" sz="1100" dirty="0">
              <a:solidFill>
                <a:srgbClr val="222222"/>
              </a:solidFill>
              <a:latin typeface="+mj-ea"/>
              <a:ea typeface="+mj-ea"/>
            </a:endParaRPr>
          </a:p>
          <a:p>
            <a:pPr>
              <a:spcAft>
                <a:spcPts val="200"/>
              </a:spcAft>
            </a:pPr>
            <a:r>
              <a:rPr lang="en-US" altLang="ko-KR" sz="1200" b="1" dirty="0" err="1">
                <a:solidFill>
                  <a:srgbClr val="222222"/>
                </a:solidFill>
                <a:latin typeface="+mj-ea"/>
                <a:ea typeface="+mj-ea"/>
              </a:rPr>
              <a:t>LoRA</a:t>
            </a:r>
            <a:r>
              <a:rPr lang="en-US" altLang="ko-KR" sz="1200" b="1" dirty="0">
                <a:solidFill>
                  <a:srgbClr val="222222"/>
                </a:solidFill>
                <a:latin typeface="+mj-ea"/>
                <a:ea typeface="+mj-ea"/>
              </a:rPr>
              <a:t>: r=16, target=q/k/v/o (attention</a:t>
            </a:r>
            <a:r>
              <a:rPr lang="ko-KR" altLang="en-US" sz="1200" b="1" dirty="0">
                <a:solidFill>
                  <a:srgbClr val="222222"/>
                </a:solidFill>
                <a:latin typeface="+mj-ea"/>
                <a:ea typeface="+mj-ea"/>
              </a:rPr>
              <a:t>만</a:t>
            </a:r>
            <a:r>
              <a:rPr lang="en-US" altLang="ko-KR" sz="1200" b="1" dirty="0">
                <a:solidFill>
                  <a:srgbClr val="222222"/>
                </a:solidFill>
                <a:latin typeface="+mj-ea"/>
                <a:ea typeface="+mj-ea"/>
              </a:rPr>
              <a:t>, FFN </a:t>
            </a:r>
            <a:r>
              <a:rPr lang="ko-KR" altLang="en-US" sz="1200" b="1" dirty="0">
                <a:solidFill>
                  <a:srgbClr val="222222"/>
                </a:solidFill>
                <a:latin typeface="+mj-ea"/>
                <a:ea typeface="+mj-ea"/>
              </a:rPr>
              <a:t>제외</a:t>
            </a:r>
            <a:r>
              <a:rPr lang="en-US" altLang="ko-KR" sz="1200" b="1" dirty="0">
                <a:solidFill>
                  <a:srgbClr val="222222"/>
                </a:solidFill>
                <a:latin typeface="+mj-ea"/>
                <a:ea typeface="+mj-ea"/>
              </a:rPr>
              <a:t>)</a:t>
            </a:r>
          </a:p>
          <a:p>
            <a:pPr lvl="1">
              <a:spcAft>
                <a:spcPts val="200"/>
              </a:spcAft>
            </a:pP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 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– r=16: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학습 가능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~2.16M params (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전체의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0.44%).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학습 신호는 충분하면서 </a:t>
            </a:r>
            <a:r>
              <a:rPr lang="ko-KR" altLang="en-US" sz="1100" dirty="0" err="1">
                <a:solidFill>
                  <a:srgbClr val="222222"/>
                </a:solidFill>
                <a:latin typeface="+mj-ea"/>
                <a:ea typeface="+mj-ea"/>
              </a:rPr>
              <a:t>옵티마이저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 상태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(</a:t>
            </a:r>
            <a:r>
              <a:rPr lang="en-US" altLang="ko-KR" sz="1100" dirty="0" err="1">
                <a:solidFill>
                  <a:srgbClr val="222222"/>
                </a:solidFill>
                <a:latin typeface="+mj-ea"/>
                <a:ea typeface="+mj-ea"/>
              </a:rPr>
              <a:t>AdamW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2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배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)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도 가볍게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  – attention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만 적용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: FFN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까지 포함하면 메모리 거의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2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배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. attention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만으로도 본 실험엔 충분히 학습됨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.</a:t>
            </a:r>
          </a:p>
          <a:p>
            <a:pPr>
              <a:spcAft>
                <a:spcPts val="200"/>
              </a:spcAft>
            </a:pPr>
            <a:endParaRPr lang="en-US" altLang="ko-KR" sz="1200" b="1" dirty="0">
              <a:solidFill>
                <a:srgbClr val="222222"/>
              </a:solidFill>
              <a:latin typeface="+mj-ea"/>
              <a:ea typeface="+mj-ea"/>
            </a:endParaRPr>
          </a:p>
          <a:p>
            <a:pPr>
              <a:spcAft>
                <a:spcPts val="200"/>
              </a:spcAft>
            </a:pPr>
            <a:r>
              <a:rPr lang="ko-KR" altLang="en-US" sz="1200" b="1" dirty="0">
                <a:solidFill>
                  <a:srgbClr val="222222"/>
                </a:solidFill>
                <a:latin typeface="+mj-ea"/>
                <a:ea typeface="+mj-ea"/>
              </a:rPr>
              <a:t>정밀도 </a:t>
            </a:r>
            <a:r>
              <a:rPr lang="en-US" altLang="ko-KR" sz="1200" b="1" dirty="0">
                <a:solidFill>
                  <a:srgbClr val="222222"/>
                </a:solidFill>
                <a:latin typeface="+mj-ea"/>
                <a:ea typeface="+mj-ea"/>
              </a:rPr>
              <a:t>&amp; </a:t>
            </a:r>
            <a:r>
              <a:rPr lang="ko-KR" altLang="en-US" sz="1200" b="1" dirty="0">
                <a:solidFill>
                  <a:srgbClr val="222222"/>
                </a:solidFill>
                <a:latin typeface="+mj-ea"/>
                <a:ea typeface="+mj-ea"/>
              </a:rPr>
              <a:t>메모리 </a:t>
            </a:r>
            <a:r>
              <a:rPr lang="en-US" altLang="ko-KR" sz="1200" b="1" dirty="0">
                <a:solidFill>
                  <a:srgbClr val="222222"/>
                </a:solidFill>
                <a:latin typeface="+mj-ea"/>
                <a:ea typeface="+mj-ea"/>
              </a:rPr>
              <a:t>= bf16 + gradient checkpointing</a:t>
            </a:r>
          </a:p>
          <a:p>
            <a:pPr lvl="1">
              <a:spcAft>
                <a:spcPts val="200"/>
              </a:spcAft>
            </a:pP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 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– bf16: 0.5B weights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를 약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1GB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로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(fp32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대비 −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50%). RTX 40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시리즈는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bf16 native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지원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  – gradient checkpointing: activation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저장 대신 재계산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— backward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시 메모리 큰 폭 절감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(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속도 약간 손해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).</a:t>
            </a:r>
          </a:p>
          <a:p>
            <a:pPr>
              <a:spcAft>
                <a:spcPts val="200"/>
              </a:spcAft>
            </a:pPr>
            <a:endParaRPr lang="en-US" altLang="ko-KR" sz="1200" b="1" dirty="0">
              <a:solidFill>
                <a:srgbClr val="222222"/>
              </a:solidFill>
              <a:latin typeface="+mj-ea"/>
              <a:ea typeface="+mj-ea"/>
            </a:endParaRPr>
          </a:p>
          <a:p>
            <a:pPr>
              <a:spcAft>
                <a:spcPts val="200"/>
              </a:spcAft>
            </a:pPr>
            <a:r>
              <a:rPr lang="en-US" altLang="ko-KR" sz="1200" b="1" dirty="0">
                <a:solidFill>
                  <a:srgbClr val="222222"/>
                </a:solidFill>
                <a:latin typeface="+mj-ea"/>
                <a:ea typeface="+mj-ea"/>
              </a:rPr>
              <a:t>Batch: </a:t>
            </a:r>
            <a:r>
              <a:rPr lang="en-US" altLang="ko-KR" sz="1200" b="1" dirty="0" err="1">
                <a:solidFill>
                  <a:srgbClr val="222222"/>
                </a:solidFill>
                <a:latin typeface="+mj-ea"/>
                <a:ea typeface="+mj-ea"/>
              </a:rPr>
              <a:t>batch_size</a:t>
            </a:r>
            <a:r>
              <a:rPr lang="en-US" altLang="ko-KR" sz="1200" b="1" dirty="0">
                <a:solidFill>
                  <a:srgbClr val="222222"/>
                </a:solidFill>
                <a:latin typeface="+mj-ea"/>
                <a:ea typeface="+mj-ea"/>
              </a:rPr>
              <a:t>=2, </a:t>
            </a:r>
            <a:r>
              <a:rPr lang="en-US" altLang="ko-KR" sz="1200" b="1" dirty="0" err="1">
                <a:solidFill>
                  <a:srgbClr val="222222"/>
                </a:solidFill>
                <a:latin typeface="+mj-ea"/>
                <a:ea typeface="+mj-ea"/>
              </a:rPr>
              <a:t>grad_accum</a:t>
            </a:r>
            <a:r>
              <a:rPr lang="en-US" altLang="ko-KR" sz="1200" b="1" dirty="0">
                <a:solidFill>
                  <a:srgbClr val="222222"/>
                </a:solidFill>
                <a:latin typeface="+mj-ea"/>
                <a:ea typeface="+mj-ea"/>
              </a:rPr>
              <a:t>=8 → effective batch 16</a:t>
            </a:r>
          </a:p>
          <a:p>
            <a:pPr lvl="1">
              <a:spcAft>
                <a:spcPts val="200"/>
              </a:spcAft>
            </a:pP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 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–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작은 이유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: logits </a:t>
            </a:r>
            <a:r>
              <a:rPr lang="ko-KR" altLang="en-US" sz="1100" dirty="0" err="1">
                <a:solidFill>
                  <a:srgbClr val="222222"/>
                </a:solidFill>
                <a:latin typeface="+mj-ea"/>
                <a:ea typeface="+mj-ea"/>
              </a:rPr>
              <a:t>텐서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[B, T=768, V=152k]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가 메모리를 폭식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— B=8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은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OOM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발생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  – </a:t>
            </a:r>
            <a:r>
              <a:rPr lang="en-US" altLang="ko-KR" sz="1100" dirty="0" err="1">
                <a:solidFill>
                  <a:srgbClr val="222222"/>
                </a:solidFill>
                <a:latin typeface="+mj-ea"/>
                <a:ea typeface="+mj-ea"/>
              </a:rPr>
              <a:t>grad_accum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=8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로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effective 16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유지하며 메모리 안정 학습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.</a:t>
            </a:r>
          </a:p>
          <a:p>
            <a:pPr>
              <a:spcAft>
                <a:spcPts val="200"/>
              </a:spcAft>
            </a:pPr>
            <a:endParaRPr lang="en-US" altLang="ko-KR" sz="1200" b="1" dirty="0">
              <a:solidFill>
                <a:srgbClr val="222222"/>
              </a:solidFill>
              <a:latin typeface="+mj-ea"/>
              <a:ea typeface="+mj-ea"/>
            </a:endParaRPr>
          </a:p>
          <a:p>
            <a:pPr>
              <a:spcAft>
                <a:spcPts val="200"/>
              </a:spcAft>
            </a:pPr>
            <a:r>
              <a:rPr lang="en-US" altLang="ko-KR" sz="1200" b="1" dirty="0">
                <a:solidFill>
                  <a:srgbClr val="222222"/>
                </a:solidFill>
                <a:latin typeface="+mj-ea"/>
                <a:ea typeface="+mj-ea"/>
              </a:rPr>
              <a:t>Retriever = </a:t>
            </a:r>
            <a:r>
              <a:rPr lang="ko-KR" altLang="en-US" sz="1200" b="1" dirty="0">
                <a:solidFill>
                  <a:srgbClr val="222222"/>
                </a:solidFill>
                <a:latin typeface="+mj-ea"/>
                <a:ea typeface="+mj-ea"/>
              </a:rPr>
              <a:t>동일 </a:t>
            </a:r>
            <a:r>
              <a:rPr lang="en-US" altLang="ko-KR" sz="1200" b="1" dirty="0">
                <a:solidFill>
                  <a:srgbClr val="222222"/>
                </a:solidFill>
                <a:latin typeface="+mj-ea"/>
                <a:ea typeface="+mj-ea"/>
              </a:rPr>
              <a:t>MiniLM-L6-v2 (PART 1</a:t>
            </a:r>
            <a:r>
              <a:rPr lang="ko-KR" altLang="en-US" sz="1200" b="1" dirty="0">
                <a:solidFill>
                  <a:srgbClr val="222222"/>
                </a:solidFill>
                <a:latin typeface="+mj-ea"/>
                <a:ea typeface="+mj-ea"/>
              </a:rPr>
              <a:t>과 공통</a:t>
            </a:r>
            <a:r>
              <a:rPr lang="en-US" altLang="ko-KR" sz="1200" b="1" dirty="0">
                <a:solidFill>
                  <a:srgbClr val="222222"/>
                </a:solidFill>
                <a:latin typeface="+mj-ea"/>
                <a:ea typeface="+mj-ea"/>
              </a:rPr>
              <a:t>)</a:t>
            </a:r>
          </a:p>
          <a:p>
            <a:pPr lvl="1">
              <a:spcAft>
                <a:spcPts val="200"/>
              </a:spcAft>
            </a:pP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 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–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후보 풀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(distractor 10)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내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top-2 retrieve.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외부 인덱스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/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검색서버 미사용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—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검색 엔지니어링 제거하고 추론 학습에 집중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.</a:t>
            </a:r>
          </a:p>
          <a:p>
            <a:pPr>
              <a:spcAft>
                <a:spcPts val="200"/>
              </a:spcAft>
            </a:pPr>
            <a:endParaRPr lang="en-US" altLang="ko-KR" sz="1200" b="1" dirty="0">
              <a:solidFill>
                <a:srgbClr val="222222"/>
              </a:solidFill>
              <a:latin typeface="+mj-ea"/>
              <a:ea typeface="+mj-ea"/>
            </a:endParaRPr>
          </a:p>
          <a:p>
            <a:pPr>
              <a:spcAft>
                <a:spcPts val="200"/>
              </a:spcAft>
            </a:pPr>
            <a:r>
              <a:rPr lang="ko-KR" altLang="en-US" sz="1200" b="1" dirty="0">
                <a:solidFill>
                  <a:srgbClr val="222222"/>
                </a:solidFill>
                <a:latin typeface="+mj-ea"/>
                <a:ea typeface="+mj-ea"/>
              </a:rPr>
              <a:t>평가 분할 </a:t>
            </a:r>
            <a:r>
              <a:rPr lang="en-US" altLang="ko-KR" sz="1200" b="1" dirty="0">
                <a:solidFill>
                  <a:srgbClr val="222222"/>
                </a:solidFill>
                <a:latin typeface="+mj-ea"/>
                <a:ea typeface="+mj-ea"/>
              </a:rPr>
              <a:t>(dev-test </a:t>
            </a:r>
            <a:r>
              <a:rPr lang="ko-KR" altLang="en-US" sz="1200" b="1" dirty="0">
                <a:solidFill>
                  <a:srgbClr val="222222"/>
                </a:solidFill>
                <a:latin typeface="+mj-ea"/>
                <a:ea typeface="+mj-ea"/>
              </a:rPr>
              <a:t>누수 방지</a:t>
            </a:r>
            <a:r>
              <a:rPr lang="en-US" altLang="ko-KR" sz="1200" b="1" dirty="0">
                <a:solidFill>
                  <a:srgbClr val="222222"/>
                </a:solidFill>
                <a:latin typeface="+mj-ea"/>
                <a:ea typeface="+mj-ea"/>
              </a:rPr>
              <a:t>)</a:t>
            </a:r>
          </a:p>
          <a:p>
            <a:pPr lvl="1">
              <a:spcAft>
                <a:spcPts val="200"/>
              </a:spcAft>
            </a:pP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 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– dev = </a:t>
            </a:r>
            <a:r>
              <a:rPr lang="en-US" altLang="ko-KR" sz="1100" dirty="0" err="1">
                <a:solidFill>
                  <a:srgbClr val="222222"/>
                </a:solidFill>
                <a:latin typeface="+mj-ea"/>
                <a:ea typeface="+mj-ea"/>
              </a:rPr>
              <a:t>val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[0:64] (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체크포인트 선택용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) · held-out = </a:t>
            </a:r>
            <a:r>
              <a:rPr lang="en-US" altLang="ko-KR" sz="1100" dirty="0" err="1">
                <a:solidFill>
                  <a:srgbClr val="222222"/>
                </a:solidFill>
                <a:latin typeface="+mj-ea"/>
                <a:ea typeface="+mj-ea"/>
              </a:rPr>
              <a:t>val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[200:400] n=200 (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최종 보고용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, dev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와 완전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disjoint).</a:t>
            </a:r>
          </a:p>
          <a:p>
            <a:pPr lvl="1">
              <a:spcAft>
                <a:spcPts val="200"/>
              </a:spcAft>
            </a:pP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  – RL 3 seed (42, 123, 7)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학습 →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held-out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에서 </a:t>
            </a:r>
            <a:r>
              <a:rPr lang="en-US" altLang="ko-KR" sz="1100" dirty="0" err="1">
                <a:solidFill>
                  <a:srgbClr val="222222"/>
                </a:solidFill>
                <a:latin typeface="+mj-ea"/>
                <a:ea typeface="+mj-ea"/>
              </a:rPr>
              <a:t>mean±std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로 신뢰구간 보고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.</a:t>
            </a:r>
          </a:p>
          <a:p>
            <a:pPr>
              <a:spcAft>
                <a:spcPts val="200"/>
              </a:spcAft>
            </a:pPr>
            <a:endParaRPr lang="en-US" altLang="ko-KR" sz="1200" b="1" dirty="0">
              <a:solidFill>
                <a:srgbClr val="222222"/>
              </a:solidFill>
              <a:latin typeface="+mj-ea"/>
              <a:ea typeface="+mj-ea"/>
            </a:endParaRPr>
          </a:p>
          <a:p>
            <a:pPr>
              <a:spcAft>
                <a:spcPts val="200"/>
              </a:spcAft>
            </a:pPr>
            <a:r>
              <a:rPr lang="en-US" altLang="ko-KR" sz="1200" b="1" dirty="0">
                <a:solidFill>
                  <a:srgbClr val="222222"/>
                </a:solidFill>
                <a:latin typeface="+mj-ea"/>
                <a:ea typeface="+mj-ea"/>
              </a:rPr>
              <a:t>Rollout = </a:t>
            </a:r>
            <a:r>
              <a:rPr lang="en-US" altLang="ko-KR" sz="1200" b="1" dirty="0" err="1">
                <a:solidFill>
                  <a:srgbClr val="222222"/>
                </a:solidFill>
                <a:latin typeface="+mj-ea"/>
                <a:ea typeface="+mj-ea"/>
              </a:rPr>
              <a:t>HuggingFace</a:t>
            </a:r>
            <a:r>
              <a:rPr lang="ko-KR" altLang="en-US" sz="1200" b="1" dirty="0">
                <a:solidFill>
                  <a:srgbClr val="222222"/>
                </a:solidFill>
                <a:latin typeface="+mj-ea"/>
                <a:ea typeface="+mj-ea"/>
              </a:rPr>
              <a:t> </a:t>
            </a:r>
            <a:r>
              <a:rPr lang="en-US" altLang="ko-KR" sz="1200" b="1" dirty="0">
                <a:solidFill>
                  <a:srgbClr val="222222"/>
                </a:solidFill>
                <a:latin typeface="+mj-ea"/>
                <a:ea typeface="+mj-ea"/>
              </a:rPr>
              <a:t>generate (~7s/</a:t>
            </a:r>
            <a:r>
              <a:rPr lang="ko-KR" altLang="en-US" sz="1200" b="1" dirty="0">
                <a:solidFill>
                  <a:srgbClr val="222222"/>
                </a:solidFill>
                <a:latin typeface="+mj-ea"/>
                <a:ea typeface="+mj-ea"/>
              </a:rPr>
              <a:t>개</a:t>
            </a:r>
            <a:r>
              <a:rPr lang="en-US" altLang="ko-KR" sz="1200" b="1" dirty="0">
                <a:solidFill>
                  <a:srgbClr val="222222"/>
                </a:solidFill>
                <a:latin typeface="+mj-ea"/>
                <a:ea typeface="+mj-ea"/>
              </a:rPr>
              <a:t>)</a:t>
            </a:r>
          </a:p>
          <a:p>
            <a:pPr lvl="1">
              <a:spcAft>
                <a:spcPts val="200"/>
              </a:spcAft>
            </a:pP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 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– </a:t>
            </a:r>
            <a:r>
              <a:rPr lang="en-US" altLang="ko-KR" sz="1100" dirty="0" err="1">
                <a:solidFill>
                  <a:srgbClr val="222222"/>
                </a:solidFill>
                <a:latin typeface="+mj-ea"/>
                <a:ea typeface="+mj-ea"/>
              </a:rPr>
              <a:t>vLLM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은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Windows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네이티브 미지원이라 사용 불가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. 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도입 시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3-5</a:t>
            </a:r>
            <a:r>
              <a:rPr lang="ko-KR" altLang="en-US" sz="1100" dirty="0">
                <a:solidFill>
                  <a:srgbClr val="222222"/>
                </a:solidFill>
                <a:latin typeface="+mj-ea"/>
                <a:ea typeface="+mj-ea"/>
              </a:rPr>
              <a:t>배 가속 가능 </a:t>
            </a:r>
            <a:r>
              <a:rPr lang="en-US" altLang="ko-KR" sz="1100" dirty="0">
                <a:solidFill>
                  <a:srgbClr val="222222"/>
                </a:solidFill>
                <a:latin typeface="+mj-ea"/>
                <a:ea typeface="+mj-ea"/>
              </a:rPr>
              <a:t>(Future Work).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9CE8A16-0D0A-7004-9715-8B8909A03D1F}"/>
              </a:ext>
            </a:extLst>
          </p:cNvPr>
          <p:cNvSpPr/>
          <p:nvPr/>
        </p:nvSpPr>
        <p:spPr>
          <a:xfrm>
            <a:off x="774039" y="2453033"/>
            <a:ext cx="203590" cy="203590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0DAD8886-A748-EFAD-C3E4-CBDA06E5862D}"/>
              </a:ext>
            </a:extLst>
          </p:cNvPr>
          <p:cNvSpPr/>
          <p:nvPr/>
        </p:nvSpPr>
        <p:spPr>
          <a:xfrm>
            <a:off x="774039" y="3237190"/>
            <a:ext cx="203590" cy="203590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58AFD96-5A30-5A4C-2542-3A818D50B97A}"/>
              </a:ext>
            </a:extLst>
          </p:cNvPr>
          <p:cNvSpPr/>
          <p:nvPr/>
        </p:nvSpPr>
        <p:spPr>
          <a:xfrm>
            <a:off x="774039" y="4067089"/>
            <a:ext cx="203590" cy="203590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992CB80-6275-A848-DDFA-10B67C35105E}"/>
              </a:ext>
            </a:extLst>
          </p:cNvPr>
          <p:cNvSpPr/>
          <p:nvPr/>
        </p:nvSpPr>
        <p:spPr>
          <a:xfrm>
            <a:off x="774039" y="4859569"/>
            <a:ext cx="203590" cy="203590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D0159858-8BA2-0DD8-4A6E-75CDC82C01B4}"/>
              </a:ext>
            </a:extLst>
          </p:cNvPr>
          <p:cNvSpPr/>
          <p:nvPr/>
        </p:nvSpPr>
        <p:spPr>
          <a:xfrm>
            <a:off x="774039" y="5474117"/>
            <a:ext cx="203590" cy="203590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A17720C3-15D6-722A-E572-0C61FC47C9D0}"/>
              </a:ext>
            </a:extLst>
          </p:cNvPr>
          <p:cNvSpPr/>
          <p:nvPr/>
        </p:nvSpPr>
        <p:spPr>
          <a:xfrm>
            <a:off x="774039" y="6261391"/>
            <a:ext cx="203590" cy="203590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231150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PART 2</a:t>
            </a:r>
            <a:r>
              <a:rPr lang="en-US" altLang="ko-KR" sz="1400" b="1" kern="0" spc="100" dirty="0">
                <a:solidFill>
                  <a:srgbClr val="7B6FF0"/>
                </a:solidFill>
                <a:latin typeface="+mj-ea"/>
                <a:cs typeface="Calibri" pitchFamily="34" charset="-120"/>
              </a:rPr>
              <a:t> ·</a:t>
            </a:r>
            <a:r>
              <a:rPr lang="ko-KR" alt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1400" b="1" kern="0" spc="100" dirty="0" err="1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결과</a:t>
            </a: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 ①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In-domain &amp; Transfer — 메인 표 (3 seed mean±std)</a:t>
            </a:r>
            <a:endParaRPr lang="en-US" sz="2900" dirty="0">
              <a:latin typeface="+mj-ea"/>
              <a:ea typeface="+mj-ea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675594"/>
              </p:ext>
            </p:extLst>
          </p:nvPr>
        </p:nvGraphicFramePr>
        <p:xfrm>
          <a:off x="685800" y="1691640"/>
          <a:ext cx="10817352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모델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in-domain F1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sports(transfer) F1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기존 frozen+cosine (폴백)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0.370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0.386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SFT search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0.434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0.299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5C4FD4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RL (3-seed)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0.469 ±.007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F27"/>
                          </a:solidFill>
                          <a:latin typeface="+mj-ea"/>
                          <a:ea typeface="+mj-ea"/>
                          <a:cs typeface="Calibri" pitchFamily="34" charset="-120"/>
                        </a:rPr>
                        <a:t>0.313 ±.023</a:t>
                      </a:r>
                      <a:endParaRPr lang="en-US" sz="1400" dirty="0">
                        <a:latin typeface="+mj-ea"/>
                        <a:ea typeface="+mj-ea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685800" y="374904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85800" y="3749040"/>
            <a:ext cx="5303520" cy="128016"/>
          </a:xfrm>
          <a:prstGeom prst="rect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9" name="Text 6"/>
          <p:cNvSpPr/>
          <p:nvPr/>
        </p:nvSpPr>
        <p:spPr>
          <a:xfrm>
            <a:off x="914400" y="395020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핵심 결과 요약
</a:t>
            </a:r>
            <a:r>
              <a:rPr lang="en-US" altLang="ko-KR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• Cold-start </a:t>
            </a:r>
            <a:r>
              <a:rPr lang="ko-KR" altLang="en-US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환경에서 </a:t>
            </a:r>
            <a:r>
              <a:rPr lang="en-US" altLang="ko-KR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frozen-base F1</a:t>
            </a:r>
            <a:r>
              <a:rPr lang="ko-KR" altLang="en-US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이 </a:t>
            </a:r>
            <a:r>
              <a:rPr lang="en-US" altLang="ko-KR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0.006</a:t>
            </a:r>
            <a:r>
              <a:rPr lang="ko-KR" altLang="en-US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에 불과하여</a:t>
            </a:r>
            <a:r>
              <a:rPr lang="en-US" altLang="ko-KR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, SFT warmup</a:t>
            </a:r>
            <a:r>
              <a:rPr lang="ko-KR" altLang="en-US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의 필요성을 확인함</a:t>
            </a:r>
            <a:r>
              <a:rPr lang="en-US" altLang="ko-KR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altLang="ko-KR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• In-domain </a:t>
            </a:r>
            <a:r>
              <a:rPr lang="ko-KR" altLang="en-US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성능은 </a:t>
            </a:r>
            <a:r>
              <a:rPr lang="en-US" altLang="ko-KR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cosine </a:t>
            </a:r>
            <a:r>
              <a:rPr lang="ko-KR" altLang="en-US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휴리스틱 </a:t>
            </a:r>
            <a:r>
              <a:rPr lang="en-US" altLang="ko-KR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0.370 → SFT 0.434 → RL 0.469</a:t>
            </a:r>
            <a:r>
              <a:rPr lang="ko-KR" altLang="en-US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로 지속적으로 향상됨</a:t>
            </a:r>
            <a:r>
              <a:rPr lang="en-US" altLang="ko-KR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altLang="ko-KR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• RL</a:t>
            </a:r>
            <a:r>
              <a:rPr lang="ko-KR" altLang="en-US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의 추가 향상</a:t>
            </a:r>
            <a:r>
              <a:rPr lang="en-US" altLang="ko-KR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(+0.035)</a:t>
            </a:r>
            <a:r>
              <a:rPr lang="ko-KR" altLang="en-US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은 </a:t>
            </a:r>
            <a:r>
              <a:rPr lang="en-US" altLang="ko-KR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3-seed </a:t>
            </a:r>
            <a:r>
              <a:rPr lang="ko-KR" altLang="en-US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평균에서 일관되게 재현되었으며</a:t>
            </a:r>
            <a:r>
              <a:rPr lang="en-US" altLang="ko-KR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(std=0.007), </a:t>
            </a:r>
            <a:r>
              <a:rPr lang="ko-KR" altLang="en-US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단일 </a:t>
            </a:r>
            <a:r>
              <a:rPr lang="en-US" altLang="ko-KR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seed </a:t>
            </a:r>
            <a:r>
              <a:rPr lang="ko-KR" altLang="en-US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효과가 아님을 확인함</a:t>
            </a:r>
            <a:r>
              <a:rPr lang="en-US" altLang="ko-KR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r>
              <a:rPr lang="en-US" sz="12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)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63640" y="3749040"/>
            <a:ext cx="5242255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263640" y="3749040"/>
            <a:ext cx="5242255" cy="128016"/>
          </a:xfrm>
          <a:prstGeom prst="rect">
            <a:avLst/>
          </a:prstGeom>
          <a:solidFill>
            <a:srgbClr val="F4C5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92240" y="395020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1200" b="1" dirty="0">
                <a:solidFill>
                  <a:srgbClr val="B68A00"/>
                </a:solidFill>
                <a:latin typeface="+mj-ea"/>
                <a:ea typeface="+mj-ea"/>
                <a:cs typeface="Calibri" pitchFamily="34" charset="-120"/>
              </a:rPr>
              <a:t>Transfer — 정직한 음성/혼합 </a:t>
            </a:r>
            <a:r>
              <a:rPr lang="en-US" sz="1200" b="1" dirty="0" err="1">
                <a:solidFill>
                  <a:srgbClr val="B68A00"/>
                </a:solidFill>
                <a:latin typeface="+mj-ea"/>
                <a:ea typeface="+mj-ea"/>
                <a:cs typeface="Calibri" pitchFamily="34" charset="-120"/>
              </a:rPr>
              <a:t>결과</a:t>
            </a:r>
            <a:r>
              <a:rPr lang="en-US" sz="1200" b="1" dirty="0">
                <a:solidFill>
                  <a:srgbClr val="B68A00"/>
                </a:solidFill>
                <a:latin typeface="+mj-ea"/>
                <a:ea typeface="+mj-ea"/>
                <a:cs typeface="Calibri" pitchFamily="34" charset="-120"/>
              </a:rPr>
              <a:t>.</a:t>
            </a:r>
          </a:p>
          <a:p>
            <a:pPr marL="171450" indent="-1714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Solution A(0.313)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가 학습 없는 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cosine 휴리스틱(0.386)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에 미치지 못함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. </a:t>
            </a:r>
          </a:p>
          <a:p>
            <a:pPr marL="171450" indent="-1714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다만 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RL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은 전이 환경에서도 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SFT(0.299) 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대비 향상을 보였으며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(+0.014), comparison </a:t>
            </a:r>
            <a:r>
              <a:rPr lang="ko-KR" altLang="en-US" sz="1200" dirty="0">
                <a:latin typeface="+mj-ea"/>
                <a:ea typeface="+mj-ea"/>
                <a:cs typeface="Calibri" pitchFamily="34" charset="-120"/>
              </a:rPr>
              <a:t>유형에서는 강한 성능을 유지함</a:t>
            </a:r>
            <a:r>
              <a:rPr lang="en-US" altLang="ko-KR" sz="1200" dirty="0">
                <a:latin typeface="+mj-ea"/>
                <a:ea typeface="+mj-ea"/>
                <a:cs typeface="Calibri" pitchFamily="34" charset="-120"/>
              </a:rPr>
              <a:t>.</a:t>
            </a:r>
            <a:endParaRPr lang="en-US" sz="12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1400" b="1" spc="100" dirty="0">
                <a:solidFill>
                  <a:srgbClr val="7B6FF0"/>
                </a:solidFill>
                <a:latin typeface="+mj-ea"/>
                <a:ea typeface="+mj-ea"/>
                <a:cs typeface="Calibri"/>
              </a:rPr>
              <a:t>PART 2</a:t>
            </a:r>
            <a:r>
              <a:rPr lang="en-US" altLang="ko-KR" sz="1400" b="1" kern="0" spc="100" dirty="0">
                <a:solidFill>
                  <a:srgbClr val="7B6FF0"/>
                </a:solidFill>
                <a:latin typeface="+mj-ea"/>
                <a:cs typeface="Calibri" pitchFamily="34" charset="-120"/>
              </a:rPr>
              <a:t> ·</a:t>
            </a:r>
            <a:r>
              <a:rPr lang="ko-KR" altLang="en-US" sz="1400" b="1" spc="100" dirty="0">
                <a:solidFill>
                  <a:srgbClr val="7B6FF0"/>
                </a:solidFill>
                <a:latin typeface="+mj-ea"/>
                <a:ea typeface="+mj-ea"/>
                <a:cs typeface="Calibri"/>
              </a:rPr>
              <a:t> </a:t>
            </a:r>
            <a:r>
              <a:rPr lang="en-US" sz="1400" b="1" spc="100" dirty="0" err="1">
                <a:solidFill>
                  <a:srgbClr val="7B6FF0"/>
                </a:solidFill>
                <a:latin typeface="+mj-ea"/>
                <a:ea typeface="+mj-ea"/>
                <a:cs typeface="Calibri"/>
              </a:rPr>
              <a:t>결과</a:t>
            </a:r>
            <a:r>
              <a:rPr lang="en-US" sz="1400" b="1" spc="100" dirty="0">
                <a:solidFill>
                  <a:srgbClr val="7B6FF0"/>
                </a:solidFill>
                <a:latin typeface="+mj-ea"/>
                <a:ea typeface="+mj-ea"/>
                <a:cs typeface="Calibri"/>
              </a:rPr>
              <a:t> ②</a:t>
            </a:r>
          </a:p>
        </p:txBody>
      </p:sp>
      <p:sp>
        <p:nvSpPr>
          <p:cNvPr id="14" name="title"/>
          <p:cNvSpPr/>
          <p:nvPr/>
        </p:nvSpPr>
        <p:spPr>
          <a:xfrm>
            <a:off x="685800" y="822960"/>
            <a:ext cx="10820400" cy="60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F27"/>
                </a:solidFill>
                <a:latin typeface="+mj-ea"/>
                <a:ea typeface="+mj-ea"/>
                <a:cs typeface="Arial"/>
              </a:rPr>
              <a:t>결과 ② — </a:t>
            </a:r>
            <a:r>
              <a:rPr lang="ko-KR" altLang="en-US" sz="3200" b="1" dirty="0">
                <a:solidFill>
                  <a:srgbClr val="1F1F27"/>
                </a:solidFill>
                <a:latin typeface="+mj-ea"/>
                <a:ea typeface="+mj-ea"/>
                <a:cs typeface="Arial"/>
              </a:rPr>
              <a:t>성능 향상의 원인 분석</a:t>
            </a:r>
            <a:endParaRPr lang="en-US" sz="3200" b="1" dirty="0">
              <a:solidFill>
                <a:srgbClr val="1F1F27"/>
              </a:solidFill>
              <a:latin typeface="+mj-ea"/>
              <a:ea typeface="+mj-ea"/>
              <a:cs typeface="Arial"/>
            </a:endParaRPr>
          </a:p>
        </p:txBody>
      </p:sp>
      <p:sp>
        <p:nvSpPr>
          <p:cNvPr id="2" name="tb"/>
          <p:cNvSpPr/>
          <p:nvPr/>
        </p:nvSpPr>
        <p:spPr>
          <a:xfrm>
            <a:off x="685800" y="143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핵심 — </a:t>
            </a:r>
            <a:r>
              <a:rPr lang="ko-KR" altLang="en-US" sz="1300" b="1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성능 향상이 발생한 단계와 </a:t>
            </a:r>
            <a:r>
              <a:rPr lang="en-US" altLang="ko-KR" sz="1300" b="1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RL </a:t>
            </a:r>
            <a:r>
              <a:rPr lang="ko-KR" altLang="en-US" sz="1300" b="1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효과의 분포를 분석함</a:t>
            </a:r>
            <a:endParaRPr lang="en-US" sz="1300" b="1" dirty="0">
              <a:solidFill>
                <a:srgbClr val="1F1F27"/>
              </a:solidFill>
              <a:latin typeface="+mj-ea"/>
              <a:ea typeface="+mj-ea"/>
              <a:cs typeface="Calibri"/>
            </a:endParaRPr>
          </a:p>
        </p:txBody>
      </p:sp>
      <p:sp>
        <p:nvSpPr>
          <p:cNvPr id="3" name="box"/>
          <p:cNvSpPr/>
          <p:nvPr/>
        </p:nvSpPr>
        <p:spPr>
          <a:xfrm>
            <a:off x="560000" y="1778000"/>
            <a:ext cx="5560000" cy="4866640"/>
          </a:xfrm>
          <a:prstGeom prst="roundRect">
            <a:avLst>
              <a:gd name="adj" fmla="val 9778"/>
            </a:avLst>
          </a:prstGeom>
          <a:solidFill>
            <a:srgbClr val="FFFFFF"/>
          </a:solidFill>
          <a:ln w="12700">
            <a:solidFill>
              <a:srgbClr val="E3E0F5"/>
            </a:solidFill>
          </a:ln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pic>
        <p:nvPicPr>
          <p:cNvPr id="4" name="indoma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2160000"/>
            <a:ext cx="5280000" cy="2933000"/>
          </a:xfrm>
          <a:prstGeom prst="rect">
            <a:avLst/>
          </a:prstGeom>
        </p:spPr>
      </p:pic>
      <p:sp>
        <p:nvSpPr>
          <p:cNvPr id="5" name="tb"/>
          <p:cNvSpPr/>
          <p:nvPr/>
        </p:nvSpPr>
        <p:spPr>
          <a:xfrm>
            <a:off x="700000" y="5180000"/>
            <a:ext cx="528000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ct val="116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cosine 0.370 · selection-RL 0.355 → SFT 0.434 (+0.064) → SFT+GRPO 0.469 (+0.035)</a:t>
            </a:r>
            <a:r>
              <a:rPr lang="ko-KR" altLang="en-US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를 달성함</a:t>
            </a: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. </a:t>
            </a:r>
            <a:r>
              <a:rPr lang="ko-KR" altLang="en-US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추론을 </a:t>
            </a: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LLM </a:t>
            </a:r>
            <a:r>
              <a:rPr lang="ko-KR" altLang="en-US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내부로 옮긴 후 성능이 지속적으로 향상되었으며</a:t>
            </a: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, </a:t>
            </a:r>
            <a:r>
              <a:rPr lang="ko-KR" altLang="en-US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최종적으로 </a:t>
            </a: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cosine </a:t>
            </a:r>
            <a:r>
              <a:rPr lang="ko-KR" altLang="en-US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휴리스틱 기반 방법을 명확히 상회함</a:t>
            </a: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.</a:t>
            </a:r>
          </a:p>
          <a:p>
            <a:pPr marL="171450" indent="-171450">
              <a:lnSpc>
                <a:spcPct val="116000"/>
              </a:lnSpc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rgbClr val="1F1F27"/>
              </a:solidFill>
              <a:latin typeface="+mj-ea"/>
              <a:ea typeface="+mj-ea"/>
              <a:cs typeface="Calibri"/>
            </a:endParaRPr>
          </a:p>
          <a:p>
            <a:pPr marL="171450" indent="-171450">
              <a:lnSpc>
                <a:spcPct val="116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RL</a:t>
            </a:r>
            <a:r>
              <a:rPr lang="ko-KR" altLang="en-US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의 추가 향상</a:t>
            </a: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(+0.035)</a:t>
            </a:r>
            <a:r>
              <a:rPr lang="ko-KR" altLang="en-US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은 </a:t>
            </a: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3-seed </a:t>
            </a:r>
            <a:r>
              <a:rPr lang="ko-KR" altLang="en-US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평균에서 일관되게 관찰되었으며</a:t>
            </a: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(</a:t>
            </a:r>
            <a:r>
              <a:rPr lang="ko-KR" altLang="en-US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표준편차 </a:t>
            </a: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0.007), </a:t>
            </a:r>
            <a:r>
              <a:rPr lang="ko-KR" altLang="en-US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단일 </a:t>
            </a: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seed</a:t>
            </a:r>
            <a:r>
              <a:rPr lang="ko-KR" altLang="en-US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에 의존한 결과가 아님을 확인함</a:t>
            </a: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.</a:t>
            </a:r>
            <a:endParaRPr lang="en-US" sz="1080" dirty="0">
              <a:solidFill>
                <a:srgbClr val="6E6E79"/>
              </a:solidFill>
              <a:latin typeface="+mj-ea"/>
              <a:ea typeface="+mj-ea"/>
              <a:cs typeface="Calibri"/>
            </a:endParaRPr>
          </a:p>
        </p:txBody>
      </p:sp>
      <p:sp>
        <p:nvSpPr>
          <p:cNvPr id="15" name="box"/>
          <p:cNvSpPr/>
          <p:nvPr/>
        </p:nvSpPr>
        <p:spPr>
          <a:xfrm>
            <a:off x="6280000" y="1778000"/>
            <a:ext cx="5360000" cy="4866640"/>
          </a:xfrm>
          <a:prstGeom prst="roundRect">
            <a:avLst>
              <a:gd name="adj" fmla="val 6646"/>
            </a:avLst>
          </a:prstGeom>
          <a:solidFill>
            <a:srgbClr val="FFFFFF"/>
          </a:solidFill>
          <a:ln w="12700">
            <a:solidFill>
              <a:srgbClr val="E3E0F5"/>
            </a:solidFill>
          </a:ln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pic>
        <p:nvPicPr>
          <p:cNvPr id="16" name="hopty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000" y="2160000"/>
            <a:ext cx="5080000" cy="2822000"/>
          </a:xfrm>
          <a:prstGeom prst="rect">
            <a:avLst/>
          </a:prstGeom>
        </p:spPr>
      </p:pic>
      <p:sp>
        <p:nvSpPr>
          <p:cNvPr id="17" name="tb"/>
          <p:cNvSpPr/>
          <p:nvPr/>
        </p:nvSpPr>
        <p:spPr>
          <a:xfrm>
            <a:off x="6420000" y="5180000"/>
            <a:ext cx="508000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ct val="116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RL </a:t>
            </a:r>
            <a:r>
              <a:rPr lang="ko-KR" altLang="en-US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효과는 </a:t>
            </a: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comparison </a:t>
            </a:r>
            <a:r>
              <a:rPr lang="ko-KR" altLang="en-US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유형에 집중됨</a:t>
            </a: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(+0.14, 0.428→0.568). </a:t>
            </a:r>
            <a:r>
              <a:rPr lang="ko-KR" altLang="en-US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반면 </a:t>
            </a: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bridge </a:t>
            </a:r>
            <a:r>
              <a:rPr lang="ko-KR" altLang="en-US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유형의 향상은 </a:t>
            </a: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+0.01</a:t>
            </a:r>
            <a:r>
              <a:rPr lang="ko-KR" altLang="en-US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에 그침</a:t>
            </a: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. </a:t>
            </a:r>
          </a:p>
          <a:p>
            <a:pPr marL="171450" indent="-171450">
              <a:lnSpc>
                <a:spcPct val="116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이는 정답이 명확한 비교형</a:t>
            </a: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(yes/no, </a:t>
            </a:r>
            <a:r>
              <a:rPr lang="ko-KR" altLang="en-US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둘 중 </a:t>
            </a:r>
            <a:r>
              <a:rPr lang="ko-KR" altLang="en-US" sz="1100" dirty="0" err="1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택</a:t>
            </a: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1) </a:t>
            </a:r>
            <a:r>
              <a:rPr lang="ko-KR" altLang="en-US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질문에서는 </a:t>
            </a: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F1 </a:t>
            </a:r>
            <a:r>
              <a:rPr lang="ko-KR" altLang="en-US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보상이 강한 학습 신호로 작용하는 반면</a:t>
            </a: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, </a:t>
            </a:r>
            <a:r>
              <a:rPr lang="ko-KR" altLang="en-US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개방형 </a:t>
            </a: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bridge </a:t>
            </a:r>
            <a:r>
              <a:rPr lang="ko-KR" altLang="en-US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질문은 부분 일치 기준이 모호하여 상대적으로 약한 학습 신호를 제공하기 때문으로 해석됨</a:t>
            </a:r>
            <a:r>
              <a:rPr lang="en-US" altLang="ko-KR" sz="1100" dirty="0">
                <a:solidFill>
                  <a:srgbClr val="1F1F27"/>
                </a:solidFill>
                <a:latin typeface="+mj-ea"/>
                <a:ea typeface="+mj-ea"/>
                <a:cs typeface="Calibri"/>
              </a:rPr>
              <a:t>.</a:t>
            </a:r>
            <a:endParaRPr lang="en-US" sz="1080" dirty="0">
              <a:solidFill>
                <a:srgbClr val="6E6E79"/>
              </a:solidFill>
              <a:latin typeface="+mj-ea"/>
              <a:ea typeface="+mj-ea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PART 2</a:t>
            </a:r>
            <a:r>
              <a:rPr lang="en-US" altLang="ko-KR" sz="1400" b="1" kern="0" spc="100" dirty="0">
                <a:solidFill>
                  <a:srgbClr val="7B6FF0"/>
                </a:solidFill>
                <a:latin typeface="+mj-ea"/>
                <a:cs typeface="Calibri" pitchFamily="34" charset="-120"/>
              </a:rPr>
              <a:t> ·</a:t>
            </a:r>
            <a:r>
              <a:rPr lang="ko-KR" alt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1400" b="1" kern="0" spc="100" dirty="0" err="1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통찰</a:t>
            </a: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 (</a:t>
            </a:r>
            <a:r>
              <a:rPr lang="en-US" sz="1400" b="1" kern="0" spc="100" dirty="0" err="1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가설</a:t>
            </a: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ko-KR" alt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 검증)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가설 검증 — </a:t>
            </a:r>
            <a:r>
              <a:rPr lang="ko-KR" alt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추론 용량 가설은 지지되나</a:t>
            </a:r>
            <a:r>
              <a:rPr lang="en-US" altLang="ko-KR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, RL </a:t>
            </a:r>
            <a:r>
              <a:rPr lang="ko-KR" alt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효과는 국소적임</a:t>
            </a:r>
            <a:endParaRPr lang="en-US" sz="2900" dirty="0">
              <a:latin typeface="+mj-ea"/>
              <a:ea typeface="+mj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10820095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188720" cy="1298448"/>
          </a:xfrm>
          <a:prstGeom prst="rect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8013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HA-1</a:t>
            </a:r>
            <a:endParaRPr lang="en-US" sz="2200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23500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9E5FF"/>
                </a:solidFill>
                <a:latin typeface="+mj-ea"/>
                <a:ea typeface="+mj-ea"/>
                <a:cs typeface="Calibri" pitchFamily="34" charset="-120"/>
              </a:rPr>
              <a:t>추론을 LLM 안에 두면?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103120" y="2075688"/>
            <a:ext cx="1051560" cy="530352"/>
          </a:xfrm>
          <a:prstGeom prst="rect">
            <a:avLst/>
          </a:prstGeom>
          <a:solidFill>
            <a:srgbClr val="F4C5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03120" y="207568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A4A00"/>
                </a:solidFill>
                <a:latin typeface="+mj-ea"/>
                <a:ea typeface="+mj-ea"/>
                <a:cs typeface="Arial" pitchFamily="34" charset="-120"/>
              </a:rPr>
              <a:t>지지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83280" y="1783080"/>
            <a:ext cx="7894015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In-domain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성능은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0.370(cosine)·0.355(selection-RL)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에서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0.434(SFT), 0.469(RL)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로 향상됨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 </a:t>
            </a: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또한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cold-start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성능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(0.006)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을 고려할 때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, SFT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는 검색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·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추론 절차와 프로토콜을 효과적으로 학습시킨 것으로 해석됨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85800" y="3136392"/>
            <a:ext cx="10820095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85800" y="3136392"/>
            <a:ext cx="1188720" cy="1298448"/>
          </a:xfrm>
          <a:prstGeom prst="rect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HA-2</a:t>
            </a:r>
            <a:endParaRPr lang="en-US" sz="2200" dirty="0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" y="3794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9E5FF"/>
                </a:solidFill>
                <a:latin typeface="+mj-ea"/>
                <a:ea typeface="+mj-ea"/>
                <a:cs typeface="Calibri" pitchFamily="34" charset="-120"/>
              </a:rPr>
              <a:t>RL이 SFT 위 추가이득?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103120" y="3520440"/>
            <a:ext cx="1051560" cy="530352"/>
          </a:xfrm>
          <a:prstGeom prst="rect">
            <a:avLst/>
          </a:prstGeom>
          <a:solidFill>
            <a:srgbClr val="F4C5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103120" y="352044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A4A00"/>
                </a:solidFill>
                <a:latin typeface="+mj-ea"/>
                <a:ea typeface="+mj-ea"/>
                <a:cs typeface="Arial" pitchFamily="34" charset="-120"/>
              </a:rPr>
              <a:t>부분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83280" y="3227832"/>
            <a:ext cx="7894015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RL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은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SFT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대비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+0.035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의 성능 향상을 보였으며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, 3-seed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평균에서 일관되게 재현됨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(std=0.007).</a:t>
            </a: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다만 효과는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comparison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유형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(+0.14)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에 집중되었고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, bridge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유형의 향상은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+0.01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에 그침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 </a:t>
            </a: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정성 분석 결과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, RL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의 주요 기여는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retrieval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개선보다 질문 의도와 정답 토큰 간 정렬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(alignment)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의 개선으로 해석됨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5800" y="4581144"/>
            <a:ext cx="10820095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85800" y="4581144"/>
            <a:ext cx="1188720" cy="1298448"/>
          </a:xfrm>
          <a:prstGeom prst="rect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85800" y="46908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HA-3</a:t>
            </a:r>
            <a:endParaRPr lang="en-US" sz="2200" dirty="0">
              <a:latin typeface="+mj-ea"/>
              <a:ea typeface="+mj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5800" y="523951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9E5FF"/>
                </a:solidFill>
                <a:latin typeface="+mj-ea"/>
                <a:ea typeface="+mj-ea"/>
                <a:cs typeface="Calibri" pitchFamily="34" charset="-120"/>
              </a:rPr>
              <a:t>도메인 전이는?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103120" y="4965192"/>
            <a:ext cx="1051560" cy="530352"/>
          </a:xfrm>
          <a:prstGeom prst="rect">
            <a:avLst/>
          </a:prstGeom>
          <a:solidFill>
            <a:srgbClr val="F4C5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103120" y="4965192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A4A00"/>
                </a:solidFill>
                <a:latin typeface="+mj-ea"/>
                <a:ea typeface="+mj-ea"/>
                <a:cs typeface="Arial" pitchFamily="34" charset="-120"/>
              </a:rPr>
              <a:t>혼합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83280" y="4672584"/>
            <a:ext cx="7894015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Sports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도메인 전이 성능은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0.313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으로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cosine 휴리스틱(0.386)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에 미치지 못함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 </a:t>
            </a: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이는 학습된 정책이 학습 도메인에 일부 특화되었음을 시사함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 </a:t>
            </a: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다만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RL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은 전이 환경에서도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SFT(0.299)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대비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+0.014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의 향상을 보였으며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, comparison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유형에서는 비교적 강한 전이 성능을 유지함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결과적으로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in-domain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성능과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OOD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일반화 사이의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trade-off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가 관찰됨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3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9A2F4B-B44E-0B1E-FCCF-1E7142679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B24910E5-32F5-6122-5894-7504DEE6CC37}"/>
              </a:ext>
            </a:extLst>
          </p:cNvPr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kern="0" spc="100" dirty="0" err="1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토의</a:t>
            </a:r>
            <a:r>
              <a:rPr lang="en-US" altLang="ko-KR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ko-KR" alt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및 결론</a:t>
            </a:r>
            <a:endParaRPr lang="en-US" altLang="ko-KR" sz="1400" dirty="0">
              <a:latin typeface="+mj-ea"/>
              <a:ea typeface="+mj-ea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EC8CDD4-47EF-53FF-EE97-098AB2A85548}"/>
              </a:ext>
            </a:extLst>
          </p:cNvPr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종합 결론 — 두 접근법의 비교와 시사점</a:t>
            </a:r>
            <a:endParaRPr lang="en-US" sz="2900" dirty="0">
              <a:latin typeface="+mj-ea"/>
              <a:ea typeface="+mj-ea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46F8B24-23EB-77ED-7F15-DF58D8C13BAE}"/>
              </a:ext>
            </a:extLst>
          </p:cNvPr>
          <p:cNvSpPr/>
          <p:nvPr/>
        </p:nvSpPr>
        <p:spPr>
          <a:xfrm>
            <a:off x="685800" y="1737360"/>
            <a:ext cx="5181448" cy="3203633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591C07D-2CC1-BC46-67E1-F29A2B8DDCAF}"/>
              </a:ext>
            </a:extLst>
          </p:cNvPr>
          <p:cNvSpPr/>
          <p:nvPr/>
        </p:nvSpPr>
        <p:spPr>
          <a:xfrm>
            <a:off x="941832" y="1993392"/>
            <a:ext cx="402336" cy="402336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B06B2BE-C1F6-861F-3033-5CF2BD6A94C4}"/>
              </a:ext>
            </a:extLst>
          </p:cNvPr>
          <p:cNvSpPr/>
          <p:nvPr/>
        </p:nvSpPr>
        <p:spPr>
          <a:xfrm>
            <a:off x="941832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1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5752EA5-F47B-6FFD-6BC7-8FE0A6F089B8}"/>
              </a:ext>
            </a:extLst>
          </p:cNvPr>
          <p:cNvSpPr/>
          <p:nvPr/>
        </p:nvSpPr>
        <p:spPr>
          <a:xfrm>
            <a:off x="1463040" y="196596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 err="1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PART 1 · selection-only RL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45394C3-6890-9058-22BC-60A967BF7136}"/>
              </a:ext>
            </a:extLst>
          </p:cNvPr>
          <p:cNvSpPr/>
          <p:nvPr/>
        </p:nvSpPr>
        <p:spPr>
          <a:xfrm>
            <a:off x="978408" y="2514600"/>
            <a:ext cx="4614520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정책 표현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(2-layer MLP)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은 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cosine 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휴리스틱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(0.370)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을 넘지 못함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(0.355). 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또한 새 도메인에서 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24%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의 성능 저하를 보여 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cosine 휴리스틱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보다 낮은 전이 성능을 보임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(0.270 vs 0.386). 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이러한 결과는 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selector 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기반 정책의 제한된 표현력이 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multi-hop 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추론의 병목으로 작용했을 가능성을 시사함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B07C060-53B4-1448-5E5B-9F7692BA24BC}"/>
              </a:ext>
            </a:extLst>
          </p:cNvPr>
          <p:cNvSpPr/>
          <p:nvPr/>
        </p:nvSpPr>
        <p:spPr>
          <a:xfrm>
            <a:off x="6324448" y="1737360"/>
            <a:ext cx="5181448" cy="3203633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7866B8A-A5D0-09E1-9065-80C815479798}"/>
              </a:ext>
            </a:extLst>
          </p:cNvPr>
          <p:cNvSpPr/>
          <p:nvPr/>
        </p:nvSpPr>
        <p:spPr>
          <a:xfrm>
            <a:off x="6580480" y="1993392"/>
            <a:ext cx="402336" cy="402336"/>
          </a:xfrm>
          <a:prstGeom prst="ellipse">
            <a:avLst/>
          </a:prstGeom>
          <a:solidFill>
            <a:srgbClr val="F4C5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2461A63-AD1C-E7C4-FD4A-E4AF08B3F6BE}"/>
              </a:ext>
            </a:extLst>
          </p:cNvPr>
          <p:cNvSpPr/>
          <p:nvPr/>
        </p:nvSpPr>
        <p:spPr>
          <a:xfrm>
            <a:off x="658048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4A00"/>
                </a:solidFill>
                <a:latin typeface="+mj-ea"/>
                <a:ea typeface="+mj-ea"/>
                <a:cs typeface="Arial" pitchFamily="34" charset="-120"/>
              </a:rPr>
              <a:t>2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3E452A0-6CA6-9628-430A-D2A0B401B0CB}"/>
              </a:ext>
            </a:extLst>
          </p:cNvPr>
          <p:cNvSpPr/>
          <p:nvPr/>
        </p:nvSpPr>
        <p:spPr>
          <a:xfrm>
            <a:off x="7101688" y="196596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PART 2 · Solution A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731921B-41B1-45B9-1285-6143C02A8E61}"/>
              </a:ext>
            </a:extLst>
          </p:cNvPr>
          <p:cNvSpPr/>
          <p:nvPr/>
        </p:nvSpPr>
        <p:spPr>
          <a:xfrm>
            <a:off x="6617056" y="2514600"/>
            <a:ext cx="4614520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추론을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LLM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내부에 학습시킨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Search-R1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은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in-domain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성능을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0.469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까지 향상시켜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cosine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휴리스틱 기반 방법을 상회함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RL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의 추가 효과는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comparison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유형에 집중되었으며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, bridge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유형에서는 제한적으로 나타남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 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다만 새 도메인에서는 성능이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0.313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으로 감소하여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, 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성능 향상과 일반화 사이의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trade-off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가 관찰됨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959E0D-EED8-0FBB-68CE-394096DA1320}"/>
              </a:ext>
            </a:extLst>
          </p:cNvPr>
          <p:cNvSpPr txBox="1"/>
          <p:nvPr/>
        </p:nvSpPr>
        <p:spPr>
          <a:xfrm>
            <a:off x="685800" y="5791385"/>
            <a:ext cx="10896600" cy="807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ko-KR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결론적으로, </a:t>
            </a:r>
            <a:r>
              <a:rPr lang="ko-KR" altLang="ko-KR" sz="14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Multi-hop</a:t>
            </a:r>
            <a:r>
              <a:rPr lang="ko-KR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ko-KR" altLang="ko-KR" sz="14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RAG에서</a:t>
            </a:r>
            <a:r>
              <a:rPr lang="ko-KR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단순 선택 정책의 강화학습만으로는 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cosine 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휴리스틱을</a:t>
            </a:r>
            <a:r>
              <a:rPr lang="ko-KR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넘기 어려웠으나, 추론 자체를 LLM 내부에 학습시켰을 때 의미 있는 성능 향상을 확인함.</a:t>
            </a:r>
            <a:endParaRPr lang="en-US" altLang="ko-KR" sz="1400" dirty="0">
              <a:solidFill>
                <a:srgbClr val="1F1F27"/>
              </a:solidFill>
              <a:latin typeface="+mj-ea"/>
              <a:ea typeface="+mj-ea"/>
              <a:cs typeface="Calibri" pitchFamily="34" charset="-120"/>
            </a:endParaRP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즉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, 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본 프로젝트는 “무엇에 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RL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을 </a:t>
            </a:r>
            <a:r>
              <a:rPr lang="ko-KR" altLang="en-US" sz="14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적용하느냐”가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“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RL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을 </a:t>
            </a:r>
            <a:r>
              <a:rPr lang="ko-KR" altLang="en-US" sz="140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적용하느냐”보다</a:t>
            </a:r>
            <a:r>
              <a:rPr lang="ko-KR" altLang="en-US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더 중요함을 보여줌</a:t>
            </a:r>
            <a:r>
              <a:rPr lang="en-US" altLang="ko-KR" sz="14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ko-KR" altLang="en-US" sz="1400" dirty="0">
              <a:solidFill>
                <a:srgbClr val="1F1F27"/>
              </a:solidFill>
              <a:latin typeface="+mj-ea"/>
              <a:ea typeface="+mj-ea"/>
              <a:cs typeface="Calibri" pitchFamily="34" charset="-120"/>
            </a:endParaRPr>
          </a:p>
        </p:txBody>
      </p:sp>
      <p:sp>
        <p:nvSpPr>
          <p:cNvPr id="16" name="Shape 22">
            <a:extLst>
              <a:ext uri="{FF2B5EF4-FFF2-40B4-BE49-F238E27FC236}">
                <a16:creationId xmlns:a16="http://schemas.microsoft.com/office/drawing/2014/main" id="{3924C1BF-EB68-0F73-A232-6A51E162E5C3}"/>
              </a:ext>
            </a:extLst>
          </p:cNvPr>
          <p:cNvSpPr/>
          <p:nvPr/>
        </p:nvSpPr>
        <p:spPr>
          <a:xfrm>
            <a:off x="818388" y="5197025"/>
            <a:ext cx="1051560" cy="530352"/>
          </a:xfrm>
          <a:prstGeom prst="rect">
            <a:avLst/>
          </a:prstGeom>
          <a:solidFill>
            <a:srgbClr val="F4C5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7" name="Text 23">
            <a:extLst>
              <a:ext uri="{FF2B5EF4-FFF2-40B4-BE49-F238E27FC236}">
                <a16:creationId xmlns:a16="http://schemas.microsoft.com/office/drawing/2014/main" id="{528ADF5F-870D-28E6-431E-D073CC94B017}"/>
              </a:ext>
            </a:extLst>
          </p:cNvPr>
          <p:cNvSpPr/>
          <p:nvPr/>
        </p:nvSpPr>
        <p:spPr>
          <a:xfrm>
            <a:off x="818388" y="5197025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latin typeface="+mj-ea"/>
                <a:ea typeface="+mj-ea"/>
              </a:rPr>
              <a:t>결론</a:t>
            </a:r>
            <a:endParaRPr lang="en-US" sz="15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874918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kern="0" spc="100" dirty="0" err="1">
                <a:solidFill>
                  <a:srgbClr val="7B6FF0"/>
                </a:solidFill>
                <a:latin typeface="+mn-ea"/>
                <a:cs typeface="Calibri" pitchFamily="34" charset="-120"/>
              </a:rPr>
              <a:t>토의</a:t>
            </a:r>
            <a:r>
              <a:rPr lang="en-US" altLang="ko-KR" sz="1400" b="1" kern="0" spc="100" dirty="0">
                <a:solidFill>
                  <a:srgbClr val="7B6FF0"/>
                </a:solidFill>
                <a:latin typeface="+mn-ea"/>
                <a:cs typeface="Calibri" pitchFamily="34" charset="-120"/>
              </a:rPr>
              <a:t> </a:t>
            </a:r>
            <a:r>
              <a:rPr lang="ko-KR" altLang="en-US" sz="1400" b="1" kern="0" spc="100" dirty="0">
                <a:solidFill>
                  <a:srgbClr val="7B6FF0"/>
                </a:solidFill>
                <a:latin typeface="+mn-ea"/>
                <a:cs typeface="Calibri" pitchFamily="34" charset="-120"/>
              </a:rPr>
              <a:t>및 결론</a:t>
            </a:r>
            <a:endParaRPr lang="en-US" altLang="ko-KR" sz="14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900" b="1" dirty="0">
                <a:solidFill>
                  <a:srgbClr val="1F1F27"/>
                </a:solidFill>
                <a:latin typeface="+mn-ea"/>
                <a:cs typeface="Arial" pitchFamily="34" charset="-120"/>
              </a:rPr>
              <a:t>한계와 향후 과제</a:t>
            </a:r>
            <a:endParaRPr lang="en-US" sz="2900" dirty="0">
              <a:latin typeface="+mn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54864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n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5486400" cy="128016"/>
          </a:xfrm>
          <a:prstGeom prst="rect">
            <a:avLst/>
          </a:prstGeom>
          <a:solidFill>
            <a:srgbClr val="33333D"/>
          </a:solidFill>
          <a:ln/>
        </p:spPr>
        <p:txBody>
          <a:bodyPr/>
          <a:lstStyle/>
          <a:p>
            <a:endParaRPr dirty="0">
              <a:latin typeface="+mn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0120" y="19385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F1F27"/>
                </a:solidFill>
                <a:latin typeface="+mn-ea"/>
                <a:cs typeface="Arial" pitchFamily="34" charset="-120"/>
              </a:rPr>
              <a:t>한계</a:t>
            </a:r>
            <a:endParaRPr lang="en-US" sz="1700" dirty="0">
              <a:latin typeface="+mn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0120" y="23774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1F27"/>
                </a:solidFill>
                <a:latin typeface="+mn-ea"/>
                <a:cs typeface="Calibri" pitchFamily="34" charset="-120"/>
              </a:rPr>
              <a:t>단일 base LM(Qwen2.5-0.5B, freeze)</a:t>
            </a:r>
            <a:endParaRPr lang="en-US" sz="1350" dirty="0">
              <a:latin typeface="+mn-ea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→ 성능 천장이 LLM에 묶임 (oracle도 0.557)
</a:t>
            </a:r>
            <a:endParaRPr lang="en-US" sz="1350" dirty="0">
              <a:latin typeface="+mn-ea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1F27"/>
                </a:solidFill>
                <a:latin typeface="+mn-ea"/>
                <a:cs typeface="Calibri" pitchFamily="34" charset="-120"/>
              </a:rPr>
              <a:t>영어 단일 언어 · transfer 도메인 1종(스포츠)</a:t>
            </a:r>
            <a:endParaRPr lang="en-US" sz="1350" dirty="0">
              <a:latin typeface="+mn-ea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→ 전이 일반화 주장은 도메인 1개 기반
</a:t>
            </a:r>
            <a:endParaRPr lang="en-US" sz="1350" dirty="0">
              <a:latin typeface="+mn-ea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1F27"/>
                </a:solidFill>
                <a:latin typeface="+mn-ea"/>
                <a:cs typeface="Calibri" pitchFamily="34" charset="-120"/>
              </a:rPr>
              <a:t>정책 표현 한계</a:t>
            </a:r>
            <a:endParaRPr lang="en-US" sz="1350" dirty="0">
              <a:latin typeface="+mn-ea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→ </a:t>
            </a:r>
            <a:r>
              <a:rPr lang="ko-KR" altLang="en-US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유사도 기반 소형 </a:t>
            </a:r>
            <a:r>
              <a:rPr lang="en-US" altLang="ko-KR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MLP</a:t>
            </a:r>
            <a:r>
              <a:rPr lang="ko-KR" altLang="en-US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는 </a:t>
            </a:r>
            <a:r>
              <a:rPr lang="en-US" altLang="ko-KR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multi-hop </a:t>
            </a:r>
            <a:r>
              <a:rPr lang="ko-KR" altLang="en-US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추론을 학습하기에 표현력이 제한적이었음</a:t>
            </a:r>
            <a:r>
              <a:rPr lang="en-US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
</a:t>
            </a:r>
            <a:endParaRPr lang="en-US" sz="1350" dirty="0">
              <a:latin typeface="+mn-ea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1F27"/>
                </a:solidFill>
                <a:latin typeface="+mn-ea"/>
                <a:cs typeface="Calibri" pitchFamily="34" charset="-120"/>
              </a:rPr>
              <a:t>REINFORCE high variance</a:t>
            </a:r>
            <a:endParaRPr lang="en-US" sz="1350" dirty="0">
              <a:latin typeface="+mn-ea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→ </a:t>
            </a:r>
            <a:r>
              <a:rPr lang="ko-KR" altLang="en-US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학습 후반 성능 변동이 커 </a:t>
            </a:r>
            <a:r>
              <a:rPr lang="en-US" altLang="ko-KR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dev-best checkpoint </a:t>
            </a:r>
            <a:r>
              <a:rPr lang="ko-KR" altLang="en-US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선택에 의존함</a:t>
            </a:r>
            <a:endParaRPr lang="en-US" sz="1350" dirty="0">
              <a:latin typeface="+mn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105095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n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0" y="1737360"/>
            <a:ext cx="5105095" cy="128016"/>
          </a:xfrm>
          <a:prstGeom prst="rect">
            <a:avLst/>
          </a:prstGeom>
          <a:solidFill>
            <a:srgbClr val="F4C53D"/>
          </a:solidFill>
          <a:ln/>
        </p:spPr>
        <p:txBody>
          <a:bodyPr/>
          <a:lstStyle/>
          <a:p>
            <a:endParaRPr dirty="0">
              <a:latin typeface="+mn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75120" y="19385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B68A00"/>
                </a:solidFill>
                <a:latin typeface="+mn-ea"/>
                <a:cs typeface="Arial" pitchFamily="34" charset="-120"/>
              </a:rPr>
              <a:t>향후 과제</a:t>
            </a:r>
            <a:endParaRPr lang="en-US" sz="1700" dirty="0">
              <a:latin typeface="+mn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75120" y="2377440"/>
            <a:ext cx="45564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1F27"/>
                </a:solidFill>
                <a:latin typeface="+mn-ea"/>
                <a:cs typeface="Calibri" pitchFamily="34" charset="-120"/>
              </a:rPr>
              <a:t>① </a:t>
            </a:r>
            <a:r>
              <a:rPr lang="en-US" altLang="ko-KR" sz="1400" b="1" dirty="0">
                <a:solidFill>
                  <a:srgbClr val="1F1F27"/>
                </a:solidFill>
                <a:latin typeface="+mn-ea"/>
                <a:cs typeface="Calibri" pitchFamily="34" charset="-120"/>
              </a:rPr>
              <a:t>[</a:t>
            </a:r>
            <a:r>
              <a:rPr lang="ko-KR" altLang="en-US" sz="1400" b="1" dirty="0">
                <a:solidFill>
                  <a:srgbClr val="1F1F27"/>
                </a:solidFill>
                <a:latin typeface="+mn-ea"/>
                <a:cs typeface="Calibri" pitchFamily="34" charset="-120"/>
              </a:rPr>
              <a:t>검증 완료</a:t>
            </a:r>
            <a:r>
              <a:rPr lang="en-US" altLang="ko-KR" sz="1400" b="1" dirty="0">
                <a:solidFill>
                  <a:srgbClr val="1F1F27"/>
                </a:solidFill>
                <a:latin typeface="+mn-ea"/>
                <a:cs typeface="Calibri" pitchFamily="34" charset="-120"/>
              </a:rPr>
              <a:t>] </a:t>
            </a:r>
            <a:r>
              <a:rPr lang="en-US" sz="1400" b="1" dirty="0">
                <a:solidFill>
                  <a:srgbClr val="1F1F27"/>
                </a:solidFill>
                <a:latin typeface="+mn-ea"/>
                <a:cs typeface="Calibri" pitchFamily="34" charset="-120"/>
              </a:rPr>
              <a:t>Part1</a:t>
            </a:r>
            <a:r>
              <a:rPr lang="ko-KR" altLang="en-US" sz="1400" b="1" dirty="0">
                <a:solidFill>
                  <a:srgbClr val="1F1F27"/>
                </a:solidFill>
                <a:latin typeface="+mn-ea"/>
                <a:cs typeface="Calibri" pitchFamily="34" charset="-120"/>
              </a:rPr>
              <a:t>의 </a:t>
            </a:r>
            <a:r>
              <a:rPr lang="en-US" sz="1400" b="1" dirty="0">
                <a:solidFill>
                  <a:srgbClr val="1F1F27"/>
                </a:solidFill>
                <a:latin typeface="+mn-ea"/>
                <a:cs typeface="Calibri" pitchFamily="34" charset="-120"/>
              </a:rPr>
              <a:t>Future Work(Search-R1)</a:t>
            </a:r>
            <a:r>
              <a:rPr lang="ko-KR" altLang="en-US" sz="1400" b="1" dirty="0">
                <a:solidFill>
                  <a:srgbClr val="1F1F27"/>
                </a:solidFill>
                <a:latin typeface="+mn-ea"/>
                <a:cs typeface="Calibri" pitchFamily="34" charset="-120"/>
              </a:rPr>
              <a:t>를 구현하여 가설을 검증함</a:t>
            </a:r>
            <a:r>
              <a:rPr lang="en-US" sz="1400" b="1" dirty="0">
                <a:solidFill>
                  <a:srgbClr val="1F1F27"/>
                </a:solidFill>
                <a:latin typeface="+mn-ea"/>
                <a:cs typeface="Calibri" pitchFamily="34" charset="-120"/>
              </a:rPr>
              <a:t>
</a:t>
            </a:r>
            <a:endParaRPr lang="en-US" sz="1400" dirty="0">
              <a:latin typeface="+mn-ea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본 후속 연구에서 실제 실행: SFT→GRPO로 in-domain 0.469 — cosine </a:t>
            </a:r>
            <a:r>
              <a:rPr lang="ko-KR" altLang="en-US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휴리스틱</a:t>
            </a:r>
            <a:r>
              <a:rPr lang="en-US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 돌파. 단 도메인 전이는 과적합.
</a:t>
            </a:r>
            <a:endParaRPr lang="en-US" sz="1400" dirty="0">
              <a:latin typeface="+mn-ea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1F27"/>
                </a:solidFill>
                <a:latin typeface="+mn-ea"/>
                <a:cs typeface="Calibri" pitchFamily="34" charset="-120"/>
              </a:rPr>
              <a:t>② 전이 강건성 회복 — 차기 과제
</a:t>
            </a:r>
            <a:endParaRPr lang="en-US" sz="1400" dirty="0">
              <a:latin typeface="+mn-ea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altLang="ko-KR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1.5B+ </a:t>
            </a:r>
            <a:r>
              <a:rPr lang="ko-KR" altLang="en-US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모델</a:t>
            </a:r>
            <a:r>
              <a:rPr lang="en-US" altLang="ko-KR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, </a:t>
            </a:r>
            <a:r>
              <a:rPr lang="ko-KR" altLang="en-US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도메인 혼합 </a:t>
            </a:r>
            <a:r>
              <a:rPr lang="en-US" altLang="ko-KR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SFT, open-retrieval </a:t>
            </a:r>
            <a:r>
              <a:rPr lang="ko-KR" altLang="en-US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환경에서 전이 성능을 재검토할 필요가 있음</a:t>
            </a:r>
            <a:r>
              <a:rPr lang="en-US" altLang="ko-KR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. </a:t>
            </a:r>
            <a:r>
              <a:rPr lang="ko-KR" altLang="en-US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또한 </a:t>
            </a:r>
            <a:r>
              <a:rPr lang="en-US" altLang="ko-KR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format </a:t>
            </a:r>
            <a:r>
              <a:rPr lang="ko-KR" altLang="en-US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보상 외에 검색 품질 및 근거</a:t>
            </a:r>
            <a:r>
              <a:rPr lang="en-US" altLang="ko-KR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-</a:t>
            </a:r>
            <a:r>
              <a:rPr lang="ko-KR" altLang="en-US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정답 일치 신호를 추가하여 </a:t>
            </a:r>
            <a:r>
              <a:rPr lang="en-US" altLang="ko-KR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bridge </a:t>
            </a:r>
            <a:r>
              <a:rPr lang="ko-KR" altLang="en-US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유형의 성능 개선 가능성을 검증할 필요가 있음</a:t>
            </a:r>
            <a:r>
              <a:rPr lang="en-US" altLang="ko-KR" sz="1250" dirty="0">
                <a:solidFill>
                  <a:srgbClr val="6E6E79"/>
                </a:solidFill>
                <a:latin typeface="+mn-ea"/>
                <a:cs typeface="Calibri" pitchFamily="34" charset="-120"/>
              </a:rPr>
              <a:t>.</a:t>
            </a:r>
            <a:endParaRPr lang="en-US" sz="1400" dirty="0">
              <a:latin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887ACF-CB02-5DBE-57CA-98F3BEE9E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9F90D9F5-F024-2D38-CEB4-1FF968FAAC4C}"/>
              </a:ext>
            </a:extLst>
          </p:cNvPr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kern="0" spc="100" dirty="0" err="1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토의</a:t>
            </a:r>
            <a:r>
              <a:rPr lang="en-US" altLang="ko-KR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ko-KR" alt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및 결론</a:t>
            </a:r>
            <a:endParaRPr lang="en-US" altLang="ko-KR" sz="1400" dirty="0">
              <a:latin typeface="+mj-ea"/>
              <a:ea typeface="+mj-ea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7726F4C-61AD-8E79-8B2C-E656039739BD}"/>
              </a:ext>
            </a:extLst>
          </p:cNvPr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900" b="1" dirty="0">
                <a:latin typeface="+mj-ea"/>
                <a:ea typeface="+mj-ea"/>
              </a:rPr>
              <a:t>실험결과에 대한 생각</a:t>
            </a:r>
            <a:endParaRPr lang="en-US" sz="2900" b="1" dirty="0">
              <a:latin typeface="+mj-ea"/>
              <a:ea typeface="+mj-ea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B09F434-9DF2-5681-897B-85398BABB9C9}"/>
              </a:ext>
            </a:extLst>
          </p:cNvPr>
          <p:cNvSpPr/>
          <p:nvPr/>
        </p:nvSpPr>
        <p:spPr>
          <a:xfrm>
            <a:off x="685800" y="1737360"/>
            <a:ext cx="54864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D1D58B2-C40B-4D9C-3555-21D547B039B2}"/>
              </a:ext>
            </a:extLst>
          </p:cNvPr>
          <p:cNvSpPr/>
          <p:nvPr/>
        </p:nvSpPr>
        <p:spPr>
          <a:xfrm>
            <a:off x="685800" y="1737360"/>
            <a:ext cx="5486400" cy="128016"/>
          </a:xfrm>
          <a:prstGeom prst="rect">
            <a:avLst/>
          </a:prstGeom>
          <a:solidFill>
            <a:srgbClr val="3333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0D4C2C8-5A09-3781-2C0C-A60568FF90DE}"/>
              </a:ext>
            </a:extLst>
          </p:cNvPr>
          <p:cNvSpPr/>
          <p:nvPr/>
        </p:nvSpPr>
        <p:spPr>
          <a:xfrm>
            <a:off x="960120" y="19385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 err="1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박두산</a:t>
            </a:r>
            <a:endParaRPr lang="en-US" sz="1700" dirty="0">
              <a:latin typeface="+mj-ea"/>
              <a:ea typeface="+mj-ea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A18DBD6-8F47-B739-D3D9-2BB7047F4406}"/>
              </a:ext>
            </a:extLst>
          </p:cNvPr>
          <p:cNvSpPr/>
          <p:nvPr/>
        </p:nvSpPr>
        <p:spPr>
          <a:xfrm>
            <a:off x="960120" y="23774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이번 프로젝트에서 가장 인상 깊었던 것은 당연히 지지될 거라 믿었던 가설이 실제로는 그렇지 않았다는 사실이다</a:t>
            </a:r>
            <a:r>
              <a:rPr lang="en-US" altLang="ko-KR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Multi-hop RAG</a:t>
            </a: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는 단순 </a:t>
            </a:r>
            <a:r>
              <a:rPr lang="en-US" altLang="ko-KR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RAG</a:t>
            </a: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로는 풀기 어려운 영역을 다루는 분야였고</a:t>
            </a:r>
            <a:r>
              <a:rPr lang="en-US" altLang="ko-KR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, </a:t>
            </a: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거기에 강화학습을 더하면 성능을 한 단계 더 끌어올릴 거라 기대했지만 실제로는 그렇지 않았다</a:t>
            </a:r>
            <a:r>
              <a:rPr lang="en-US" altLang="ko-KR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이 과정에서 </a:t>
            </a:r>
            <a:r>
              <a:rPr lang="ko-KR" altLang="en-US" sz="135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강화학습이란</a:t>
            </a: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무엇이고 그것을 어떤 조건에서 적절히 써야 하는지를 깊이 고민하게 됐다</a:t>
            </a:r>
            <a:r>
              <a:rPr lang="en-US" altLang="ko-KR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앞으로 이런 시행착오 하나하나가 인공지능과 강화학습의 본질을 더 깊이 탐구하는 계기가 될 것이라 기대한다</a:t>
            </a:r>
            <a:r>
              <a:rPr lang="en-US" altLang="ko-KR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64C0088-7B77-F00A-BD6D-5F6D31C38518}"/>
              </a:ext>
            </a:extLst>
          </p:cNvPr>
          <p:cNvSpPr/>
          <p:nvPr/>
        </p:nvSpPr>
        <p:spPr>
          <a:xfrm>
            <a:off x="6400800" y="1737360"/>
            <a:ext cx="5105095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F4290A7-0EA6-1F1B-B286-81219DE2D0E8}"/>
              </a:ext>
            </a:extLst>
          </p:cNvPr>
          <p:cNvSpPr/>
          <p:nvPr/>
        </p:nvSpPr>
        <p:spPr>
          <a:xfrm>
            <a:off x="6400800" y="1737360"/>
            <a:ext cx="5105095" cy="128016"/>
          </a:xfrm>
          <a:prstGeom prst="rect">
            <a:avLst/>
          </a:prstGeom>
          <a:solidFill>
            <a:srgbClr val="F4C5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3BE7382-2F9E-5970-1C24-D94BAB284E37}"/>
              </a:ext>
            </a:extLst>
          </p:cNvPr>
          <p:cNvSpPr/>
          <p:nvPr/>
        </p:nvSpPr>
        <p:spPr>
          <a:xfrm>
            <a:off x="6675120" y="19385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B68A00"/>
                </a:solidFill>
                <a:latin typeface="+mj-ea"/>
                <a:ea typeface="+mj-ea"/>
                <a:cs typeface="Arial" pitchFamily="34" charset="-120"/>
              </a:rPr>
              <a:t>신세정</a:t>
            </a:r>
            <a:endParaRPr lang="en-US" sz="1700" dirty="0">
              <a:latin typeface="+mj-ea"/>
              <a:ea typeface="+mj-ea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40C69AB-642C-1384-802A-A9C7D1587CA1}"/>
              </a:ext>
            </a:extLst>
          </p:cNvPr>
          <p:cNvSpPr/>
          <p:nvPr/>
        </p:nvSpPr>
        <p:spPr>
          <a:xfrm>
            <a:off x="6675120" y="2377440"/>
            <a:ext cx="45564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dirty="0">
                <a:latin typeface="+mj-ea"/>
                <a:ea typeface="+mj-ea"/>
              </a:rPr>
              <a:t>이번 프로젝트에서 가장 크게 배운 것은 </a:t>
            </a:r>
            <a:r>
              <a:rPr lang="en-US" altLang="ko-KR" sz="1400" dirty="0">
                <a:latin typeface="+mj-ea"/>
                <a:ea typeface="+mj-ea"/>
              </a:rPr>
              <a:t>RL</a:t>
            </a:r>
            <a:r>
              <a:rPr lang="ko-KR" altLang="en-US" sz="1400" dirty="0">
                <a:latin typeface="+mj-ea"/>
                <a:ea typeface="+mj-ea"/>
              </a:rPr>
              <a:t>이 항상 정답이 아니라는 점이다</a:t>
            </a:r>
            <a:r>
              <a:rPr lang="en-US" altLang="ko-KR" sz="1400" dirty="0">
                <a:latin typeface="+mj-ea"/>
                <a:ea typeface="+mj-ea"/>
              </a:rPr>
              <a:t>. </a:t>
            </a:r>
            <a:r>
              <a:rPr lang="ko-KR" altLang="en-US" sz="1400" dirty="0">
                <a:latin typeface="+mj-ea"/>
                <a:ea typeface="+mj-ea"/>
              </a:rPr>
              <a:t>우리가 학습시킨 정책은 </a:t>
            </a:r>
            <a:r>
              <a:rPr lang="en-US" altLang="ko-KR" sz="1400" dirty="0">
                <a:latin typeface="+mj-ea"/>
                <a:ea typeface="+mj-ea"/>
              </a:rPr>
              <a:t>in-domain</a:t>
            </a:r>
            <a:r>
              <a:rPr lang="ko-KR" altLang="en-US" sz="1400" dirty="0">
                <a:latin typeface="+mj-ea"/>
                <a:ea typeface="+mj-ea"/>
              </a:rPr>
              <a:t>에서는 효과가 있었지만 새 도메인 전이에서는 학습 없는 </a:t>
            </a:r>
            <a:r>
              <a:rPr lang="en-US" altLang="ko-KR" sz="1400" dirty="0">
                <a:latin typeface="+mj-ea"/>
                <a:ea typeface="+mj-ea"/>
              </a:rPr>
              <a:t>cosine </a:t>
            </a:r>
            <a:r>
              <a:rPr lang="ko-KR" altLang="en-US" sz="1400" dirty="0">
                <a:latin typeface="+mj-ea"/>
                <a:ea typeface="+mj-ea"/>
              </a:rPr>
              <a:t>휴리스틱에 오히려 뒤졌고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ko-KR" altLang="en-US" sz="1400" dirty="0">
                <a:latin typeface="+mj-ea"/>
                <a:ea typeface="+mj-ea"/>
              </a:rPr>
              <a:t>그 과정에서 </a:t>
            </a:r>
            <a:r>
              <a:rPr lang="en-US" altLang="ko-KR" sz="1400" dirty="0">
                <a:latin typeface="+mj-ea"/>
                <a:ea typeface="+mj-ea"/>
              </a:rPr>
              <a:t>"</a:t>
            </a:r>
            <a:r>
              <a:rPr lang="ko-KR" altLang="en-US" sz="1400" dirty="0">
                <a:latin typeface="+mj-ea"/>
                <a:ea typeface="+mj-ea"/>
              </a:rPr>
              <a:t>점수를 올렸는가</a:t>
            </a:r>
            <a:r>
              <a:rPr lang="en-US" altLang="ko-KR" sz="1400" dirty="0">
                <a:latin typeface="+mj-ea"/>
                <a:ea typeface="+mj-ea"/>
              </a:rPr>
              <a:t>"</a:t>
            </a:r>
            <a:r>
              <a:rPr lang="ko-KR" altLang="en-US" sz="1400" dirty="0">
                <a:latin typeface="+mj-ea"/>
                <a:ea typeface="+mj-ea"/>
              </a:rPr>
              <a:t>보다 </a:t>
            </a:r>
            <a:r>
              <a:rPr lang="en-US" altLang="ko-KR" sz="1400" dirty="0">
                <a:latin typeface="+mj-ea"/>
                <a:ea typeface="+mj-ea"/>
              </a:rPr>
              <a:t>"</a:t>
            </a:r>
            <a:r>
              <a:rPr lang="ko-KR" altLang="en-US" sz="1400" dirty="0">
                <a:latin typeface="+mj-ea"/>
                <a:ea typeface="+mj-ea"/>
              </a:rPr>
              <a:t>왜 되고 왜 안 되는가</a:t>
            </a:r>
            <a:r>
              <a:rPr lang="en-US" altLang="ko-KR" sz="1400" dirty="0">
                <a:latin typeface="+mj-ea"/>
                <a:ea typeface="+mj-ea"/>
              </a:rPr>
              <a:t>"</a:t>
            </a:r>
            <a:r>
              <a:rPr lang="ko-KR" altLang="en-US" sz="1400" dirty="0">
                <a:latin typeface="+mj-ea"/>
                <a:ea typeface="+mj-ea"/>
              </a:rPr>
              <a:t>를 규명하는 일이 더 값지다는 것을 </a:t>
            </a:r>
            <a:r>
              <a:rPr lang="ko-KR" altLang="en-US" sz="1400" dirty="0" err="1">
                <a:latin typeface="+mj-ea"/>
                <a:ea typeface="+mj-ea"/>
              </a:rPr>
              <a:t>깨달았다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68205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APPENDIX · Solution A </a:t>
            </a:r>
            <a:r>
              <a:rPr lang="ko-KR" alt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학습 동역학</a:t>
            </a:r>
            <a:endParaRPr lang="en-US" altLang="ko-KR" sz="1400" b="1" kern="0" spc="100" dirty="0">
              <a:solidFill>
                <a:srgbClr val="7B6FF0"/>
              </a:solidFill>
              <a:latin typeface="+mj-ea"/>
              <a:ea typeface="+mj-ea"/>
              <a:cs typeface="Calibri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GRPO 세팅과 RL 학습 동역학</a:t>
            </a:r>
            <a:endParaRPr lang="en-US" sz="2900" dirty="0">
              <a:latin typeface="+mj-ea"/>
              <a:ea typeface="+mj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518144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1832" y="1993392"/>
            <a:ext cx="402336" cy="402336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941832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1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63040" y="196596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GRPO 구성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78408" y="2514600"/>
            <a:ext cx="461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질문당 G=5 rollout, group-normalized advantage(value network 불필요, 8GB 친화). 보상 = answer F1 + 0.1·format. KL(참조=SFT) 페널티 + gradient clipping. dev-best 체크포인트(val[0:64] greedy F1)로 peak 보존.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24448" y="1737360"/>
            <a:ext cx="518144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80480" y="1993392"/>
            <a:ext cx="402336" cy="402336"/>
          </a:xfrm>
          <a:prstGeom prst="ellipse">
            <a:avLst/>
          </a:prstGeom>
          <a:solidFill>
            <a:srgbClr val="F4C5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8048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4A00"/>
                </a:solidFill>
                <a:latin typeface="+mj-ea"/>
                <a:ea typeface="+mj-ea"/>
                <a:cs typeface="Arial" pitchFamily="34" charset="-120"/>
              </a:rPr>
              <a:t>2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101688" y="196596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보수적 RL vs 공격적 RL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17056" y="2514600"/>
            <a:ext cx="461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보수적(lr 1e-5, KL 0.05)은 평평(dev 0.418≈SFT, KL~0.01로 정책 거의 안 움직임). 공격적(lr 3e-5, KL 0.01)에서 비로소 이득 — RL 하이퍼파라미터가 관건.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5800" y="3931920"/>
            <a:ext cx="518144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41832" y="4187952"/>
            <a:ext cx="402336" cy="402336"/>
          </a:xfrm>
          <a:prstGeom prst="ellipse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41832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3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463040" y="416052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improve → peak → drift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78408" y="4709160"/>
            <a:ext cx="461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3000"/>
              </a:lnSpc>
            </a:pPr>
            <a:r>
              <a:rPr 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dev F1은 개선→정점→후반 drift 패턴(seed42 peak 0.507@step80). seed7은 step100에 dev 0.354·search 1.2(</a:t>
            </a:r>
            <a:r>
              <a:rPr lang="ko-KR" alt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후반 평균 ≈ </a:t>
            </a:r>
            <a:r>
              <a:rPr lang="en-US" altLang="ko-KR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1.4)</a:t>
            </a:r>
            <a:r>
              <a:rPr 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로 포맷 붕괴 — dev-best가 붕괴 직전 peak 보존.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24448" y="3931920"/>
            <a:ext cx="518144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580480" y="4187952"/>
            <a:ext cx="402336" cy="402336"/>
          </a:xfrm>
          <a:prstGeom prst="ellipse">
            <a:avLst/>
          </a:prstGeom>
          <a:solidFill>
            <a:srgbClr val="F4C5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80480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4A00"/>
                </a:solidFill>
                <a:latin typeface="+mj-ea"/>
                <a:ea typeface="+mj-ea"/>
                <a:cs typeface="Arial" pitchFamily="34" charset="-120"/>
              </a:rPr>
              <a:t>4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01688" y="416052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reward hacking 미관측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617056" y="4709160"/>
            <a:ext cx="461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전 구간 format 안정(has_answer≈1.0, 평균 2회 검색). 보상↑·F1평평식 reward hacking은 관측되지 않음.</a:t>
            </a:r>
            <a:endParaRPr lang="en-US" sz="13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APPENDIX · Solution A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Per-seed 결과 · 하이퍼파라미터 · 재현</a:t>
            </a:r>
            <a:endParaRPr lang="en-US" sz="2900" dirty="0">
              <a:latin typeface="+mj-ea"/>
              <a:ea typeface="+mj-ea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37360"/>
          <a:ext cx="6766560" cy="2944368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badi" panose="020B0604020104020204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300" dirty="0">
                        <a:latin typeface="Abadi" panose="020B0604020104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badi" panose="020B0604020104020204" pitchFamily="34" charset="0"/>
                          <a:ea typeface="Calibri" pitchFamily="34" charset="-122"/>
                          <a:cs typeface="Calibri" pitchFamily="34" charset="-120"/>
                        </a:rPr>
                        <a:t>값</a:t>
                      </a:r>
                      <a:endParaRPr lang="en-US" sz="1300" dirty="0">
                        <a:latin typeface="Abadi" panose="020B0604020104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Abadi" panose="020B0604020104020204" pitchFamily="34" charset="0"/>
                          <a:ea typeface="Calibri" pitchFamily="34" charset="-122"/>
                          <a:cs typeface="Calibri" pitchFamily="34" charset="-120"/>
                        </a:rPr>
                        <a:t>in-domain F1 (seed 42/123/7)</a:t>
                      </a:r>
                      <a:endParaRPr lang="en-US" sz="1300" dirty="0">
                        <a:latin typeface="Abadi" panose="020B0604020104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Abadi" panose="020B0604020104020204" pitchFamily="34" charset="0"/>
                          <a:ea typeface="Calibri" pitchFamily="34" charset="-122"/>
                          <a:cs typeface="Calibri" pitchFamily="34" charset="-120"/>
                        </a:rPr>
                        <a:t>0.466 / 0.479 / 0.463</a:t>
                      </a:r>
                      <a:endParaRPr lang="en-US" sz="1300" dirty="0">
                        <a:latin typeface="Abadi" panose="020B0604020104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Abadi" panose="020B0604020104020204" pitchFamily="34" charset="0"/>
                          <a:ea typeface="Calibri" pitchFamily="34" charset="-122"/>
                          <a:cs typeface="Calibri" pitchFamily="34" charset="-120"/>
                        </a:rPr>
                        <a:t>sports F1 (seed 42/123/7)</a:t>
                      </a:r>
                      <a:endParaRPr lang="en-US" sz="1300" dirty="0">
                        <a:latin typeface="Abadi" panose="020B0604020104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Abadi" panose="020B0604020104020204" pitchFamily="34" charset="0"/>
                          <a:ea typeface="Calibri" pitchFamily="34" charset="-122"/>
                          <a:cs typeface="Calibri" pitchFamily="34" charset="-120"/>
                        </a:rPr>
                        <a:t>0.282 / 0.338 / 0.317</a:t>
                      </a:r>
                      <a:endParaRPr lang="en-US" sz="1300" dirty="0">
                        <a:latin typeface="Abadi" panose="020B0604020104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Abadi" panose="020B0604020104020204" pitchFamily="34" charset="0"/>
                          <a:ea typeface="Calibri" pitchFamily="34" charset="-122"/>
                          <a:cs typeface="Calibri" pitchFamily="34" charset="-120"/>
                        </a:rPr>
                        <a:t>SFT (LoRA)</a:t>
                      </a:r>
                      <a:endParaRPr lang="en-US" sz="1300" dirty="0">
                        <a:latin typeface="Abadi" panose="020B0604020104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Abadi" panose="020B0604020104020204" pitchFamily="34" charset="0"/>
                          <a:ea typeface="Calibri" pitchFamily="34" charset="-122"/>
                          <a:cs typeface="Calibri" pitchFamily="34" charset="-120"/>
                        </a:rPr>
                        <a:t>r=16 (q/k/v/o) · bf16 · val loss 0.113</a:t>
                      </a:r>
                      <a:endParaRPr lang="en-US" sz="1300" dirty="0">
                        <a:latin typeface="Abadi" panose="020B0604020104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Abadi" panose="020B0604020104020204" pitchFamily="34" charset="0"/>
                          <a:ea typeface="Calibri" pitchFamily="34" charset="-122"/>
                          <a:cs typeface="Calibri" pitchFamily="34" charset="-120"/>
                        </a:rPr>
                        <a:t>RL (GRPO)</a:t>
                      </a:r>
                      <a:endParaRPr lang="en-US" sz="1300" dirty="0">
                        <a:latin typeface="Abadi" panose="020B0604020104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Abadi" panose="020B0604020104020204" pitchFamily="34" charset="0"/>
                          <a:ea typeface="Calibri" pitchFamily="34" charset="-122"/>
                          <a:cs typeface="Calibri" pitchFamily="34" charset="-120"/>
                        </a:rPr>
                        <a:t>G=5 · lr 3e-5 · KL 0.01 · 100 steps</a:t>
                      </a:r>
                      <a:endParaRPr lang="en-US" sz="1300" dirty="0">
                        <a:latin typeface="Abadi" panose="020B0604020104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Abadi" panose="020B0604020104020204" pitchFamily="34" charset="0"/>
                          <a:ea typeface="Calibri" pitchFamily="34" charset="-122"/>
                          <a:cs typeface="Calibri" pitchFamily="34" charset="-120"/>
                        </a:rPr>
                        <a:t>SFT trace</a:t>
                      </a:r>
                      <a:endParaRPr lang="en-US" sz="1300" dirty="0">
                        <a:latin typeface="Abadi" panose="020B0604020104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Abadi" panose="020B0604020104020204" pitchFamily="34" charset="0"/>
                          <a:ea typeface="Calibri" pitchFamily="34" charset="-122"/>
                          <a:cs typeface="Calibri" pitchFamily="34" charset="-120"/>
                        </a:rPr>
                        <a:t>train 4,000 / val 400</a:t>
                      </a:r>
                      <a:endParaRPr lang="en-US" sz="1300" dirty="0">
                        <a:latin typeface="Abadi" panose="020B0604020104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Abadi" panose="020B0604020104020204" pitchFamily="34" charset="0"/>
                          <a:ea typeface="Calibri" pitchFamily="34" charset="-122"/>
                          <a:cs typeface="Calibri" pitchFamily="34" charset="-120"/>
                        </a:rPr>
                        <a:t>Base / Encoder</a:t>
                      </a:r>
                      <a:endParaRPr lang="en-US" sz="1300" dirty="0">
                        <a:latin typeface="Abadi" panose="020B0604020104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27"/>
                          </a:solidFill>
                          <a:latin typeface="Abadi" panose="020B0604020104020204" pitchFamily="34" charset="0"/>
                          <a:ea typeface="Calibri" pitchFamily="34" charset="-122"/>
                          <a:cs typeface="Calibri" pitchFamily="34" charset="-120"/>
                        </a:rPr>
                        <a:t>Qwen2.5-0.5B-Instruct / MiniLM-L6-v2</a:t>
                      </a:r>
                      <a:endParaRPr lang="en-US" sz="1300" dirty="0">
                        <a:latin typeface="Abadi" panose="020B0604020104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1737360"/>
            <a:ext cx="3824935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680960" y="1737360"/>
            <a:ext cx="3824935" cy="128016"/>
          </a:xfrm>
          <a:prstGeom prst="rect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9" name="Text 6"/>
          <p:cNvSpPr/>
          <p:nvPr/>
        </p:nvSpPr>
        <p:spPr>
          <a:xfrm>
            <a:off x="7909560" y="1901952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SFT trace 생성
</a:t>
            </a:r>
            <a:r>
              <a:rPr 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supporting_facts gold title을 질문 단어겹침 순 정렬</a:t>
            </a:r>
            <a:endParaRPr lang="en-US" sz="14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→ 멀티홉 trace 자동 생성 (예: Oberoi family → The Oberoi Group → Delhi → 답)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6" name="Shape 7"/>
          <p:cNvSpPr/>
          <p:nvPr/>
        </p:nvSpPr>
        <p:spPr>
          <a:xfrm>
            <a:off x="7680960" y="3474720"/>
            <a:ext cx="3824935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680960" y="3474720"/>
            <a:ext cx="3824935" cy="128016"/>
          </a:xfrm>
          <a:prstGeom prst="rect">
            <a:avLst/>
          </a:prstGeom>
          <a:solidFill>
            <a:srgbClr val="F4C5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909560" y="3639312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68A00"/>
                </a:solidFill>
                <a:latin typeface="+mj-ea"/>
                <a:ea typeface="+mj-ea"/>
                <a:cs typeface="Calibri" pitchFamily="34" charset="-120"/>
              </a:rPr>
              <a:t>재현 (Reproduction)
</a:t>
            </a:r>
            <a:r>
              <a:rPr 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src/sol_a/ · build_sft_data, sft_train,</a:t>
            </a:r>
            <a:endParaRPr lang="en-US" sz="14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search_env, reward_a, grpo_train, eval_a</a:t>
            </a:r>
            <a:endParaRPr lang="en-US" sz="14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RL: grpo_train --steps 100 --lr 3e-5 --kl-coef 0.01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85800" y="52120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79"/>
                </a:solidFill>
                <a:latin typeface="+mj-ea"/>
                <a:ea typeface="+mj-ea"/>
                <a:cs typeface="Calibri" pitchFamily="34" charset="-120"/>
              </a:rPr>
              <a:t>in-domain = HotpotQA val[200:400] n=200 (dev와 disjoint) · sports = 350문항 전체 · 모두 held-out, 3 seed mean±std.</a:t>
            </a:r>
            <a:endParaRPr lang="en-US" sz="13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B6FF0"/>
                </a:solidFill>
                <a:latin typeface="+mj-ea"/>
                <a:ea typeface="+mj-ea"/>
                <a:cs typeface="Calibri" pitchFamily="34" charset="-120"/>
              </a:rPr>
              <a:t>APPENDIX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팀 </a:t>
            </a:r>
            <a:r>
              <a:rPr lang="en-US" sz="2900" b="1" dirty="0" err="1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기여</a:t>
            </a:r>
            <a:endParaRPr lang="en-US" sz="2900" dirty="0">
              <a:latin typeface="+mj-ea"/>
              <a:ea typeface="+mj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  <a:effectLst>
            <a:outerShdw blurRad="114300" dist="38100" dir="5400000" algn="bl" rotWithShape="0">
              <a:srgbClr val="B9B9CC">
                <a:alpha val="35000"/>
              </a:srgbClr>
            </a:outerShdw>
          </a:effectLst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5486400" cy="128016"/>
          </a:xfrm>
          <a:prstGeom prst="rect">
            <a:avLst/>
          </a:prstGeom>
          <a:solidFill>
            <a:srgbClr val="7B6FF0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0120" y="1938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팀 기여 분담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0120" y="2377440"/>
            <a:ext cx="513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박두산 (팀장) 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C4FD4"/>
                </a:solidFill>
                <a:latin typeface="+mj-ea"/>
                <a:ea typeface="+mj-ea"/>
                <a:cs typeface="Calibri" pitchFamily="34" charset="-120"/>
              </a:rPr>
              <a:t>- </a:t>
            </a: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연구 기획</a:t>
            </a:r>
            <a:r>
              <a:rPr lang="en-US" altLang="ko-KR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,</a:t>
            </a:r>
            <a:r>
              <a:rPr 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프레임워크·환경·알고리즘 구현, 본 학습, 보고서
</a:t>
            </a:r>
            <a:endParaRPr lang="en-US" sz="1400" dirty="0">
              <a:latin typeface="+mj-ea"/>
              <a:ea typeface="+mj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B68A00"/>
                </a:solidFill>
                <a:latin typeface="+mj-ea"/>
                <a:ea typeface="+mj-ea"/>
                <a:cs typeface="Calibri" pitchFamily="34" charset="-120"/>
              </a:rPr>
              <a:t>신세정 (팀원)  </a:t>
            </a:r>
          </a:p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B68A00"/>
                </a:solidFill>
                <a:latin typeface="+mj-ea"/>
                <a:ea typeface="+mj-ea"/>
                <a:cs typeface="Calibri" pitchFamily="34" charset="-120"/>
              </a:rPr>
              <a:t>- </a:t>
            </a: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연구 기획</a:t>
            </a:r>
            <a:r>
              <a:rPr lang="en-US" altLang="ko-KR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, </a:t>
            </a:r>
            <a:r>
              <a:rPr lang="en-US" sz="135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스포츠</a:t>
            </a:r>
            <a:r>
              <a:rPr 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룰북 350문항 구축, </a:t>
            </a: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결과 </a:t>
            </a:r>
            <a:r>
              <a:rPr lang="en-US" sz="135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재현</a:t>
            </a:r>
            <a:r>
              <a:rPr 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평가</a:t>
            </a:r>
            <a:r>
              <a:rPr 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, PPT </a:t>
            </a:r>
            <a:r>
              <a:rPr lang="ko-KR" altLang="en-US" sz="1350" dirty="0">
                <a:solidFill>
                  <a:srgbClr val="1F1F27"/>
                </a:solidFill>
                <a:latin typeface="+mj-ea"/>
                <a:ea typeface="+mj-ea"/>
                <a:cs typeface="Calibri" pitchFamily="34" charset="-120"/>
              </a:rPr>
              <a:t>제작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70320" y="1737360"/>
            <a:ext cx="5409895" cy="2286000"/>
          </a:xfrm>
          <a:prstGeom prst="rect">
            <a:avLst/>
          </a:prstGeom>
          <a:solidFill>
            <a:srgbClr val="33333D"/>
          </a:solidFill>
          <a:ln/>
        </p:spPr>
        <p:txBody>
          <a:bodyPr/>
          <a:lstStyle/>
          <a:p>
            <a:endParaRPr dirty="0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70320" y="1737360"/>
            <a:ext cx="54098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 err="1">
                <a:solidFill>
                  <a:srgbClr val="F4C53D"/>
                </a:solidFill>
                <a:latin typeface="+mj-ea"/>
                <a:ea typeface="+mj-ea"/>
                <a:cs typeface="Calibri" pitchFamily="34" charset="-120"/>
              </a:rPr>
              <a:t>Github</a:t>
            </a:r>
            <a:r>
              <a:rPr lang="en-US" sz="1500" b="1" dirty="0">
                <a:solidFill>
                  <a:srgbClr val="F4C53D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ko-KR" altLang="en-US" sz="1500" b="1" dirty="0">
                <a:solidFill>
                  <a:srgbClr val="F4C53D"/>
                </a:solidFill>
                <a:latin typeface="+mj-ea"/>
                <a:ea typeface="+mj-ea"/>
                <a:cs typeface="Calibri" pitchFamily="34" charset="-120"/>
              </a:rPr>
              <a:t>링크</a:t>
            </a:r>
            <a:r>
              <a:rPr lang="en-US" sz="1500" b="1" dirty="0">
                <a:solidFill>
                  <a:srgbClr val="F4C53D"/>
                </a:solidFill>
                <a:latin typeface="+mj-ea"/>
                <a:ea typeface="+mj-ea"/>
                <a:cs typeface="Calibri" pitchFamily="34" charset="-120"/>
              </a:rPr>
              <a:t>
</a:t>
            </a:r>
            <a:endParaRPr lang="en-US" sz="1500" dirty="0">
              <a:latin typeface="+mj-ea"/>
              <a:ea typeface="+mj-ea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  <a:hlinkClick r:id="rId3"/>
              </a:rPr>
              <a:t>github.com/doosanpark/RL-</a:t>
            </a:r>
            <a:r>
              <a:rPr lang="en-US" sz="1900" b="1" dirty="0" err="1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  <a:hlinkClick r:id="rId3"/>
              </a:rPr>
              <a:t>Multihop</a:t>
            </a:r>
            <a:r>
              <a:rPr lang="en-US" sz="190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  <a:hlinkClick r:id="rId3"/>
              </a:rPr>
              <a:t>-RAG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3761EB10-676A-9CAF-CA25-A2FE68A0E04A}"/>
              </a:ext>
            </a:extLst>
          </p:cNvPr>
          <p:cNvSpPr/>
          <p:nvPr/>
        </p:nvSpPr>
        <p:spPr>
          <a:xfrm>
            <a:off x="673913" y="4096512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900" b="1" dirty="0">
                <a:solidFill>
                  <a:srgbClr val="1F1F27"/>
                </a:solidFill>
                <a:latin typeface="+mj-ea"/>
                <a:ea typeface="+mj-ea"/>
                <a:cs typeface="Arial" pitchFamily="34" charset="-120"/>
              </a:rPr>
              <a:t>참고자료</a:t>
            </a:r>
            <a:endParaRPr lang="en-US" sz="2900" dirty="0">
              <a:latin typeface="+mj-ea"/>
              <a:ea typeface="+mj-ea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076A4D46-F56D-8CC8-7C68-9CFD6352EFE1}"/>
              </a:ext>
            </a:extLst>
          </p:cNvPr>
          <p:cNvSpPr/>
          <p:nvPr/>
        </p:nvSpPr>
        <p:spPr>
          <a:xfrm>
            <a:off x="740663" y="4800600"/>
            <a:ext cx="11039551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latin typeface="+mj-ea"/>
                <a:ea typeface="+mj-ea"/>
              </a:rPr>
              <a:t>RAG-RL: Advancing Retrieval-Augmented Generation via RL and Curriculum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5278</Words>
  <Application>Microsoft Office PowerPoint</Application>
  <PresentationFormat>와이드스크린</PresentationFormat>
  <Paragraphs>579</Paragraphs>
  <Slides>35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8" baseType="lpstr">
      <vt:lpstr>Abadi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Step-wise RL for Multi-hop QA</dc:title>
  <dc:subject>PptxGenJS Presentation</dc:subject>
  <dc:creator>RL Project Team</dc:creator>
  <cp:lastModifiedBy>박두산</cp:lastModifiedBy>
  <cp:revision>183</cp:revision>
  <dcterms:created xsi:type="dcterms:W3CDTF">2026-05-30T13:26:07Z</dcterms:created>
  <dcterms:modified xsi:type="dcterms:W3CDTF">2026-06-07T15:52:14Z</dcterms:modified>
</cp:coreProperties>
</file>